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ème" id="{31c35443-4a63-aa2e-c40e-4ba34fa039cb}">
          <p14:sldIdLst>
            <p14:sldId id="256"/>
            <p14:sldId id="257"/>
          </p14:sldIdLst>
        </p14:section>
        <p14:section name="Données" id="{eb79e7a3-ddf3-2859-4cc1-a0f1c8eb7046}">
          <p14:sldIdLst>
            <p14:sldId id="258"/>
            <p14:sldId id="259"/>
          </p14:sldIdLst>
        </p14:section>
        <p14:section name="Entraînement" id="{6b35a647-2c59-6547-c615-242d4af4129e}">
          <p14:sldIdLst>
            <p14:sldId id="260"/>
            <p14:sldId id="261"/>
            <p14:sldId id="262"/>
            <p14:sldId id="263"/>
            <p14:sldId id="264"/>
          </p14:sldIdLst>
        </p14:section>
        <p14:section name="MLOps et CI/CD" id="{4f28aaf5-ea16-5929-8584-290efc514456}">
          <p14:sldIdLst>
            <p14:sldId id="265"/>
            <p14:sldId id="266"/>
          </p14:sldIdLst>
        </p14:section>
        <p14:section name="Impact métier" id="{c254b6d3-3869-c74d-d701-b3eae33631e5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Minutage : problème 1 min (slides 1-2), données 2 min (3-4), entraînement et MLflow 5 min (5-9), MLOps et CI/CD 4 min (10-11), impact 3 min (12-14). Accroche : l'application doit dire à un agriculteur quel rendement attendre et quelle culture choisir. Spoiler assumé : la prédiction fonctionne dans certaines limites, la recommandation ne fait pas mieux qu'une liste fixe — et c'est un résultat utile.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découplée demandée : le modèle vit derrière une API, l'interface ne fait qu'appeler l'API. Avantage : on peut changer de modèle sans toucher à l'interface, et tester chaque morceau séparément.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28 242 et 13 130 viennent du notebook 1 (section 3). Les pays récupérés par l'harmonisation sont 18, dont les États-Unis, la Russie et la Chine continentale. La pluie est constante pour les 119 pays sur toute la période : c'est presque un identifiant de pays.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clés du jeu simulé (régression) : pluie (≈ 4,5 t/ha d'écart sur sa plage), engrais +1,50 t/ha, irrigation +1,20 t/ha — ce sont les règles de la simulation ; le jeu réel dit l'inverse (la culture domine). Question attendue de l'évaluateur : pourquoi ne pas avoir fusionné ? Réponse : joindre sans vraie clé commune fabrique de l'information. L'ACP ne regarde pas la cible : elle répond à « mes variables sont-elles redondantes ? », pas à « qu'est-ce qui fait le rendement ? ». Quand les valeurs propres sont égales, les axes sont arbitraires (ils changent d'un échantillon à l'autre).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décision la plus importante du projet. Un découpage aléatoire mettrait le maïs français de 2004 à l'entraînement et celui de 2005 au test : le modèle n'aurait qu'à s'en souvenir. Or un client Agritech est un nouveau pays (ou une nouvelle exploitation).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Plages justifiées : min_samples_leaf de 1 à 50 pour aller de « par cœur » à « très lissé » ; learning_rate de 0,01 à 0,2 ; profondeur de 8 à illimitée. Ridge bouge à peine avec alpha : un modèle peu flexible a peu à régler et ne peut pas mémoriser les pays (écart validation − entraînement 0,02 contre 0,16 à 0,19 pour les arbres optimisés).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run note : modèle, hyperparamètres, graine, RMSE-log par pli, moyenne, écart-type, erreur d'entraînement et écart. Les essais sont des runs enfants d'un run parent par recherche. Ce que MLflow m'a appris : 1) la forêt par défaut mémorise, 2) la régularisation est le réglage qui compte, 3) au-delà, les modèles se valent.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Traduction pour un agriculteur : « dans un pays comme le vôtre, attendez-vous à environ X t/ha, avec une erreur typique de 37 % ». Dans un cas typique, prédiction et réalité diffèrent d'un facteur 1,47 ; dans 70 % des cas, d'un facteur inférieur à 1,8. Le test a été regardé une seule fois pour le modèle retenu. Biais (prédiction − réalité) : 0,54 t/ha sur ce test, mais négatif dans 17 tirages sur 20 : son signe dépend des pays tirés. R² global 0,62 trompeur : au sein d'une culture, le modèle départage mal les pays (R² négatif pour 5 cultures sur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bloc climat + pesticides mélangé d'un seul tenant pèse plus que la somme des trois : les variables sont corrélées et se partagent l'importance de façon arbitraire. Interdit : « augmenter les pesticides augmente le rendement », « la pluie n'a pas d'effet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possible : lancer docker compose up et interroger l'interface. L'API signale les conditions hors des plages vues et relègue les cultures que personne ne pratique dans des conditions proches.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Échecs simulés en local : test faux, modèle absent de l'image, requirements modifié à la main ; chaque fois le pipeline s'arrête au bon endroit. Question attendue : que se passe-t-il si une étape échoue ? Le job image dépend du job qualité (needs) : pas d'image si un test casse. Le dernier latest reste en place. Surveillance en production : journaux, alertes, suivi des entrées hors domaine, suivi de l'erreur quand les rendements réels arrivent.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Classement par rendement relatif (rendement prédit ÷ rendement habituel de la culture) : les tonnes ne se comparent pas entre cultures. Évaluation limitée aux cultures pratiquées : une culture jamais plantée n'a pas de vérité terrain. Avec un autre normaliseur, l'écart change de signe mais reste non significatif ; sur 20 tirages de pays : 9 fois mieux, 1 égalité, 10 fois moins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du guide : « Si vous deviez expliquer vos résultats à un agriculteur ? » Réponse : un ordre de grandeur national, pas un conseil pour sa parcelle. Le gain est en rendement relatif, pas en euros.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la méthode : chaque chiffre vient d'une sortie du pipeline, chaque règle a été fixée avant les résultats. Ouvrir sur la discussion : choix techniques, robustesse, impact, hyperparamètres.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107899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Agritech Answers · prédiction et recommandation de cultures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7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7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Prédire le rendement, recommander une culture : ce que les données permettent vraiment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Un prototype complet (modèle, MLflow, API, interface, CI/CD) et une réponse honnête à la question métier</a:t>
            </a:r>
            <a:endParaRPr lang="en-US" sz="2000" dirty="0"/>
          </a:p>
        </p:txBody>
      </p:sp>
      <p:sp>
        <p:nvSpPr>
          <p:cNvPr id="4" name="mention-corrige"/>
          <p:cNvSpPr txBox="1"/>
          <p:nvPr/>
        </p:nvSpPr>
        <p:spPr>
          <a:xfrm>
            <a:off x="548640" y="5897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Corrigé de référence — projet OpenClassrooms « Concevez un système de recommandations pour une agriculture optimisée par les données » (parcours Data Scientist Machine Learning)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Deux fonctions dans une même application, servies par une API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Prédire le rendement d'une culture ; recommander la culture la mieux adaptée aux conditions</a:t>
            </a:r>
            <a:endParaRPr lang="en-US" sz="1600" dirty="0"/>
          </a:p>
        </p:txBody>
      </p:sp>
      <p:sp>
        <p:nvSpPr>
          <p:cNvPr id="4" name="fonction-carte-0"/>
          <p:cNvSpPr/>
          <p:nvPr/>
        </p:nvSpPr>
        <p:spPr>
          <a:xfrm>
            <a:off x="548640" y="1691640"/>
            <a:ext cx="543290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onction-titre-0"/>
          <p:cNvSpPr txBox="1"/>
          <p:nvPr/>
        </p:nvSpPr>
        <p:spPr>
          <a:xfrm>
            <a:off x="749808" y="183794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Prédiction</a:t>
            </a:r>
            <a:endParaRPr lang="en-US" sz="1600" dirty="0"/>
          </a:p>
        </p:txBody>
      </p:sp>
      <p:sp>
        <p:nvSpPr>
          <p:cNvPr id="6" name="fonction-texte-0"/>
          <p:cNvSpPr txBox="1"/>
          <p:nvPr/>
        </p:nvSpPr>
        <p:spPr>
          <a:xfrm>
            <a:off x="749808" y="2258568"/>
            <a:ext cx="50305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L'utilisateur choisit une culture et renseigne les conditions (température, pluie, pesticides) → rendement estimé en t/ha.</a:t>
            </a:r>
            <a:endParaRPr lang="en-US" sz="1400" dirty="0"/>
          </a:p>
        </p:txBody>
      </p:sp>
      <p:sp>
        <p:nvSpPr>
          <p:cNvPr id="7" name="fonction-carte-1"/>
          <p:cNvSpPr/>
          <p:nvPr/>
        </p:nvSpPr>
        <p:spPr>
          <a:xfrm>
            <a:off x="6210148" y="1691640"/>
            <a:ext cx="543290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onction-titre-1"/>
          <p:cNvSpPr txBox="1"/>
          <p:nvPr/>
        </p:nvSpPr>
        <p:spPr>
          <a:xfrm>
            <a:off x="6411316" y="183794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Recommandation</a:t>
            </a:r>
            <a:endParaRPr lang="en-US" sz="1600" dirty="0"/>
          </a:p>
        </p:txBody>
      </p:sp>
      <p:sp>
        <p:nvSpPr>
          <p:cNvPr id="9" name="fonction-texte-1"/>
          <p:cNvSpPr txBox="1"/>
          <p:nvPr/>
        </p:nvSpPr>
        <p:spPr>
          <a:xfrm>
            <a:off x="6411316" y="2258568"/>
            <a:ext cx="50305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L'utilisateur renseigne seulement les conditions → toutes les cultures sont simulées et classées.</a:t>
            </a:r>
            <a:endParaRPr lang="en-US" sz="1400" dirty="0"/>
          </a:p>
        </p:txBody>
      </p:sp>
      <p:sp>
        <p:nvSpPr>
          <p:cNvPr id="10" name="archi-carte-0"/>
          <p:cNvSpPr/>
          <p:nvPr/>
        </p:nvSpPr>
        <p:spPr>
          <a:xfrm>
            <a:off x="548640" y="3429000"/>
            <a:ext cx="1984797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rchi-titre-0"/>
          <p:cNvSpPr txBox="1"/>
          <p:nvPr/>
        </p:nvSpPr>
        <p:spPr>
          <a:xfrm>
            <a:off x="658368" y="353872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Données</a:t>
            </a:r>
            <a:endParaRPr lang="en-US" sz="1500" dirty="0"/>
          </a:p>
        </p:txBody>
      </p:sp>
      <p:sp>
        <p:nvSpPr>
          <p:cNvPr id="12" name="archi-texte-0"/>
          <p:cNvSpPr txBox="1"/>
          <p:nvPr/>
        </p:nvSpPr>
        <p:spPr>
          <a:xfrm>
            <a:off x="658368" y="3931920"/>
            <a:ext cx="176534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FAO + Banque mondiale, jeu synthétique</a:t>
            </a:r>
            <a:endParaRPr lang="en-US" sz="1150" dirty="0"/>
          </a:p>
        </p:txBody>
      </p:sp>
      <p:sp>
        <p:nvSpPr>
          <p:cNvPr id="13" name="archi-fleche-0"/>
          <p:cNvSpPr/>
          <p:nvPr/>
        </p:nvSpPr>
        <p:spPr>
          <a:xfrm>
            <a:off x="2579157" y="392734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14" name="archi-carte-1"/>
          <p:cNvSpPr/>
          <p:nvPr/>
        </p:nvSpPr>
        <p:spPr>
          <a:xfrm>
            <a:off x="2826045" y="3429000"/>
            <a:ext cx="1984797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archi-titre-1"/>
          <p:cNvSpPr txBox="1"/>
          <p:nvPr/>
        </p:nvSpPr>
        <p:spPr>
          <a:xfrm>
            <a:off x="2935773" y="353872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Pipeline</a:t>
            </a:r>
            <a:endParaRPr lang="en-US" sz="1500" dirty="0"/>
          </a:p>
        </p:txBody>
      </p:sp>
      <p:sp>
        <p:nvSpPr>
          <p:cNvPr id="16" name="archi-texte-1"/>
          <p:cNvSpPr txBox="1"/>
          <p:nvPr/>
        </p:nvSpPr>
        <p:spPr>
          <a:xfrm>
            <a:off x="2935773" y="3931920"/>
            <a:ext cx="176534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préparer → entraîner → évaluer (MLflow)</a:t>
            </a:r>
            <a:endParaRPr lang="en-US" sz="1150" dirty="0"/>
          </a:p>
        </p:txBody>
      </p:sp>
      <p:sp>
        <p:nvSpPr>
          <p:cNvPr id="17" name="archi-fleche-1"/>
          <p:cNvSpPr/>
          <p:nvPr/>
        </p:nvSpPr>
        <p:spPr>
          <a:xfrm>
            <a:off x="4856561" y="392734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18" name="archi-carte-2"/>
          <p:cNvSpPr/>
          <p:nvPr/>
        </p:nvSpPr>
        <p:spPr>
          <a:xfrm>
            <a:off x="5103449" y="3429000"/>
            <a:ext cx="1984797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rchi-titre-2"/>
          <p:cNvSpPr txBox="1"/>
          <p:nvPr/>
        </p:nvSpPr>
        <p:spPr>
          <a:xfrm>
            <a:off x="5213177" y="353872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Modèle</a:t>
            </a:r>
            <a:endParaRPr lang="en-US" sz="1500" dirty="0"/>
          </a:p>
        </p:txBody>
      </p:sp>
      <p:sp>
        <p:nvSpPr>
          <p:cNvPr id="20" name="archi-texte-2"/>
          <p:cNvSpPr txBox="1"/>
          <p:nvPr/>
        </p:nvSpPr>
        <p:spPr>
          <a:xfrm>
            <a:off x="5213177" y="3931920"/>
            <a:ext cx="176534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fichier versionné, rechargé par l'API</a:t>
            </a:r>
            <a:endParaRPr lang="en-US" sz="1150" dirty="0"/>
          </a:p>
        </p:txBody>
      </p:sp>
      <p:sp>
        <p:nvSpPr>
          <p:cNvPr id="21" name="archi-fleche-2"/>
          <p:cNvSpPr/>
          <p:nvPr/>
        </p:nvSpPr>
        <p:spPr>
          <a:xfrm>
            <a:off x="7133966" y="392734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22" name="archi-carte-3"/>
          <p:cNvSpPr/>
          <p:nvPr/>
        </p:nvSpPr>
        <p:spPr>
          <a:xfrm>
            <a:off x="7380854" y="3429000"/>
            <a:ext cx="1984797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archi-titre-3"/>
          <p:cNvSpPr txBox="1"/>
          <p:nvPr/>
        </p:nvSpPr>
        <p:spPr>
          <a:xfrm>
            <a:off x="7490582" y="353872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API FastAPI</a:t>
            </a:r>
            <a:endParaRPr lang="en-US" sz="1500" dirty="0"/>
          </a:p>
        </p:txBody>
      </p:sp>
      <p:sp>
        <p:nvSpPr>
          <p:cNvPr id="24" name="archi-texte-3"/>
          <p:cNvSpPr txBox="1"/>
          <p:nvPr/>
        </p:nvSpPr>
        <p:spPr>
          <a:xfrm>
            <a:off x="7490582" y="3931920"/>
            <a:ext cx="176534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/predict, /recommend, conteneur Docker</a:t>
            </a:r>
            <a:endParaRPr lang="en-US" sz="1150" dirty="0"/>
          </a:p>
        </p:txBody>
      </p:sp>
      <p:sp>
        <p:nvSpPr>
          <p:cNvPr id="25" name="archi-fleche-3"/>
          <p:cNvSpPr/>
          <p:nvPr/>
        </p:nvSpPr>
        <p:spPr>
          <a:xfrm>
            <a:off x="9411371" y="392734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26" name="archi-carte-4"/>
          <p:cNvSpPr/>
          <p:nvPr/>
        </p:nvSpPr>
        <p:spPr>
          <a:xfrm>
            <a:off x="9658259" y="3429000"/>
            <a:ext cx="1984797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archi-titre-4"/>
          <p:cNvSpPr txBox="1"/>
          <p:nvPr/>
        </p:nvSpPr>
        <p:spPr>
          <a:xfrm>
            <a:off x="9767987" y="353872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Interface</a:t>
            </a:r>
            <a:endParaRPr lang="en-US" sz="1500" dirty="0"/>
          </a:p>
        </p:txBody>
      </p:sp>
      <p:sp>
        <p:nvSpPr>
          <p:cNvPr id="28" name="archi-texte-4"/>
          <p:cNvSpPr txBox="1"/>
          <p:nvPr/>
        </p:nvSpPr>
        <p:spPr>
          <a:xfrm>
            <a:off x="9767987" y="3931920"/>
            <a:ext cx="176534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Streamlit, aucune logique ML</a:t>
            </a:r>
            <a:endParaRPr lang="en-US" sz="1150" dirty="0"/>
          </a:p>
        </p:txBody>
      </p:sp>
      <p:sp>
        <p:nvSpPr>
          <p:cNvPr id="29" name="lecture-demande-fond"/>
          <p:cNvSpPr/>
          <p:nvPr/>
        </p:nvSpPr>
        <p:spPr>
          <a:xfrm>
            <a:off x="548640" y="502920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lecture-demande-texte"/>
          <p:cNvSpPr txBox="1"/>
          <p:nvPr/>
        </p:nvSpPr>
        <p:spPr>
          <a:xfrm>
            <a:off x="777240" y="502920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Livrables : captures MLflow, scripts d'entraînement, pipeline MLOps, pipeline CI/CD, rapport métier. Deux compétences évaluées : optimiser l'entraînement, automatiser le déploiement.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Deux jeux fournis : l'un est simulé, l'autre doit être reconstruit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Avant de modéliser, vérifier ce que contiennent vraiment les données</a:t>
            </a:r>
            <a:endParaRPr lang="en-US" sz="1600" dirty="0"/>
          </a:p>
        </p:txBody>
      </p:sp>
      <p:sp>
        <p:nvSpPr>
          <p:cNvPr id="4" name="donnees-carte-0"/>
          <p:cNvSpPr/>
          <p:nvPr/>
        </p:nvSpPr>
        <p:spPr>
          <a:xfrm>
            <a:off x="548640" y="1691640"/>
            <a:ext cx="543290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nnees-titre-0"/>
          <p:cNvSpPr txBox="1"/>
          <p:nvPr/>
        </p:nvSpPr>
        <p:spPr>
          <a:xfrm>
            <a:off x="749808" y="183794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Agriculture Crop Yield : simulé</a:t>
            </a:r>
            <a:endParaRPr lang="en-US" sz="1600" dirty="0"/>
          </a:p>
        </p:txBody>
      </p:sp>
      <p:sp>
        <p:nvSpPr>
          <p:cNvPr id="6" name="donnees-texte-0"/>
          <p:cNvSpPr txBox="1"/>
          <p:nvPr/>
        </p:nvSpPr>
        <p:spPr>
          <a:xfrm>
            <a:off x="749808" y="2258568"/>
            <a:ext cx="50305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6 cultures au même rendement moyen, rendements négatifs, ni pays ni année.</a:t>
            </a:r>
            <a:endParaRPr lang="en-US" sz="1300" dirty="0"/>
          </a:p>
        </p:txBody>
      </p:sp>
      <p:sp>
        <p:nvSpPr>
          <p:cNvPr id="7" name="donnees-carte-1"/>
          <p:cNvSpPr/>
          <p:nvPr/>
        </p:nvSpPr>
        <p:spPr>
          <a:xfrm>
            <a:off x="6210148" y="1691640"/>
            <a:ext cx="543290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onnees-titre-1"/>
          <p:cNvSpPr txBox="1"/>
          <p:nvPr/>
        </p:nvSpPr>
        <p:spPr>
          <a:xfrm>
            <a:off x="6411316" y="183794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Crop Yield Prediction : réel</a:t>
            </a:r>
            <a:endParaRPr lang="en-US" sz="1600" dirty="0"/>
          </a:p>
        </p:txBody>
      </p:sp>
      <p:sp>
        <p:nvSpPr>
          <p:cNvPr id="9" name="donnees-texte-1"/>
          <p:cNvSpPr txBox="1"/>
          <p:nvPr/>
        </p:nvSpPr>
        <p:spPr>
          <a:xfrm>
            <a:off x="6411316" y="2258568"/>
            <a:ext cx="50305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FAO + Banque mondiale : 10 cultures, pluie, température, pesticides, 1990-2013.</a:t>
            </a:r>
            <a:endParaRPr lang="en-US" sz="1300" dirty="0"/>
          </a:p>
        </p:txBody>
      </p:sp>
      <p:sp>
        <p:nvSpPr>
          <p:cNvPr id="10" name="donnees-carte-2"/>
          <p:cNvSpPr/>
          <p:nvPr/>
        </p:nvSpPr>
        <p:spPr>
          <a:xfrm>
            <a:off x="548640" y="3520440"/>
            <a:ext cx="543290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onnees-titre-2"/>
          <p:cNvSpPr txBox="1"/>
          <p:nvPr/>
        </p:nvSpPr>
        <p:spPr>
          <a:xfrm>
            <a:off x="749808" y="366674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Piège 1 : doublons</a:t>
            </a:r>
            <a:endParaRPr lang="en-US" sz="1600" dirty="0"/>
          </a:p>
        </p:txBody>
      </p:sp>
      <p:sp>
        <p:nvSpPr>
          <p:cNvPr id="12" name="donnees-texte-2"/>
          <p:cNvSpPr txBox="1"/>
          <p:nvPr/>
        </p:nvSpPr>
        <p:spPr>
          <a:xfrm>
            <a:off x="749808" y="4087368"/>
            <a:ext cx="50305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yield_df.csv : 28 242 lignes pour 13 130 clés pays × culture × année.</a:t>
            </a:r>
            <a:endParaRPr lang="en-US" sz="1300" dirty="0"/>
          </a:p>
        </p:txBody>
      </p:sp>
      <p:sp>
        <p:nvSpPr>
          <p:cNvPr id="13" name="donnees-carte-3"/>
          <p:cNvSpPr/>
          <p:nvPr/>
        </p:nvSpPr>
        <p:spPr>
          <a:xfrm>
            <a:off x="6210148" y="3520440"/>
            <a:ext cx="543290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nnees-titre-3"/>
          <p:cNvSpPr txBox="1"/>
          <p:nvPr/>
        </p:nvSpPr>
        <p:spPr>
          <a:xfrm>
            <a:off x="6411316" y="366674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Piège 2 : noms de pays</a:t>
            </a:r>
            <a:endParaRPr lang="en-US" sz="1600" dirty="0"/>
          </a:p>
        </p:txBody>
      </p:sp>
      <p:sp>
        <p:nvSpPr>
          <p:cNvPr id="15" name="donnees-texte-3"/>
          <p:cNvSpPr txBox="1"/>
          <p:nvPr/>
        </p:nvSpPr>
        <p:spPr>
          <a:xfrm>
            <a:off x="6411316" y="4087368"/>
            <a:ext cx="50305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Sans harmonisation, la jointure perd les États-Unis, la Russie… Reconstruite : 15 794 lignes, 119 pays.</a:t>
            </a:r>
            <a:endParaRPr lang="en-US" sz="1300" dirty="0"/>
          </a:p>
        </p:txBody>
      </p:sp>
      <p:sp>
        <p:nvSpPr>
          <p:cNvPr id="16" name="lecture-donnees-fond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lecture-donnees-texte"/>
          <p:cNvSpPr txBox="1"/>
          <p:nvPr/>
        </p:nvSpPr>
        <p:spPr>
          <a:xfrm>
            <a:off x="777240" y="534924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Conditions = moyennes nationales : la pluie est une valeur fixe par pays, les pesticides sont des tonnes pour tout le pays. Le modèle parlera de pays, pas de parcelles.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La fusion demandée est impossible, l'ACP ne trouve aucune structure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Deux résultats « négatifs » démontrés plutôt que forcés</a:t>
            </a:r>
            <a:endParaRPr lang="en-US" sz="1600" dirty="0"/>
          </a:p>
        </p:txBody>
      </p:sp>
      <p:pic>
        <p:nvPicPr>
          <p:cNvPr id="4" name="figure-synthetique_acp_eboulis" descr="Éboulis de l'ACP : valeurs propres toutes proches 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45920"/>
            <a:ext cx="5330952" cy="2612432"/>
          </a:xfrm>
          <a:prstGeom prst="rect">
            <a:avLst/>
          </a:prstGeom>
        </p:spPr>
      </p:pic>
      <p:sp>
        <p:nvSpPr>
          <p:cNvPr id="5" name="fusion-liste"/>
          <p:cNvSpPr txBox="1"/>
          <p:nvPr/>
        </p:nvSpPr>
        <p:spPr>
          <a:xfrm>
            <a:off x="548640" y="169164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jeu simulé n'a ni pays ni année : seule clé commune, la culture (4 en commun)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Jointure par culture testée : colonnes ajoutées constantes (50 % d'engrais, 50 % d'irrigation, 4,65 t/ha) → écartée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vraie fusion : les 4 fichiers FAO / Banque mondiale entre eux, noms harmonisés, clé unique vérifiée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ACP (variables standardisées) : 5 valeurs propres ≈ 1 → variables indépendantes, aucun axe à interpréter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Évaluer sur des pays jamais vus, sinon le modèle triche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Test : 24 pays mis de côté (20 %), regardés une seule fois ; réglages en validation croisée groupée par pays</a:t>
            </a:r>
            <a:endParaRPr lang="en-US" sz="1600" dirty="0"/>
          </a:p>
        </p:txBody>
      </p:sp>
      <p:sp>
        <p:nvSpPr>
          <p:cNvPr id="4" name="stat-aleatoire-fond"/>
          <p:cNvSpPr/>
          <p:nvPr/>
        </p:nvSpPr>
        <p:spPr>
          <a:xfrm>
            <a:off x="548640" y="1783080"/>
            <a:ext cx="347472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tat-aleatoire-valeur"/>
          <p:cNvSpPr txBox="1"/>
          <p:nvPr/>
        </p:nvSpPr>
        <p:spPr>
          <a:xfrm>
            <a:off x="731520" y="18928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0,28</a:t>
            </a:r>
            <a:endParaRPr lang="en-US" sz="3600" dirty="0"/>
          </a:p>
        </p:txBody>
      </p:sp>
      <p:sp>
        <p:nvSpPr>
          <p:cNvPr id="6" name="stat-aleatoire-legende"/>
          <p:cNvSpPr txBox="1"/>
          <p:nvPr/>
        </p:nvSpPr>
        <p:spPr>
          <a:xfrm>
            <a:off x="731520" y="25877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forêt par défaut, validation aléatoire (lignes mélangées)</a:t>
            </a:r>
            <a:endParaRPr lang="en-US" sz="1200" dirty="0"/>
          </a:p>
        </p:txBody>
      </p:sp>
      <p:sp>
        <p:nvSpPr>
          <p:cNvPr id="7" name="stat-pays-fond"/>
          <p:cNvSpPr/>
          <p:nvPr/>
        </p:nvSpPr>
        <p:spPr>
          <a:xfrm>
            <a:off x="4251960" y="1783080"/>
            <a:ext cx="347472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tat-pays-valeur"/>
          <p:cNvSpPr txBox="1"/>
          <p:nvPr/>
        </p:nvSpPr>
        <p:spPr>
          <a:xfrm>
            <a:off x="4434840" y="18928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0,79</a:t>
            </a:r>
            <a:endParaRPr lang="en-US" sz="3600" dirty="0"/>
          </a:p>
        </p:txBody>
      </p:sp>
      <p:sp>
        <p:nvSpPr>
          <p:cNvPr id="9" name="stat-pays-legende"/>
          <p:cNvSpPr txBox="1"/>
          <p:nvPr/>
        </p:nvSpPr>
        <p:spPr>
          <a:xfrm>
            <a:off x="4434840" y="25877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la même forêt, validation par pays</a:t>
            </a:r>
            <a:endParaRPr lang="en-US" sz="1200" dirty="0"/>
          </a:p>
        </p:txBody>
      </p:sp>
      <p:sp>
        <p:nvSpPr>
          <p:cNvPr id="10" name="stat-ref-fond"/>
          <p:cNvSpPr/>
          <p:nvPr/>
        </p:nvSpPr>
        <p:spPr>
          <a:xfrm>
            <a:off x="7955280" y="1783080"/>
            <a:ext cx="3685032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-ref-valeur"/>
          <p:cNvSpPr txBox="1"/>
          <p:nvPr/>
        </p:nvSpPr>
        <p:spPr>
          <a:xfrm>
            <a:off x="8138160" y="1892808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0,73</a:t>
            </a:r>
            <a:endParaRPr lang="en-US" sz="3600" dirty="0"/>
          </a:p>
        </p:txBody>
      </p:sp>
      <p:sp>
        <p:nvSpPr>
          <p:cNvPr id="12" name="stat-ref-legende"/>
          <p:cNvSpPr txBox="1"/>
          <p:nvPr/>
        </p:nvSpPr>
        <p:spPr>
          <a:xfrm>
            <a:off x="8138160" y="2587752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référence naïve : médiane de la culture, sans conditions</a:t>
            </a:r>
            <a:endParaRPr lang="en-US" sz="1200" dirty="0"/>
          </a:p>
        </p:txBody>
      </p:sp>
      <p:sp>
        <p:nvSpPr>
          <p:cNvPr id="13" name="protocole-liste"/>
          <p:cNvSpPr txBox="1"/>
          <p:nvPr/>
        </p:nvSpPr>
        <p:spPr>
          <a:xfrm>
            <a:off x="548640" y="347472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Métrique principale : RMSE du log du rendement (0,1 ≈ 10 % d'erreur relative, quelle que soit la culture)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forêt par défaut reconnaît les pays (pluie fixe, pesticides) : excellente sur des pays connus, pire que la référence sur des pays nouveaux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Mêmes plis pour tous les modèles : les comparaisons sont appariées ; graine fixée dans config.yaml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Optimisés, les trois modèles finissent au coude à coude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4 expériences MLflow : comparaison, optimisation (65 essais), variantes de variables, test final</a:t>
            </a:r>
            <a:endParaRPr lang="en-US" sz="1600" dirty="0"/>
          </a:p>
        </p:txBody>
      </p:sp>
      <p:pic>
        <p:nvPicPr>
          <p:cNvPr id="4" name="figure-cv_modeles" descr="Erreur en validation par pays avant et après optimis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309360" cy="3244302"/>
          </a:xfrm>
          <a:prstGeom prst="rect">
            <a:avLst/>
          </a:prstGeom>
        </p:spPr>
      </p:pic>
      <p:sp>
        <p:nvSpPr>
          <p:cNvPr id="5" name="optim-liste"/>
          <p:cNvSpPr txBox="1"/>
          <p:nvPr/>
        </p:nvSpPr>
        <p:spPr>
          <a:xfrm>
            <a:off x="7086600" y="1691640"/>
            <a:ext cx="45537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Forêt et gradient boosting : recherche aléatoire (30 essais chacun) ; Ridge : grille de 5 valeurs d'alpha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Hyperparamètre décisif : min_samples_leaf (50) — chaque feuille doit regrouper plusieurs pays, l'arbre ne peut plus mémoriser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Forêt 0,634, boosting 0,638, Ridge 0,641 : écarts plus petits que le bruit entre plis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Règle fixée avant : à score équivalent (moins d'une erreur-type), le plus simple → Ridge (alpha = 10)</a:t>
            </a:r>
            <a:endParaRPr lang="en-US" sz="1400" dirty="0"/>
          </a:p>
        </p:txBody>
      </p:sp>
      <p:sp>
        <p:nvSpPr>
          <p:cNvPr id="6" name="lecture-optim-fond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lecture-optim-texte"/>
          <p:cNvSpPr txBox="1"/>
          <p:nvPr/>
        </p:nvSpPr>
        <p:spPr>
          <a:xfrm>
            <a:off x="777240" y="54864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Ridge est retenu à un cheveu : la forêt prédit sans doute un peu mieux. Le choix ne change pas la conclusion sur la recommandation.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MLflow garde la trace de chaque essai : paramètres, scores, graine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Captures de l'interface MLflow (livrable 1) ; tous les runs sont aussi exportés en CSV</a:t>
            </a:r>
            <a:endParaRPr lang="en-US" sz="1600" dirty="0"/>
          </a:p>
        </p:txBody>
      </p:sp>
      <p:pic>
        <p:nvPicPr>
          <p:cNvPr id="4" name="figure-mlflow_2_optimisation" descr="MLflow : essais d'optimisation triés par err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943600" cy="2786063"/>
          </a:xfrm>
          <a:prstGeom prst="rect">
            <a:avLst/>
          </a:prstGeom>
        </p:spPr>
      </p:pic>
      <p:pic>
        <p:nvPicPr>
          <p:cNvPr id="5" name="figure-mlflow_3_comparaison_modeles" descr="MLflow : comparaison des modèles reten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047" y="1600200"/>
            <a:ext cx="4301338" cy="4480560"/>
          </a:xfrm>
          <a:prstGeom prst="rect">
            <a:avLst/>
          </a:prstGeom>
        </p:spPr>
      </p:pic>
      <p:sp>
        <p:nvSpPr>
          <p:cNvPr id="6" name="mlflow-legende"/>
          <p:cNvSpPr txBox="1"/>
          <p:nvPr/>
        </p:nvSpPr>
        <p:spPr>
          <a:xfrm>
            <a:off x="548640" y="5303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Gauche : les 68 runs de l'expérience « optimisation » (65 essais et 3 runs parents, un par recherche), triés par erreur de validation. Droite : la vue Compare de la référence et des trois meilleurs réglages (paramètres, erreur, écart entraînement / validation).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Sur 24 pays jamais vus, une erreur typique de 37 % sur le rendement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Évaluation unique du modèle retenu, puis réentraînement sur tous les pays pour l'API</a:t>
            </a:r>
            <a:endParaRPr lang="en-US" sz="1600" dirty="0"/>
          </a:p>
        </p:txBody>
      </p:sp>
      <p:sp>
        <p:nvSpPr>
          <p:cNvPr id="4" name="stat-erreur-fond"/>
          <p:cNvSpPr/>
          <p:nvPr/>
        </p:nvSpPr>
        <p:spPr>
          <a:xfrm>
            <a:off x="5486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tat-erreur-valeur"/>
          <p:cNvSpPr txBox="1"/>
          <p:nvPr/>
        </p:nvSpPr>
        <p:spPr>
          <a:xfrm>
            <a:off x="731520" y="18928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37 %</a:t>
            </a:r>
            <a:endParaRPr lang="en-US" sz="3600" dirty="0"/>
          </a:p>
        </p:txBody>
      </p:sp>
      <p:sp>
        <p:nvSpPr>
          <p:cNvPr id="6" name="stat-erreur-legende"/>
          <p:cNvSpPr txBox="1"/>
          <p:nvPr/>
        </p:nvSpPr>
        <p:spPr>
          <a:xfrm>
            <a:off x="731520" y="25877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erreur relative médiane</a:t>
            </a:r>
            <a:endParaRPr lang="en-US" sz="1200" dirty="0"/>
          </a:p>
        </p:txBody>
      </p:sp>
      <p:sp>
        <p:nvSpPr>
          <p:cNvPr id="7" name="stat-rmse-fond"/>
          <p:cNvSpPr/>
          <p:nvPr/>
        </p:nvSpPr>
        <p:spPr>
          <a:xfrm>
            <a:off x="338328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tat-rmse-valeur"/>
          <p:cNvSpPr txBox="1"/>
          <p:nvPr/>
        </p:nvSpPr>
        <p:spPr>
          <a:xfrm>
            <a:off x="3566160" y="18928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0,61</a:t>
            </a:r>
            <a:endParaRPr lang="en-US" sz="3600" dirty="0"/>
          </a:p>
        </p:txBody>
      </p:sp>
      <p:sp>
        <p:nvSpPr>
          <p:cNvPr id="9" name="stat-rmse-legende"/>
          <p:cNvSpPr txBox="1"/>
          <p:nvPr/>
        </p:nvSpPr>
        <p:spPr>
          <a:xfrm>
            <a:off x="3566160" y="25877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RMSE-log (IC 95 % : 0,53 – 0,68)</a:t>
            </a:r>
            <a:endParaRPr lang="en-US" sz="1200" dirty="0"/>
          </a:p>
        </p:txBody>
      </p:sp>
      <p:sp>
        <p:nvSpPr>
          <p:cNvPr id="10" name="stat-ref-test-fond"/>
          <p:cNvSpPr/>
          <p:nvPr/>
        </p:nvSpPr>
        <p:spPr>
          <a:xfrm>
            <a:off x="621792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-ref-test-valeur"/>
          <p:cNvSpPr txBox="1"/>
          <p:nvPr/>
        </p:nvSpPr>
        <p:spPr>
          <a:xfrm>
            <a:off x="6400800" y="18928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0,70</a:t>
            </a:r>
            <a:endParaRPr lang="en-US" sz="3600" dirty="0"/>
          </a:p>
        </p:txBody>
      </p:sp>
      <p:sp>
        <p:nvSpPr>
          <p:cNvPr id="12" name="stat-ref-test-legende"/>
          <p:cNvSpPr txBox="1"/>
          <p:nvPr/>
        </p:nvSpPr>
        <p:spPr>
          <a:xfrm>
            <a:off x="6400800" y="25877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référence naïve sur les mêmes pays</a:t>
            </a:r>
            <a:endParaRPr lang="en-US" sz="1200" dirty="0"/>
          </a:p>
        </p:txBody>
      </p:sp>
      <p:sp>
        <p:nvSpPr>
          <p:cNvPr id="13" name="stat-culture-fond"/>
          <p:cNvSpPr/>
          <p:nvPr/>
        </p:nvSpPr>
        <p:spPr>
          <a:xfrm>
            <a:off x="9052560" y="1783080"/>
            <a:ext cx="2587752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stat-culture-valeur"/>
          <p:cNvSpPr txBox="1"/>
          <p:nvPr/>
        </p:nvSpPr>
        <p:spPr>
          <a:xfrm>
            <a:off x="9235440" y="189280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0,68</a:t>
            </a:r>
            <a:endParaRPr lang="en-US" sz="3600" dirty="0"/>
          </a:p>
        </p:txBody>
      </p:sp>
      <p:sp>
        <p:nvSpPr>
          <p:cNvPr id="15" name="stat-culture-legende"/>
          <p:cNvSpPr txBox="1"/>
          <p:nvPr/>
        </p:nvSpPr>
        <p:spPr>
          <a:xfrm>
            <a:off x="9235440" y="258775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même modèle avec la culture seule</a:t>
            </a:r>
            <a:endParaRPr lang="en-US" sz="1200" dirty="0"/>
          </a:p>
        </p:txBody>
      </p:sp>
      <p:sp>
        <p:nvSpPr>
          <p:cNvPr id="16" name="final-liste"/>
          <p:cNvSpPr txBox="1"/>
          <p:nvPr/>
        </p:nvSpPr>
        <p:spPr>
          <a:xfrm>
            <a:off x="548640" y="3474720"/>
            <a:ext cx="110944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Les conditions du pays améliorent l'erreur de 0,68 à 0,61 : réel mais modeste ; la culture fait l'essentiel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Sur 20 autres tirages de pays, l'erreur varie de 0,51 à 0,67 : le chiffre dépend des pays testés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Ce que le modèle utilise : la culture, loin devant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Importance par permutation sur les pays de test : hausse de l'erreur quand on mélange une variable</a:t>
            </a:r>
            <a:endParaRPr lang="en-US" sz="1600" dirty="0"/>
          </a:p>
        </p:txBody>
      </p:sp>
      <p:pic>
        <p:nvPicPr>
          <p:cNvPr id="4" name="figure-importance_permutation" descr="Importance par permutation des vari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035040" cy="2500401"/>
          </a:xfrm>
          <a:prstGeom prst="rect">
            <a:avLst/>
          </a:prstGeom>
        </p:spPr>
      </p:pic>
      <p:sp>
        <p:nvSpPr>
          <p:cNvPr id="5" name="importance-liste"/>
          <p:cNvSpPr txBox="1"/>
          <p:nvPr/>
        </p:nvSpPr>
        <p:spPr>
          <a:xfrm>
            <a:off x="6812280" y="1691640"/>
            <a:ext cx="4828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Culture : une pomme de terre rapporte toujours plus de tonnes qu'un soja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Pesticides (tonnes du pays) : reflètent la taille et l'équipement de l'agriculture du pays — pas un effet du produit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Température : utile ; pluie (valeur fixe par pays, rien sur l'année) : presque rien pour ce modèle, même seule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Une importance n'est ni une cause, ni un sens d'effet, ni une part du rendement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Une commande reproduit tout, de la donnée brute au modèle servi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Étapes séparées, reliées par des fichiers, pilotées par un seul fichier de configuration</a:t>
            </a:r>
            <a:endParaRPr lang="en-US" sz="1600" dirty="0"/>
          </a:p>
        </p:txBody>
      </p:sp>
      <p:sp>
        <p:nvSpPr>
          <p:cNvPr id="4" name="pipeline-carte-0"/>
          <p:cNvSpPr/>
          <p:nvPr/>
        </p:nvSpPr>
        <p:spPr>
          <a:xfrm>
            <a:off x="548640" y="1737360"/>
            <a:ext cx="1984797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peline-titre-0"/>
          <p:cNvSpPr txBox="1"/>
          <p:nvPr/>
        </p:nvSpPr>
        <p:spPr>
          <a:xfrm>
            <a:off x="658368" y="184708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prepare</a:t>
            </a:r>
            <a:endParaRPr lang="en-US" sz="1500" dirty="0"/>
          </a:p>
        </p:txBody>
      </p:sp>
      <p:sp>
        <p:nvSpPr>
          <p:cNvPr id="6" name="pipeline-texte-0"/>
          <p:cNvSpPr txBox="1"/>
          <p:nvPr/>
        </p:nvSpPr>
        <p:spPr>
          <a:xfrm>
            <a:off x="658368" y="2240280"/>
            <a:ext cx="176534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téléchargement vérifié (SHA-256), fusion → dataset_consolide.csv</a:t>
            </a:r>
            <a:endParaRPr lang="en-US" sz="1150" dirty="0"/>
          </a:p>
        </p:txBody>
      </p:sp>
      <p:sp>
        <p:nvSpPr>
          <p:cNvPr id="7" name="pipeline-fleche-0"/>
          <p:cNvSpPr/>
          <p:nvPr/>
        </p:nvSpPr>
        <p:spPr>
          <a:xfrm>
            <a:off x="2579157" y="235000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8" name="pipeline-carte-1"/>
          <p:cNvSpPr/>
          <p:nvPr/>
        </p:nvSpPr>
        <p:spPr>
          <a:xfrm>
            <a:off x="2826045" y="1737360"/>
            <a:ext cx="1984797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peline-titre-1"/>
          <p:cNvSpPr txBox="1"/>
          <p:nvPr/>
        </p:nvSpPr>
        <p:spPr>
          <a:xfrm>
            <a:off x="2935773" y="184708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train</a:t>
            </a:r>
            <a:endParaRPr lang="en-US" sz="1500" dirty="0"/>
          </a:p>
        </p:txBody>
      </p:sp>
      <p:sp>
        <p:nvSpPr>
          <p:cNvPr id="10" name="pipeline-texte-1"/>
          <p:cNvSpPr txBox="1"/>
          <p:nvPr/>
        </p:nvSpPr>
        <p:spPr>
          <a:xfrm>
            <a:off x="2935773" y="2240280"/>
            <a:ext cx="176534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comparaison + optimisation + sélection → MLflow, selection.json</a:t>
            </a:r>
            <a:endParaRPr lang="en-US" sz="1150" dirty="0"/>
          </a:p>
        </p:txBody>
      </p:sp>
      <p:sp>
        <p:nvSpPr>
          <p:cNvPr id="11" name="pipeline-fleche-1"/>
          <p:cNvSpPr/>
          <p:nvPr/>
        </p:nvSpPr>
        <p:spPr>
          <a:xfrm>
            <a:off x="4856561" y="235000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12" name="pipeline-carte-2"/>
          <p:cNvSpPr/>
          <p:nvPr/>
        </p:nvSpPr>
        <p:spPr>
          <a:xfrm>
            <a:off x="5103449" y="1737360"/>
            <a:ext cx="1984797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ipeline-titre-2"/>
          <p:cNvSpPr txBox="1"/>
          <p:nvPr/>
        </p:nvSpPr>
        <p:spPr>
          <a:xfrm>
            <a:off x="5213177" y="184708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evaluate</a:t>
            </a:r>
            <a:endParaRPr lang="en-US" sz="1500" dirty="0"/>
          </a:p>
        </p:txBody>
      </p:sp>
      <p:sp>
        <p:nvSpPr>
          <p:cNvPr id="14" name="pipeline-texte-2"/>
          <p:cNvSpPr txBox="1"/>
          <p:nvPr/>
        </p:nvSpPr>
        <p:spPr>
          <a:xfrm>
            <a:off x="5213177" y="2240280"/>
            <a:ext cx="176534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test unique, recommandation, sensibilité → resultats.json</a:t>
            </a:r>
            <a:endParaRPr lang="en-US" sz="1150" dirty="0"/>
          </a:p>
        </p:txBody>
      </p:sp>
      <p:sp>
        <p:nvSpPr>
          <p:cNvPr id="15" name="pipeline-fleche-2"/>
          <p:cNvSpPr/>
          <p:nvPr/>
        </p:nvSpPr>
        <p:spPr>
          <a:xfrm>
            <a:off x="7133966" y="235000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16" name="pipeline-carte-3"/>
          <p:cNvSpPr/>
          <p:nvPr/>
        </p:nvSpPr>
        <p:spPr>
          <a:xfrm>
            <a:off x="7380854" y="1737360"/>
            <a:ext cx="1984797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pipeline-titre-3"/>
          <p:cNvSpPr txBox="1"/>
          <p:nvPr/>
        </p:nvSpPr>
        <p:spPr>
          <a:xfrm>
            <a:off x="7490582" y="184708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modèle</a:t>
            </a:r>
            <a:endParaRPr lang="en-US" sz="1500" dirty="0"/>
          </a:p>
        </p:txBody>
      </p:sp>
      <p:sp>
        <p:nvSpPr>
          <p:cNvPr id="18" name="pipeline-texte-3"/>
          <p:cNvSpPr txBox="1"/>
          <p:nvPr/>
        </p:nvSpPr>
        <p:spPr>
          <a:xfrm>
            <a:off x="7490582" y="2240280"/>
            <a:ext cx="176534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models/model.joblib : modèle, références, domaine de validité</a:t>
            </a:r>
            <a:endParaRPr lang="en-US" sz="1150" dirty="0"/>
          </a:p>
        </p:txBody>
      </p:sp>
      <p:sp>
        <p:nvSpPr>
          <p:cNvPr id="19" name="pipeline-fleche-3"/>
          <p:cNvSpPr/>
          <p:nvPr/>
        </p:nvSpPr>
        <p:spPr>
          <a:xfrm>
            <a:off x="9411371" y="235000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20" name="pipeline-carte-4"/>
          <p:cNvSpPr/>
          <p:nvPr/>
        </p:nvSpPr>
        <p:spPr>
          <a:xfrm>
            <a:off x="9658259" y="1737360"/>
            <a:ext cx="1984797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ipeline-titre-4"/>
          <p:cNvSpPr txBox="1"/>
          <p:nvPr/>
        </p:nvSpPr>
        <p:spPr>
          <a:xfrm>
            <a:off x="9767987" y="184708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API + interface</a:t>
            </a:r>
            <a:endParaRPr lang="en-US" sz="1500" dirty="0"/>
          </a:p>
        </p:txBody>
      </p:sp>
      <p:sp>
        <p:nvSpPr>
          <p:cNvPr id="22" name="pipeline-texte-4"/>
          <p:cNvSpPr txBox="1"/>
          <p:nvPr/>
        </p:nvSpPr>
        <p:spPr>
          <a:xfrm>
            <a:off x="9767987" y="2240280"/>
            <a:ext cx="176534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FastAPI dans Docker, Streamlit ; docker compose up</a:t>
            </a:r>
            <a:endParaRPr lang="en-US" sz="1150" dirty="0"/>
          </a:p>
        </p:txBody>
      </p:sp>
      <p:sp>
        <p:nvSpPr>
          <p:cNvPr id="23" name="mlops-carte-0"/>
          <p:cNvSpPr/>
          <p:nvPr/>
        </p:nvSpPr>
        <p:spPr>
          <a:xfrm>
            <a:off x="548640" y="3520440"/>
            <a:ext cx="354573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lops-titre-0"/>
          <p:cNvSpPr txBox="1"/>
          <p:nvPr/>
        </p:nvSpPr>
        <p:spPr>
          <a:xfrm>
            <a:off x="749808" y="3666744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config.yaml</a:t>
            </a:r>
            <a:endParaRPr lang="en-US" sz="1600" dirty="0"/>
          </a:p>
        </p:txBody>
      </p:sp>
      <p:sp>
        <p:nvSpPr>
          <p:cNvPr id="25" name="mlops-texte-0"/>
          <p:cNvSpPr txBox="1"/>
          <p:nvPr/>
        </p:nvSpPr>
        <p:spPr>
          <a:xfrm>
            <a:off x="749808" y="4087368"/>
            <a:ext cx="31434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Graine, découpage, variables, plages d'hyperparamètres : rien de codé en dur.</a:t>
            </a:r>
            <a:endParaRPr lang="en-US" sz="1300" dirty="0"/>
          </a:p>
        </p:txBody>
      </p:sp>
      <p:sp>
        <p:nvSpPr>
          <p:cNvPr id="26" name="mlops-carte-1"/>
          <p:cNvSpPr/>
          <p:nvPr/>
        </p:nvSpPr>
        <p:spPr>
          <a:xfrm>
            <a:off x="4322978" y="3520440"/>
            <a:ext cx="354573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mlops-titre-1"/>
          <p:cNvSpPr txBox="1"/>
          <p:nvPr/>
        </p:nvSpPr>
        <p:spPr>
          <a:xfrm>
            <a:off x="4524146" y="3666744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Reproductible</a:t>
            </a:r>
            <a:endParaRPr lang="en-US" sz="1600" dirty="0"/>
          </a:p>
        </p:txBody>
      </p:sp>
      <p:sp>
        <p:nvSpPr>
          <p:cNvPr id="28" name="mlops-texte-1"/>
          <p:cNvSpPr txBox="1"/>
          <p:nvPr/>
        </p:nvSpPr>
        <p:spPr>
          <a:xfrm>
            <a:off x="4524146" y="4087368"/>
            <a:ext cx="31434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uv.lock fige les versions ; requirements.txt de l'image générés depuis lui ; modèle rechargé avec la même version de scikit-learn.</a:t>
            </a:r>
            <a:endParaRPr lang="en-US" sz="1300" dirty="0"/>
          </a:p>
        </p:txBody>
      </p:sp>
      <p:sp>
        <p:nvSpPr>
          <p:cNvPr id="29" name="mlops-carte-2"/>
          <p:cNvSpPr/>
          <p:nvPr/>
        </p:nvSpPr>
        <p:spPr>
          <a:xfrm>
            <a:off x="8097317" y="3520440"/>
            <a:ext cx="354573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mlops-titre-2"/>
          <p:cNvSpPr txBox="1"/>
          <p:nvPr/>
        </p:nvSpPr>
        <p:spPr>
          <a:xfrm>
            <a:off x="8298485" y="3666744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Robuste</a:t>
            </a:r>
            <a:endParaRPr lang="en-US" sz="1600" dirty="0"/>
          </a:p>
        </p:txBody>
      </p:sp>
      <p:sp>
        <p:nvSpPr>
          <p:cNvPr id="31" name="mlops-texte-2"/>
          <p:cNvSpPr txBox="1"/>
          <p:nvPr/>
        </p:nvSpPr>
        <p:spPr>
          <a:xfrm>
            <a:off x="8298485" y="4087368"/>
            <a:ext cx="31434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Fichier absent ou configuration incomplète : message clair et arrêt. Entrée absurde à l'API : refus 422.</a:t>
            </a:r>
            <a:endParaRPr lang="en-US" sz="1300" dirty="0"/>
          </a:p>
        </p:txBody>
      </p:sp>
      <p:pic>
        <p:nvPicPr>
          <p:cNvPr id="32" name="figure-interface_recommandation" descr="Interface Streaml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6356" y="5120640"/>
            <a:ext cx="1005840" cy="1188720"/>
          </a:xfrm>
          <a:prstGeom prst="rect">
            <a:avLst/>
          </a:prstGeom>
        </p:spPr>
      </p:pic>
      <p:sp>
        <p:nvSpPr>
          <p:cNvPr id="33" name="commande"/>
          <p:cNvSpPr txBox="1"/>
          <p:nvPr/>
        </p:nvSpPr>
        <p:spPr>
          <a:xfrm>
            <a:off x="548640" y="5349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agrireco all   →   15 794 lignes, 4 expériences MLflow, un modèle servi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À chaque modification : tests, image, test du conteneur, publication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GitHub Actions ; un échec arrête tout, rien n'est publié, l'équipe est prévenue</a:t>
            </a:r>
            <a:endParaRPr lang="en-US" sz="1600" dirty="0"/>
          </a:p>
        </p:txBody>
      </p:sp>
      <p:sp>
        <p:nvSpPr>
          <p:cNvPr id="4" name="ci-carte-0"/>
          <p:cNvSpPr/>
          <p:nvPr/>
        </p:nvSpPr>
        <p:spPr>
          <a:xfrm>
            <a:off x="548640" y="1737360"/>
            <a:ext cx="1984797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-titre-0"/>
          <p:cNvSpPr txBox="1"/>
          <p:nvPr/>
        </p:nvSpPr>
        <p:spPr>
          <a:xfrm>
            <a:off x="658368" y="184708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Lint + tests</a:t>
            </a:r>
            <a:endParaRPr lang="en-US" sz="1500" dirty="0"/>
          </a:p>
        </p:txBody>
      </p:sp>
      <p:sp>
        <p:nvSpPr>
          <p:cNvPr id="6" name="ci-texte-0"/>
          <p:cNvSpPr txBox="1"/>
          <p:nvPr/>
        </p:nvSpPr>
        <p:spPr>
          <a:xfrm>
            <a:off x="658368" y="2240280"/>
            <a:ext cx="176534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ruff, pytest (fusion, métriques, sélection, API, interface sans ML)</a:t>
            </a:r>
            <a:endParaRPr lang="en-US" sz="1150" dirty="0"/>
          </a:p>
        </p:txBody>
      </p:sp>
      <p:sp>
        <p:nvSpPr>
          <p:cNvPr id="7" name="ci-fleche-0"/>
          <p:cNvSpPr/>
          <p:nvPr/>
        </p:nvSpPr>
        <p:spPr>
          <a:xfrm>
            <a:off x="2579157" y="235000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8" name="ci-carte-1"/>
          <p:cNvSpPr/>
          <p:nvPr/>
        </p:nvSpPr>
        <p:spPr>
          <a:xfrm>
            <a:off x="2826045" y="1737360"/>
            <a:ext cx="1984797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-titre-1"/>
          <p:cNvSpPr txBox="1"/>
          <p:nvPr/>
        </p:nvSpPr>
        <p:spPr>
          <a:xfrm>
            <a:off x="2935773" y="184708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Synchronisation</a:t>
            </a:r>
            <a:endParaRPr lang="en-US" sz="1500" dirty="0"/>
          </a:p>
        </p:txBody>
      </p:sp>
      <p:sp>
        <p:nvSpPr>
          <p:cNvPr id="10" name="ci-texte-1"/>
          <p:cNvSpPr txBox="1"/>
          <p:nvPr/>
        </p:nvSpPr>
        <p:spPr>
          <a:xfrm>
            <a:off x="2935773" y="2240280"/>
            <a:ext cx="176534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requirements.txt = uv.lock ?</a:t>
            </a:r>
            <a:endParaRPr lang="en-US" sz="1150" dirty="0"/>
          </a:p>
        </p:txBody>
      </p:sp>
      <p:sp>
        <p:nvSpPr>
          <p:cNvPr id="11" name="ci-fleche-1"/>
          <p:cNvSpPr/>
          <p:nvPr/>
        </p:nvSpPr>
        <p:spPr>
          <a:xfrm>
            <a:off x="4856561" y="235000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12" name="ci-carte-2"/>
          <p:cNvSpPr/>
          <p:nvPr/>
        </p:nvSpPr>
        <p:spPr>
          <a:xfrm>
            <a:off x="5103449" y="1737360"/>
            <a:ext cx="1984797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i-titre-2"/>
          <p:cNvSpPr txBox="1"/>
          <p:nvPr/>
        </p:nvSpPr>
        <p:spPr>
          <a:xfrm>
            <a:off x="5213177" y="184708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Build</a:t>
            </a:r>
            <a:endParaRPr lang="en-US" sz="1500" dirty="0"/>
          </a:p>
        </p:txBody>
      </p:sp>
      <p:sp>
        <p:nvSpPr>
          <p:cNvPr id="14" name="ci-texte-2"/>
          <p:cNvSpPr txBox="1"/>
          <p:nvPr/>
        </p:nvSpPr>
        <p:spPr>
          <a:xfrm>
            <a:off x="5213177" y="2240280"/>
            <a:ext cx="176534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image Docker de l'API, modèle embarqué</a:t>
            </a:r>
            <a:endParaRPr lang="en-US" sz="1150" dirty="0"/>
          </a:p>
        </p:txBody>
      </p:sp>
      <p:sp>
        <p:nvSpPr>
          <p:cNvPr id="15" name="ci-fleche-2"/>
          <p:cNvSpPr/>
          <p:nvPr/>
        </p:nvSpPr>
        <p:spPr>
          <a:xfrm>
            <a:off x="7133966" y="235000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16" name="ci-carte-3"/>
          <p:cNvSpPr/>
          <p:nvPr/>
        </p:nvSpPr>
        <p:spPr>
          <a:xfrm>
            <a:off x="7380854" y="1737360"/>
            <a:ext cx="1984797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ci-titre-3"/>
          <p:cNvSpPr txBox="1"/>
          <p:nvPr/>
        </p:nvSpPr>
        <p:spPr>
          <a:xfrm>
            <a:off x="7490582" y="184708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Intégration</a:t>
            </a:r>
            <a:endParaRPr lang="en-US" sz="1500" dirty="0"/>
          </a:p>
        </p:txBody>
      </p:sp>
      <p:sp>
        <p:nvSpPr>
          <p:cNvPr id="18" name="ci-texte-3"/>
          <p:cNvSpPr txBox="1"/>
          <p:nvPr/>
        </p:nvSpPr>
        <p:spPr>
          <a:xfrm>
            <a:off x="7490582" y="2240280"/>
            <a:ext cx="176534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conteneur lancé : /health, /predict, /recommend, erreur 422</a:t>
            </a:r>
            <a:endParaRPr lang="en-US" sz="1150" dirty="0"/>
          </a:p>
        </p:txBody>
      </p:sp>
      <p:sp>
        <p:nvSpPr>
          <p:cNvPr id="19" name="ci-fleche-3"/>
          <p:cNvSpPr/>
          <p:nvPr/>
        </p:nvSpPr>
        <p:spPr>
          <a:xfrm>
            <a:off x="9411371" y="2350008"/>
            <a:ext cx="201168" cy="237744"/>
          </a:xfrm>
          <a:prstGeom prst="rightArrow">
            <a:avLst/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20" name="ci-carte-4"/>
          <p:cNvSpPr/>
          <p:nvPr/>
        </p:nvSpPr>
        <p:spPr>
          <a:xfrm>
            <a:off x="9658259" y="1737360"/>
            <a:ext cx="1984797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i-titre-4"/>
          <p:cNvSpPr txBox="1"/>
          <p:nvPr/>
        </p:nvSpPr>
        <p:spPr>
          <a:xfrm>
            <a:off x="9767987" y="1847088"/>
            <a:ext cx="1765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Publication</a:t>
            </a:r>
            <a:endParaRPr lang="en-US" sz="1500" dirty="0"/>
          </a:p>
        </p:txBody>
      </p:sp>
      <p:sp>
        <p:nvSpPr>
          <p:cNvPr id="22" name="ci-texte-4"/>
          <p:cNvSpPr txBox="1"/>
          <p:nvPr/>
        </p:nvSpPr>
        <p:spPr>
          <a:xfrm>
            <a:off x="9767987" y="2240280"/>
            <a:ext cx="176534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ghcr.io, tag du commit + latest (branche main)</a:t>
            </a:r>
            <a:endParaRPr lang="en-US" sz="1150" dirty="0"/>
          </a:p>
        </p:txBody>
      </p:sp>
      <p:sp>
        <p:nvSpPr>
          <p:cNvPr id="23" name="ci-cartes-carte-0"/>
          <p:cNvSpPr/>
          <p:nvPr/>
        </p:nvSpPr>
        <p:spPr>
          <a:xfrm>
            <a:off x="548640" y="3520440"/>
            <a:ext cx="543290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i-cartes-titre-0"/>
          <p:cNvSpPr txBox="1"/>
          <p:nvPr/>
        </p:nvSpPr>
        <p:spPr>
          <a:xfrm>
            <a:off x="749808" y="366674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 cas d'échec</a:t>
            </a:r>
            <a:endParaRPr lang="en-US" sz="1600" dirty="0"/>
          </a:p>
        </p:txBody>
      </p:sp>
      <p:sp>
        <p:nvSpPr>
          <p:cNvPr id="25" name="ci-cartes-texte-0"/>
          <p:cNvSpPr txBox="1"/>
          <p:nvPr/>
        </p:nvSpPr>
        <p:spPr>
          <a:xfrm>
            <a:off x="749808" y="4087368"/>
            <a:ext cx="50305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Job rouge, étapes suivantes sautées, journaux du conteneur affichés, résumé ❌ et e-mail GitHub.</a:t>
            </a:r>
            <a:endParaRPr lang="en-US" sz="1300" dirty="0"/>
          </a:p>
        </p:txBody>
      </p:sp>
      <p:sp>
        <p:nvSpPr>
          <p:cNvPr id="26" name="ci-cartes-carte-1"/>
          <p:cNvSpPr/>
          <p:nvPr/>
        </p:nvSpPr>
        <p:spPr>
          <a:xfrm>
            <a:off x="6210148" y="3520440"/>
            <a:ext cx="543290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ci-cartes-titre-1"/>
          <p:cNvSpPr txBox="1"/>
          <p:nvPr/>
        </p:nvSpPr>
        <p:spPr>
          <a:xfrm>
            <a:off x="6411316" y="366674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Sécurité</a:t>
            </a:r>
            <a:endParaRPr lang="en-US" sz="1600" dirty="0"/>
          </a:p>
        </p:txBody>
      </p:sp>
      <p:sp>
        <p:nvSpPr>
          <p:cNvPr id="28" name="ci-cartes-texte-1"/>
          <p:cNvSpPr txBox="1"/>
          <p:nvPr/>
        </p:nvSpPr>
        <p:spPr>
          <a:xfrm>
            <a:off x="6411316" y="4087368"/>
            <a:ext cx="50305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Aucun secret dans les fichiers : GITHUB_TOKEN éphémère, permissions minimales, utilisateur non root dans l'image.</a:t>
            </a:r>
            <a:endParaRPr lang="en-US" sz="1300" dirty="0"/>
          </a:p>
        </p:txBody>
      </p:sp>
      <p:sp>
        <p:nvSpPr>
          <p:cNvPr id="29" name="lecture-ci-fond"/>
          <p:cNvSpPr/>
          <p:nvPr/>
        </p:nvSpPr>
        <p:spPr>
          <a:xfrm>
            <a:off x="548640" y="5303520"/>
            <a:ext cx="11094415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lecture-ci-texte"/>
          <p:cNvSpPr txBox="1"/>
          <p:nvPr/>
        </p:nvSpPr>
        <p:spPr>
          <a:xfrm>
            <a:off x="777240" y="53035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Non automatisé volontairement : le réentraînement. Les résultats sont relus par un humain avant de servir un nouveau modèle ; la suite logique serait un réentraînement déclenché par de nouvelles données, avec validation.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Le classement des cultures ne fait pas mieux qu'une liste fixe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Part des cas où la culture classée 1ʳᵉ est la meilleure des cultures réellement pratiquées (pays de test)</a:t>
            </a:r>
            <a:endParaRPr lang="en-US" sz="1600" dirty="0"/>
          </a:p>
        </p:txBody>
      </p:sp>
      <p:pic>
        <p:nvPicPr>
          <p:cNvPr id="4" name="figure-recommandation_top1" descr="Taux de bonne première place : hasard, classement fixe, mod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400800" cy="3517179"/>
          </a:xfrm>
          <a:prstGeom prst="rect">
            <a:avLst/>
          </a:prstGeom>
        </p:spPr>
      </p:pic>
      <p:sp>
        <p:nvSpPr>
          <p:cNvPr id="5" name="reco-liste"/>
          <p:cNvSpPr txBox="1"/>
          <p:nvPr/>
        </p:nvSpPr>
        <p:spPr>
          <a:xfrm>
            <a:off x="7178040" y="1691640"/>
            <a:ext cx="44622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Modèle 37,5 %, liste fixe 39,6 %, hasard 17,2 %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Écart avec la liste fixe : -2,1 points (IC -10 à 7) : non significatif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Forêt et boosting optimisés, évalués après coup : pas mieux de façon discernable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Ridge classe toujours les cultures dans le même ordre : il ne s'adapte pas aux conditions</a:t>
            </a:r>
            <a:endParaRPr lang="en-US" sz="1450" dirty="0"/>
          </a:p>
        </p:txBody>
      </p:sp>
      <p:sp>
        <p:nvSpPr>
          <p:cNvPr id="6" name="lecture-reco-fond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lecture-reco-texte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Règle de décision fixée avant les résultats : « utile pour recommander » seulement si le modèle bat la liste fixe. Ce n'est pas le cas : on le dit, plutôt que d'annoncer « 2 fois mieux que le hasard 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Ce que l'on peut promettre aux agriculteurs, et ce qu'il faut pour aller plus loin</a:t>
            </a:r>
            <a:endParaRPr lang="en-US" sz="27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Résultats traduits pour un décideur non technique</a:t>
            </a:r>
            <a:endParaRPr lang="en-US" sz="1600" dirty="0"/>
          </a:p>
        </p:txBody>
      </p:sp>
      <p:sp>
        <p:nvSpPr>
          <p:cNvPr id="4" name="metier-carte-0"/>
          <p:cNvSpPr/>
          <p:nvPr/>
        </p:nvSpPr>
        <p:spPr>
          <a:xfrm>
            <a:off x="548640" y="1691640"/>
            <a:ext cx="5432908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etier-titre-0"/>
          <p:cNvSpPr txBox="1"/>
          <p:nvPr/>
        </p:nvSpPr>
        <p:spPr>
          <a:xfrm>
            <a:off x="749808" y="183794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Aujourd'hui</a:t>
            </a:r>
            <a:endParaRPr lang="en-US" sz="1600" dirty="0"/>
          </a:p>
        </p:txBody>
      </p:sp>
      <p:sp>
        <p:nvSpPr>
          <p:cNvPr id="6" name="metier-texte-0"/>
          <p:cNvSpPr txBox="1"/>
          <p:nvPr/>
        </p:nvSpPr>
        <p:spPr>
          <a:xfrm>
            <a:off x="749808" y="2258568"/>
            <a:ext cx="503057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ordre de grandeur du rendement moyen national d'une culture, avec une erreur typique de 37 %. Un signal quand une culture n'est pratiquée nulle part dans des conditions proches.</a:t>
            </a:r>
            <a:endParaRPr lang="en-US" sz="1400" dirty="0"/>
          </a:p>
        </p:txBody>
      </p:sp>
      <p:sp>
        <p:nvSpPr>
          <p:cNvPr id="7" name="metier-carte-1"/>
          <p:cNvSpPr/>
          <p:nvPr/>
        </p:nvSpPr>
        <p:spPr>
          <a:xfrm>
            <a:off x="6210148" y="1691640"/>
            <a:ext cx="5432908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etier-titre-1"/>
          <p:cNvSpPr txBox="1"/>
          <p:nvPr/>
        </p:nvSpPr>
        <p:spPr>
          <a:xfrm>
            <a:off x="6411316" y="183794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 qu'on ne promet pas</a:t>
            </a:r>
            <a:endParaRPr lang="en-US" sz="1600" dirty="0"/>
          </a:p>
        </p:txBody>
      </p:sp>
      <p:sp>
        <p:nvSpPr>
          <p:cNvPr id="9" name="metier-texte-1"/>
          <p:cNvSpPr txBox="1"/>
          <p:nvPr/>
        </p:nvSpPr>
        <p:spPr>
          <a:xfrm>
            <a:off x="6411316" y="2258568"/>
            <a:ext cx="503057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rendement d'une parcelle. La culture « la plus rentable » (aucun prix). Un effet des pesticides ou de la pluie.</a:t>
            </a:r>
            <a:endParaRPr lang="en-US" sz="1400" dirty="0"/>
          </a:p>
        </p:txBody>
      </p:sp>
      <p:sp>
        <p:nvSpPr>
          <p:cNvPr id="10" name="metier-carte-2"/>
          <p:cNvSpPr/>
          <p:nvPr/>
        </p:nvSpPr>
        <p:spPr>
          <a:xfrm>
            <a:off x="548640" y="3794760"/>
            <a:ext cx="5432908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etier-titre-2"/>
          <p:cNvSpPr txBox="1"/>
          <p:nvPr/>
        </p:nvSpPr>
        <p:spPr>
          <a:xfrm>
            <a:off x="749808" y="394106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Pour une vraie recommandation</a:t>
            </a:r>
            <a:endParaRPr lang="en-US" sz="1600" dirty="0"/>
          </a:p>
        </p:txBody>
      </p:sp>
      <p:sp>
        <p:nvSpPr>
          <p:cNvPr id="12" name="metier-texte-2"/>
          <p:cNvSpPr txBox="1"/>
          <p:nvPr/>
        </p:nvSpPr>
        <p:spPr>
          <a:xfrm>
            <a:off x="749808" y="4361688"/>
            <a:ext cx="503057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Données à la parcelle : sol, irrigation, intrants par hectare, météo de la saison, rendement obtenu.</a:t>
            </a:r>
            <a:endParaRPr lang="en-US" sz="1400" dirty="0"/>
          </a:p>
        </p:txBody>
      </p:sp>
      <p:sp>
        <p:nvSpPr>
          <p:cNvPr id="13" name="metier-carte-3"/>
          <p:cNvSpPr/>
          <p:nvPr/>
        </p:nvSpPr>
        <p:spPr>
          <a:xfrm>
            <a:off x="6210148" y="3794760"/>
            <a:ext cx="5432908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etier-titre-3"/>
          <p:cNvSpPr txBox="1"/>
          <p:nvPr/>
        </p:nvSpPr>
        <p:spPr>
          <a:xfrm>
            <a:off x="6411316" y="3941064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Pour parler rentabilité</a:t>
            </a:r>
            <a:endParaRPr lang="en-US" sz="1600" dirty="0"/>
          </a:p>
        </p:txBody>
      </p:sp>
      <p:sp>
        <p:nvSpPr>
          <p:cNvPr id="15" name="metier-texte-3"/>
          <p:cNvSpPr txBox="1"/>
          <p:nvPr/>
        </p:nvSpPr>
        <p:spPr>
          <a:xfrm>
            <a:off x="6411316" y="4361688"/>
            <a:ext cx="503057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Prix producteurs (FAO) et coûts de production ; garder la règle « battre une liste fixe » avant toute mise en service.</a:t>
            </a:r>
            <a:endParaRPr lang="en-US" sz="1400" dirty="0"/>
          </a:p>
        </p:txBody>
      </p:sp>
      <p:sp>
        <p:nvSpPr>
          <p:cNvPr id="16" name="lecture-metier-fond"/>
          <p:cNvSpPr/>
          <p:nvPr/>
        </p:nvSpPr>
        <p:spPr>
          <a:xfrm>
            <a:off x="548640" y="566928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lecture-metier-texte"/>
          <p:cNvSpPr txBox="1"/>
          <p:nvPr/>
        </p:nvSpPr>
        <p:spPr>
          <a:xfrm>
            <a:off x="777240" y="566928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Potentiel : choisir à coup sûr la meilleure culture pratiquée rapporterait en moyenne 0,79 fois le rendement habituel de plus qu'une culture prise au hasard parmi celles du pays. Le modèle : 0,34 ; la liste fixe : 0,39.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 prototype complet et reproductible, une recommandation à reconstruire avec de meilleures données</a:t>
            </a:r>
            <a:endParaRPr lang="en-US" sz="3000" dirty="0"/>
          </a:p>
        </p:txBody>
      </p:sp>
      <p:sp>
        <p:nvSpPr>
          <p:cNvPr id="3" name="conclusion-carte-0"/>
          <p:cNvSpPr/>
          <p:nvPr/>
        </p:nvSpPr>
        <p:spPr>
          <a:xfrm>
            <a:off x="54864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C4F3D"/>
          </a:solidFill>
          <a:ln w="12700">
            <a:solidFill>
              <a:srgbClr val="2C4F3D"/>
            </a:solidFill>
            <a:prstDash val="solid"/>
          </a:ln>
        </p:spPr>
      </p:sp>
      <p:sp>
        <p:nvSpPr>
          <p:cNvPr id="4" name="conclusion-titre-0"/>
          <p:cNvSpPr txBox="1"/>
          <p:nvPr/>
        </p:nvSpPr>
        <p:spPr>
          <a:xfrm>
            <a:off x="82296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</a:t>
            </a:r>
            <a:endParaRPr lang="en-US" sz="2200" dirty="0"/>
          </a:p>
        </p:txBody>
      </p:sp>
      <p:sp>
        <p:nvSpPr>
          <p:cNvPr id="5" name="conclusion-texte-0"/>
          <p:cNvSpPr txBox="1"/>
          <p:nvPr/>
        </p:nvSpPr>
        <p:spPr>
          <a:xfrm>
            <a:off x="822960" y="25146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Prédire et recommander une culture à partir de données nationales, dont un jeu simulé.</a:t>
            </a:r>
            <a:endParaRPr lang="en-US" sz="1500" dirty="0"/>
          </a:p>
        </p:txBody>
      </p:sp>
      <p:sp>
        <p:nvSpPr>
          <p:cNvPr id="6" name="conclusion-carte-1"/>
          <p:cNvSpPr/>
          <p:nvPr/>
        </p:nvSpPr>
        <p:spPr>
          <a:xfrm>
            <a:off x="429768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C4F3D"/>
          </a:solidFill>
          <a:ln w="12700">
            <a:solidFill>
              <a:srgbClr val="2C4F3D"/>
            </a:solidFill>
            <a:prstDash val="solid"/>
          </a:ln>
        </p:spPr>
      </p:sp>
      <p:sp>
        <p:nvSpPr>
          <p:cNvPr id="7" name="conclusion-titre-1"/>
          <p:cNvSpPr txBox="1"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200" dirty="0"/>
          </a:p>
        </p:txBody>
      </p:sp>
      <p:sp>
        <p:nvSpPr>
          <p:cNvPr id="8" name="conclusion-texte-1"/>
          <p:cNvSpPr txBox="1"/>
          <p:nvPr/>
        </p:nvSpPr>
        <p:spPr>
          <a:xfrm>
            <a:off x="4572000" y="25146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Pipeline reproductible, 4 expériences MLflow, API conteneurisée, interface, CI/CD avec test du conteneur.</a:t>
            </a:r>
            <a:endParaRPr lang="en-US" sz="1500" dirty="0"/>
          </a:p>
        </p:txBody>
      </p:sp>
      <p:sp>
        <p:nvSpPr>
          <p:cNvPr id="9" name="conclusion-carte-2"/>
          <p:cNvSpPr/>
          <p:nvPr/>
        </p:nvSpPr>
        <p:spPr>
          <a:xfrm>
            <a:off x="804672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C4F3D"/>
          </a:solidFill>
          <a:ln w="12700">
            <a:solidFill>
              <a:srgbClr val="2C4F3D"/>
            </a:solidFill>
            <a:prstDash val="solid"/>
          </a:ln>
        </p:spPr>
      </p:sp>
      <p:sp>
        <p:nvSpPr>
          <p:cNvPr id="10" name="conclusion-titre-2"/>
          <p:cNvSpPr txBox="1"/>
          <p:nvPr/>
        </p:nvSpPr>
        <p:spPr>
          <a:xfrm>
            <a:off x="83210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2200" dirty="0"/>
          </a:p>
        </p:txBody>
      </p:sp>
      <p:sp>
        <p:nvSpPr>
          <p:cNvPr id="11" name="conclusion-texte-2"/>
          <p:cNvSpPr txBox="1"/>
          <p:nvPr/>
        </p:nvSpPr>
        <p:spPr>
          <a:xfrm>
            <a:off x="8321040" y="25146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Prédiction utile comme ordre de grandeur (37 % d'erreur typique) ; recommandation pas meilleure qu'une liste fixe : données à la parcelle et prix nécessaires.</a:t>
            </a:r>
            <a:endParaRPr lang="en-US" sz="1500" dirty="0"/>
          </a:p>
        </p:txBody>
      </p:sp>
      <p:sp>
        <p:nvSpPr>
          <p:cNvPr id="12" name="conclusion-suite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Suite : registre de modèles, suivi de dérive, intervalles de prédiction, hébergement de l'API (voir « aller plus loin »)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gritech Answers">
      <a:dk1>
        <a:srgbClr val="1B1B1A"/>
      </a:dk1>
      <a:lt1>
        <a:srgbClr val="FFFFFF"/>
      </a:lt1>
      <a:dk2>
        <a:srgbClr val="1F3B2D"/>
      </a:dk2>
      <a:lt2>
        <a:srgbClr val="F1F0EB"/>
      </a:lt2>
      <a:accent1>
        <a:srgbClr val="2A78D6"/>
      </a:accent1>
      <a:accent2>
        <a:srgbClr val="EB6834"/>
      </a:accent2>
      <a:accent3>
        <a:srgbClr val="1BAF7A"/>
      </a:accent3>
      <a:accent4>
        <a:srgbClr val="52514E"/>
      </a:accent4>
      <a:accent5>
        <a:srgbClr val="86B6EF"/>
      </a:accent5>
      <a:accent6>
        <a:srgbClr val="E3EFE6"/>
      </a:accent6>
      <a:hlink>
        <a:srgbClr val="2A78D6"/>
      </a:hlink>
      <a:folHlink>
        <a:srgbClr val="6250D6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Prédire le rendement, recommander une culture : ce que les données permettent</dc:title>
  <dc:subject>Corrigé P12 Data Scientist ML OpenClassrooms — Agritech Answers</dc:subject>
  <dc:creator>PptxGenJS</dc:creator>
  <cp:lastModifiedBy>PptxGenJS</cp:lastModifiedBy>
  <cp:revision>1</cp:revision>
  <dcterms:created xsi:type="dcterms:W3CDTF">2026-10-25T02:43:39Z</dcterms:created>
  <dcterms:modified xsi:type="dcterms:W3CDTF">2026-10-25T02:43:39Z</dcterms:modified>
</cp:coreProperties>
</file>
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eb982f-00e4-ab9d-5c6f-e934480c591d}">
          <p14:sldIdLst>
            <p14:sldId id="256"/>
            <p14:sldId id="257"/>
          </p14:sldIdLst>
        </p14:section>
        <p14:section name="Solution" id="{65b50d8d-ce7b-9759-039f-d3d6511c1a73}">
          <p14:sldIdLst>
            <p14:sldId id="258"/>
          </p14:sldIdLst>
        </p14:section>
        <p14:section name="Résultats" id="{e808070f-8d00-abdd-1d80-b27a97d982bb}">
          <p14:sldIdLst>
            <p14:sldId id="259"/>
            <p14:sldId id="260"/>
            <p14:sldId id="261"/>
          </p14:sldIdLst>
        </p14:section>
        <p14:section name="Passage à l'échelle" id="{0fcab058-f2c7-b664-4347-36872c2dacb4}">
          <p14:sldIdLst>
            <p14:sldId id="262"/>
            <p14:sldId id="263"/>
          </p14:sldIdLst>
        </p14:section>
        <p14:section name="Conclusion" id="{338f77f6-6440-6c5f-73c9-9eaf2ba94a72}">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Accroche : peut-on reconnaître automatiquement les vêtements sur des photos d'influenceurs avec un modèle déjà entraîné, sans serveur à gérer ? Réponse en trois mots dans le titre ; la suite les justifie. Plan : la mission, comment ça marche, les résultats, comment on valide, le coût, la conformité, la recommandation.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questions, deux réponses à la fin. On ne développe pas de modèle : on teste un modèle existant, affiné sur un jeu public de photos de mode annotées (18 classes : vêtements, parties du corps, fond).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modèle redimensionne toute image en 512 × 512 : envoyer plus grand alourdit la requête sans rien apporter. L'adresse de l'API a changé en 2025 (router.huggingface.co). Les protections du client n'ont pas eu à servir sur 150 appels ; à 500 000 images, une panne passagère est certaine.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Métrique principale fixée avant les résultats : moyenne des IoU des 9 familles de vêtements présentes dans au moins 5 images, gauche et droite fusionnées. L'intervalle vient d'un bootstrap sur les images. Le mIoU 18 classes est plus bas (0,65) car le modèle distingue mal la gauche de la droite, sans importance pour une marque.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cas ambigu (image 31) : une tunique sur un collant, annotée robe, prédite haut. Toutes les figures publiées floutent les visages, à partir de l'annotation : ce sont des photos de vraies personnes.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Ici rien n'est entraîné : les 50 images ne servent que de test. Le découpage train/val/test devient nécessaire si ModeTrends affine le modèle sur ses propres photos. La vérification de la fuite compare des empreintes de masques (script dans la fiche pédagogique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Hugging Face ne publie pas de prix par seconde pour hf-inference : on a extrapolé la facture réelle (301 requêtes, affichage &lt; 0,01 $), d'où un majorant. Débit de la machine CPU : mesure locale (0,9 s par image sur 2 cœurs) doublée par prudence. Au-delà d'environ 1,4 million d'images par mois, une machine CPU ne suffit plus.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Rubrique optionnelle du support. Points à retenir : données personnelles, minimisation, pas d'identification. À valider avec un juriste ; ce n'est pas un avis juridique.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mots à retenir : faisable, prometteur, peu coûteux. Le seul vrai risque est la qualité sur des photos réelles, et il se lève avec un petit jeu de test annoté.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_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789920" cy="1645920"/>
          </a:xfrm>
          <a:prstGeom prst="rect">
            <a:avLst/>
          </a:prstGeom>
          <a:noFill/>
          <a:ln/>
        </p:spPr>
        <p:txBody>
          <a:bodyPr wrap="square" rtlCol="0"/>
          <a:lstStyle>
            <a:lvl1pPr indent="0" marL="0">
              <a:buNone/>
              <a:defRPr lang="en-US" sz="4000" b="1" dirty="0">
                <a:solidFill>
                  <a:schemeClr val="bg1"/>
                </a:solidFill>
              </a:defRPr>
            </a:lvl1pPr>
          </a:lstStyle>
          <a:p>
            <a:pPr indent="0" marL="0">
              <a:buNone/>
            </a:pPr>
            <a:endParaRPr lang="en-US" sz="4000" dirty="0"/>
          </a:p>
        </p:txBody>
      </p:sp>
      <p:sp>
        <p:nvSpPr>
          <p:cNvPr id="3" name="Text 0"/>
          <p:cNvSpPr/>
          <p:nvPr>
            <p:ph idx="101" type="body" hasCustomPrompt="1"/>
          </p:nvPr>
        </p:nvSpPr>
        <p:spPr>
          <a:xfrm>
            <a:off x="548640" y="3611880"/>
            <a:ext cx="10515600" cy="1097280"/>
          </a:xfrm>
          <a:prstGeom prst="rect">
            <a:avLst/>
          </a:prstGeom>
          <a:noFill/>
          <a:ln/>
        </p:spPr>
        <p:txBody>
          <a:bodyPr wrap="square" rtlCol="0"/>
          <a:lstStyle>
            <a:lvl1pPr indent="0" marL="0">
              <a:buNone/>
              <a:defRPr lang="en-US" sz="2000" dirty="0">
                <a:solidFill>
                  <a:schemeClr val="accent6"/>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ModeTrends · Fashion Trend Intelligence · segmentation</a:t>
            </a:r>
            <a:endParaRPr lang="en-US" sz="1000" dirty="0"/>
          </a:p>
        </p:txBody>
      </p:sp>
      <p:sp>
        <p:nvSpPr>
          <p:cNvPr id="3" name="Text 1"/>
          <p:cNvSpPr/>
          <p:nvPr>
            <p:ph idx="101" type="title" hasCustomPrompt="1"/>
          </p:nvPr>
        </p:nvSpPr>
        <p:spPr>
          <a:xfrm>
            <a:off x="548640" y="320040"/>
            <a:ext cx="11094415" cy="731520"/>
          </a:xfrm>
          <a:prstGeom prst="rect">
            <a:avLst/>
          </a:prstGeom>
          <a:noFill/>
          <a:ln/>
        </p:spPr>
        <p:txBody>
          <a:bodyPr wrap="square" rtlCol="0"/>
          <a:lstStyle>
            <a:lvl1pPr indent="0" marL="0">
              <a:buNone/>
              <a:defRPr lang="en-US" sz="2800" b="1" dirty="0">
                <a:solidFill>
                  <a:schemeClr val="tx2"/>
                </a:solidFill>
              </a:defRPr>
            </a:lvl1pPr>
          </a:lstStyle>
          <a:p>
            <a:pPr indent="0" marL="0">
              <a:buNone/>
            </a:pPr>
            <a:endParaRPr lang="en-US" sz="2800" dirty="0"/>
          </a:p>
        </p:txBody>
      </p:sp>
      <p:sp>
        <p:nvSpPr>
          <p:cNvPr id="4" name="Text 1"/>
          <p:cNvSpPr/>
          <p:nvPr>
            <p:ph idx="102" type="body" hasCustomPrompt="1"/>
          </p:nvPr>
        </p:nvSpPr>
        <p:spPr>
          <a:xfrm>
            <a:off x="548640" y="1051560"/>
            <a:ext cx="11094415" cy="457200"/>
          </a:xfrm>
          <a:prstGeom prst="rect">
            <a:avLst/>
          </a:prstGeom>
          <a:noFill/>
          <a:ln/>
        </p:spPr>
        <p:txBody>
          <a:bodyPr wrap="square" rtlCol="0"/>
          <a:lstStyle>
            <a:lvl1pPr indent="0" marL="0">
              <a:buNone/>
              <a:defRPr lang="en-US" sz="1600" dirty="0">
                <a:solidFill>
                  <a:schemeClr val="accent4"/>
                </a:solidFill>
              </a:defRPr>
            </a:lvl1pPr>
          </a:lstStyle>
          <a:p>
            <a:pPr indent="0" marL="0">
              <a:buNone/>
            </a:pP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LUSION_SOMBR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rtlCol="0"/>
          <a:lstStyle>
            <a:lvl1pPr indent="0" marL="0">
              <a:buNone/>
              <a:defRPr lang="en-US" sz="3200" b="1" dirty="0">
                <a:solidFill>
                  <a:schemeClr val="bg1"/>
                </a:solidFill>
              </a:defRPr>
            </a:lvl1pPr>
          </a:lstStyle>
          <a:p>
            <a:pPr indent="0" marL="0">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10789920" cy="1645920"/>
          </a:xfrm>
          <a:prstGeom prst="rect">
            <a:avLst/>
          </a:prstGeom>
          <a:noFill/>
          <a:ln/>
        </p:spPr>
        <p:txBody>
          <a:bodyPr wrap="square" rtlCol="0" anchor="b"/>
          <a:lstStyle/>
          <a:p>
            <a:pPr indent="0" marL="0">
              <a:buNone/>
            </a:pPr>
            <a:r>
              <a:rPr lang="en-US" sz="4000" b="1" dirty="0">
                <a:solidFill>
                  <a:schemeClr val="bg1"/>
                </a:solidFill>
              </a:rPr>
              <a:t>Segmenter les vêtements par API : faisable, prometteur, peu coûteux</a:t>
            </a:r>
            <a:endParaRPr lang="en-US" sz="4000" dirty="0"/>
          </a:p>
        </p:txBody>
      </p:sp>
      <p:sp>
        <p:nvSpPr>
          <p:cNvPr id="3" name="Text 0"/>
          <p:cNvSpPr/>
          <p:nvPr>
            <p:ph idx="101" type="body" hasCustomPrompt="1"/>
          </p:nvPr>
        </p:nvSpPr>
        <p:spPr>
          <a:xfrm>
            <a:off x="548640" y="3611880"/>
            <a:ext cx="10515600" cy="1097280"/>
          </a:xfrm>
          <a:prstGeom prst="rect">
            <a:avLst/>
          </a:prstGeom>
          <a:noFill/>
          <a:ln/>
        </p:spPr>
        <p:txBody>
          <a:bodyPr wrap="square" rtlCol="0" anchor="t"/>
          <a:lstStyle/>
          <a:p>
            <a:pPr indent="0" marL="0">
              <a:buNone/>
            </a:pPr>
            <a:r>
              <a:rPr lang="en-US" sz="2000" dirty="0">
                <a:solidFill>
                  <a:schemeClr val="accent6"/>
                </a:solidFill>
              </a:rPr>
              <a:t>Premier test du modèle SegFormer « clothes » de Hugging Face sur 50 photos annotées, et chiffrage pour 500 000 images par mois</a:t>
            </a:r>
            <a:endParaRPr lang="en-US" sz="2000" dirty="0"/>
          </a:p>
        </p:txBody>
      </p:sp>
      <p:sp>
        <p:nvSpPr>
          <p:cNvPr id="4" name="mention-corrige"/>
          <p:cNvSpPr txBox="1"/>
          <p:nvPr/>
        </p:nvSpPr>
        <p:spPr>
          <a:xfrm>
            <a:off x="548640" y="6035040"/>
            <a:ext cx="10515600" cy="365760"/>
          </a:xfrm>
          <a:prstGeom prst="rect">
            <a:avLst/>
          </a:prstGeom>
          <a:noFill/>
          <a:ln/>
        </p:spPr>
        <p:txBody>
          <a:bodyPr wrap="square" lIns="0" tIns="0" rIns="0" bIns="0" rtlCol="0" anchor="t"/>
          <a:lstStyle/>
          <a:p>
            <a:pPr indent="0" marL="0">
              <a:buNone/>
            </a:pPr>
            <a:r>
              <a:rPr lang="en-US" sz="1200" dirty="0">
                <a:solidFill>
                  <a:schemeClr val="accent6"/>
                </a:solidFill>
              </a:rPr>
              <a:t>Corrigé de référence — projet OpenClassrooms « Requêtez des services IA » (parcours AI Engineer)</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Notre part du projet : la première brique, la segmentation</a:t>
            </a:r>
            <a:endParaRPr lang="en-US" sz="28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Fashion Trend Intelligence analyse les tenues publiées sur les réseaux sociaux, en trois étapes</a:t>
            </a:r>
            <a:endParaRPr lang="en-US" sz="1600" dirty="0"/>
          </a:p>
        </p:txBody>
      </p:sp>
      <p:sp>
        <p:nvSpPr>
          <p:cNvPr id="4" name="etape-carte-0"/>
          <p:cNvSpPr/>
          <p:nvPr/>
        </p:nvSpPr>
        <p:spPr>
          <a:xfrm>
            <a:off x="548640" y="1783080"/>
            <a:ext cx="3520440" cy="1737360"/>
          </a:xfrm>
          <a:prstGeom prst="roundRect">
            <a:avLst>
              <a:gd name="adj" fmla="val 6316"/>
            </a:avLst>
          </a:prstGeom>
          <a:solidFill>
            <a:schemeClr val="accent6"/>
          </a:solidFill>
          <a:ln w="12700">
            <a:solidFill>
              <a:schemeClr val="accent6"/>
            </a:solidFill>
            <a:prstDash val="solid"/>
          </a:ln>
        </p:spPr>
      </p:sp>
      <p:sp>
        <p:nvSpPr>
          <p:cNvPr id="5" name="etape-titre-0"/>
          <p:cNvSpPr txBox="1"/>
          <p:nvPr/>
        </p:nvSpPr>
        <p:spPr>
          <a:xfrm>
            <a:off x="822960" y="1965960"/>
            <a:ext cx="3017520" cy="457200"/>
          </a:xfrm>
          <a:prstGeom prst="rect">
            <a:avLst/>
          </a:prstGeom>
          <a:noFill/>
          <a:ln/>
        </p:spPr>
        <p:txBody>
          <a:bodyPr wrap="square" lIns="0" tIns="0" rIns="0" bIns="0" rtlCol="0" anchor="t"/>
          <a:lstStyle/>
          <a:p>
            <a:pPr indent="0" marL="0">
              <a:buNone/>
            </a:pPr>
            <a:r>
              <a:rPr lang="en-US" sz="2000" b="1" dirty="0">
                <a:solidFill>
                  <a:schemeClr val="accent1"/>
                </a:solidFill>
                <a:latin typeface="Cambria" pitchFamily="34" charset="0"/>
                <a:ea typeface="Cambria" pitchFamily="34" charset="-122"/>
                <a:cs typeface="Cambria" pitchFamily="34" charset="-120"/>
              </a:rPr>
              <a:t>1. Segmentation</a:t>
            </a:r>
            <a:endParaRPr lang="en-US" sz="2000" dirty="0"/>
          </a:p>
        </p:txBody>
      </p:sp>
      <p:sp>
        <p:nvSpPr>
          <p:cNvPr id="6" name="etape-texte-0"/>
          <p:cNvSpPr txBox="1"/>
          <p:nvPr/>
        </p:nvSpPr>
        <p:spPr>
          <a:xfrm>
            <a:off x="822960" y="2514600"/>
            <a:ext cx="3017520" cy="822960"/>
          </a:xfrm>
          <a:prstGeom prst="rect">
            <a:avLst/>
          </a:prstGeom>
          <a:noFill/>
          <a:ln/>
        </p:spPr>
        <p:txBody>
          <a:bodyPr wrap="square" lIns="0" tIns="0" rIns="0" bIns="0" rtlCol="0" anchor="t"/>
          <a:lstStyle/>
          <a:p>
            <a:pPr indent="0" marL="0">
              <a:buNone/>
            </a:pPr>
            <a:r>
              <a:rPr lang="en-US" sz="1500" dirty="0">
                <a:solidFill>
                  <a:schemeClr val="tx1"/>
                </a:solidFill>
              </a:rPr>
              <a:t>Isoler chaque vêtement sur la photo, pixel par pixel</a:t>
            </a:r>
            <a:endParaRPr lang="en-US" sz="1500" dirty="0"/>
          </a:p>
        </p:txBody>
      </p:sp>
      <p:sp>
        <p:nvSpPr>
          <p:cNvPr id="7" name="etape-carte-1"/>
          <p:cNvSpPr/>
          <p:nvPr/>
        </p:nvSpPr>
        <p:spPr>
          <a:xfrm>
            <a:off x="4297680" y="1783080"/>
            <a:ext cx="3520440" cy="1737360"/>
          </a:xfrm>
          <a:prstGeom prst="roundRect">
            <a:avLst>
              <a:gd name="adj" fmla="val 6316"/>
            </a:avLst>
          </a:prstGeom>
          <a:solidFill>
            <a:schemeClr val="bg2"/>
          </a:solidFill>
          <a:ln w="12700">
            <a:solidFill>
              <a:schemeClr val="bg2"/>
            </a:solidFill>
            <a:prstDash val="solid"/>
          </a:ln>
        </p:spPr>
      </p:sp>
      <p:sp>
        <p:nvSpPr>
          <p:cNvPr id="8" name="etape-titre-1"/>
          <p:cNvSpPr txBox="1"/>
          <p:nvPr/>
        </p:nvSpPr>
        <p:spPr>
          <a:xfrm>
            <a:off x="4572000" y="1965960"/>
            <a:ext cx="3017520" cy="45720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2. Analyse stylistique</a:t>
            </a:r>
            <a:endParaRPr lang="en-US" sz="2000" dirty="0"/>
          </a:p>
        </p:txBody>
      </p:sp>
      <p:sp>
        <p:nvSpPr>
          <p:cNvPr id="9" name="etape-texte-1"/>
          <p:cNvSpPr txBox="1"/>
          <p:nvPr/>
        </p:nvSpPr>
        <p:spPr>
          <a:xfrm>
            <a:off x="4572000" y="2514600"/>
            <a:ext cx="3017520" cy="822960"/>
          </a:xfrm>
          <a:prstGeom prst="rect">
            <a:avLst/>
          </a:prstGeom>
          <a:noFill/>
          <a:ln/>
        </p:spPr>
        <p:txBody>
          <a:bodyPr wrap="square" lIns="0" tIns="0" rIns="0" bIns="0" rtlCol="0" anchor="t"/>
          <a:lstStyle/>
          <a:p>
            <a:pPr indent="0" marL="0">
              <a:buNone/>
            </a:pPr>
            <a:r>
              <a:rPr lang="en-US" sz="1500" dirty="0">
                <a:solidFill>
                  <a:schemeClr val="tx1"/>
                </a:solidFill>
              </a:rPr>
              <a:t>Nature, couleur, texture et style de chaque pièce</a:t>
            </a:r>
            <a:endParaRPr lang="en-US" sz="1500" dirty="0"/>
          </a:p>
        </p:txBody>
      </p:sp>
      <p:sp>
        <p:nvSpPr>
          <p:cNvPr id="10" name="etape-carte-2"/>
          <p:cNvSpPr/>
          <p:nvPr/>
        </p:nvSpPr>
        <p:spPr>
          <a:xfrm>
            <a:off x="8046720" y="1783080"/>
            <a:ext cx="3520440" cy="1737360"/>
          </a:xfrm>
          <a:prstGeom prst="roundRect">
            <a:avLst>
              <a:gd name="adj" fmla="val 6316"/>
            </a:avLst>
          </a:prstGeom>
          <a:solidFill>
            <a:schemeClr val="bg2"/>
          </a:solidFill>
          <a:ln w="12700">
            <a:solidFill>
              <a:schemeClr val="bg2"/>
            </a:solidFill>
            <a:prstDash val="solid"/>
          </a:ln>
        </p:spPr>
      </p:sp>
      <p:sp>
        <p:nvSpPr>
          <p:cNvPr id="11" name="etape-titre-2"/>
          <p:cNvSpPr txBox="1"/>
          <p:nvPr/>
        </p:nvSpPr>
        <p:spPr>
          <a:xfrm>
            <a:off x="8321040" y="1965960"/>
            <a:ext cx="3017520" cy="457200"/>
          </a:xfrm>
          <a:prstGeom prst="rect">
            <a:avLst/>
          </a:prstGeom>
          <a:noFill/>
          <a:ln/>
        </p:spPr>
        <p:txBody>
          <a:bodyPr wrap="square" lIns="0" tIns="0" rIns="0" bIns="0" rtlCol="0" anchor="t"/>
          <a:lstStyle/>
          <a:p>
            <a:pPr indent="0" marL="0">
              <a:buNone/>
            </a:pPr>
            <a:r>
              <a:rPr lang="en-US" sz="2000" b="1" dirty="0">
                <a:solidFill>
                  <a:schemeClr val="accent4"/>
                </a:solidFill>
                <a:latin typeface="Cambria" pitchFamily="34" charset="0"/>
                <a:ea typeface="Cambria" pitchFamily="34" charset="-122"/>
                <a:cs typeface="Cambria" pitchFamily="34" charset="-120"/>
              </a:rPr>
              <a:t>3. Tendances</a:t>
            </a:r>
            <a:endParaRPr lang="en-US" sz="2000" dirty="0"/>
          </a:p>
        </p:txBody>
      </p:sp>
      <p:sp>
        <p:nvSpPr>
          <p:cNvPr id="12" name="etape-texte-2"/>
          <p:cNvSpPr txBox="1"/>
          <p:nvPr/>
        </p:nvSpPr>
        <p:spPr>
          <a:xfrm>
            <a:off x="8321040" y="2514600"/>
            <a:ext cx="3017520" cy="822960"/>
          </a:xfrm>
          <a:prstGeom prst="rect">
            <a:avLst/>
          </a:prstGeom>
          <a:noFill/>
          <a:ln/>
        </p:spPr>
        <p:txBody>
          <a:bodyPr wrap="square" lIns="0" tIns="0" rIns="0" bIns="0" rtlCol="0" anchor="t"/>
          <a:lstStyle/>
          <a:p>
            <a:pPr indent="0" marL="0">
              <a:buNone/>
            </a:pPr>
            <a:r>
              <a:rPr lang="en-US" sz="1500" dirty="0">
                <a:solidFill>
                  <a:schemeClr val="tx1"/>
                </a:solidFill>
              </a:rPr>
              <a:t>Agréger des milliers de publications pour repérer ce qui émerge</a:t>
            </a:r>
            <a:endParaRPr lang="en-US" sz="1500" dirty="0"/>
          </a:p>
        </p:txBody>
      </p:sp>
      <p:sp>
        <p:nvSpPr>
          <p:cNvPr id="13" name="etape-nous"/>
          <p:cNvSpPr txBox="1"/>
          <p:nvPr/>
        </p:nvSpPr>
        <p:spPr>
          <a:xfrm>
            <a:off x="822960" y="3566160"/>
            <a:ext cx="3017520" cy="320040"/>
          </a:xfrm>
          <a:prstGeom prst="rect">
            <a:avLst/>
          </a:prstGeom>
          <a:noFill/>
          <a:ln/>
        </p:spPr>
        <p:txBody>
          <a:bodyPr wrap="square" lIns="0" tIns="0" rIns="0" bIns="0" rtlCol="0" anchor="t"/>
          <a:lstStyle/>
          <a:p>
            <a:pPr indent="0" marL="0">
              <a:buNone/>
            </a:pPr>
            <a:r>
              <a:rPr lang="en-US" sz="1300" b="1" dirty="0">
                <a:solidFill>
                  <a:schemeClr val="accent1"/>
                </a:solidFill>
              </a:rPr>
              <a:t>◀ notre mission</a:t>
            </a:r>
            <a:endParaRPr lang="en-US" sz="1300" dirty="0"/>
          </a:p>
        </p:txBody>
      </p:sp>
      <p:sp>
        <p:nvSpPr>
          <p:cNvPr id="14" name="question-carte-0"/>
          <p:cNvSpPr/>
          <p:nvPr/>
        </p:nvSpPr>
        <p:spPr>
          <a:xfrm>
            <a:off x="548640" y="4114800"/>
            <a:ext cx="5432908" cy="1600200"/>
          </a:xfrm>
          <a:prstGeom prst="roundRect">
            <a:avLst>
              <a:gd name="adj" fmla="val 6857"/>
            </a:avLst>
          </a:prstGeom>
          <a:solidFill>
            <a:schemeClr val="bg2"/>
          </a:solidFill>
          <a:ln w="12700">
            <a:solidFill>
              <a:schemeClr val="bg2"/>
            </a:solidFill>
            <a:prstDash val="solid"/>
          </a:ln>
        </p:spPr>
      </p:sp>
      <p:sp>
        <p:nvSpPr>
          <p:cNvPr id="15" name="question-titre-0"/>
          <p:cNvSpPr txBox="1"/>
          <p:nvPr/>
        </p:nvSpPr>
        <p:spPr>
          <a:xfrm>
            <a:off x="777240" y="4279392"/>
            <a:ext cx="4975708" cy="411480"/>
          </a:xfrm>
          <a:prstGeom prst="rect">
            <a:avLst/>
          </a:prstGeom>
          <a:noFill/>
          <a:ln/>
        </p:spPr>
        <p:txBody>
          <a:bodyPr wrap="square" lIns="0" tIns="0" rIns="0" bIns="0" rtlCol="0" anchor="t"/>
          <a:lstStyle/>
          <a:p>
            <a:pPr indent="0" marL="0">
              <a:buNone/>
            </a:pPr>
            <a:r>
              <a:rPr lang="en-US" sz="1700" b="1" dirty="0">
                <a:solidFill>
                  <a:schemeClr val="tx2"/>
                </a:solidFill>
              </a:rPr>
              <a:t>Question 1 : la qualité</a:t>
            </a:r>
            <a:endParaRPr lang="en-US" sz="1700" dirty="0"/>
          </a:p>
        </p:txBody>
      </p:sp>
      <p:sp>
        <p:nvSpPr>
          <p:cNvPr id="16" name="question-texte-0"/>
          <p:cNvSpPr txBox="1"/>
          <p:nvPr/>
        </p:nvSpPr>
        <p:spPr>
          <a:xfrm>
            <a:off x="777240" y="4736592"/>
            <a:ext cx="4975708" cy="868680"/>
          </a:xfrm>
          <a:prstGeom prst="rect">
            <a:avLst/>
          </a:prstGeom>
          <a:noFill/>
          <a:ln/>
        </p:spPr>
        <p:txBody>
          <a:bodyPr wrap="square" lIns="0" tIns="0" rIns="0" bIns="0" rtlCol="0" anchor="t"/>
          <a:lstStyle/>
          <a:p>
            <a:pPr indent="0" marL="0">
              <a:buNone/>
            </a:pPr>
            <a:r>
              <a:rPr lang="en-US" sz="1400" dirty="0">
                <a:solidFill>
                  <a:schemeClr val="tx1"/>
                </a:solidFill>
              </a:rPr>
              <a:t>Le modèle sayeed99/segformer_b3_clothes, appelé par l'API serverless de Hugging Face, segmente-t-il correctement les vêtements des 50 photos annotées ?</a:t>
            </a:r>
            <a:endParaRPr lang="en-US" sz="1400" dirty="0"/>
          </a:p>
        </p:txBody>
      </p:sp>
      <p:sp>
        <p:nvSpPr>
          <p:cNvPr id="17" name="question-carte-1"/>
          <p:cNvSpPr/>
          <p:nvPr/>
        </p:nvSpPr>
        <p:spPr>
          <a:xfrm>
            <a:off x="6210148" y="4114800"/>
            <a:ext cx="5432908" cy="1600200"/>
          </a:xfrm>
          <a:prstGeom prst="roundRect">
            <a:avLst>
              <a:gd name="adj" fmla="val 6857"/>
            </a:avLst>
          </a:prstGeom>
          <a:solidFill>
            <a:schemeClr val="bg2"/>
          </a:solidFill>
          <a:ln w="12700">
            <a:solidFill>
              <a:schemeClr val="bg2"/>
            </a:solidFill>
            <a:prstDash val="solid"/>
          </a:ln>
        </p:spPr>
      </p:sp>
      <p:sp>
        <p:nvSpPr>
          <p:cNvPr id="18" name="question-titre-1"/>
          <p:cNvSpPr txBox="1"/>
          <p:nvPr/>
        </p:nvSpPr>
        <p:spPr>
          <a:xfrm>
            <a:off x="6438748" y="4279392"/>
            <a:ext cx="4975708" cy="411480"/>
          </a:xfrm>
          <a:prstGeom prst="rect">
            <a:avLst/>
          </a:prstGeom>
          <a:noFill/>
          <a:ln/>
        </p:spPr>
        <p:txBody>
          <a:bodyPr wrap="square" lIns="0" tIns="0" rIns="0" bIns="0" rtlCol="0" anchor="t"/>
          <a:lstStyle/>
          <a:p>
            <a:pPr indent="0" marL="0">
              <a:buNone/>
            </a:pPr>
            <a:r>
              <a:rPr lang="en-US" sz="1700" b="1" dirty="0">
                <a:solidFill>
                  <a:schemeClr val="tx2"/>
                </a:solidFill>
              </a:rPr>
              <a:t>Question 2 : le coût</a:t>
            </a:r>
            <a:endParaRPr lang="en-US" sz="1700" dirty="0"/>
          </a:p>
        </p:txBody>
      </p:sp>
      <p:sp>
        <p:nvSpPr>
          <p:cNvPr id="19" name="question-texte-1"/>
          <p:cNvSpPr txBox="1"/>
          <p:nvPr/>
        </p:nvSpPr>
        <p:spPr>
          <a:xfrm>
            <a:off x="6438748" y="4736592"/>
            <a:ext cx="4975708" cy="868680"/>
          </a:xfrm>
          <a:prstGeom prst="rect">
            <a:avLst/>
          </a:prstGeom>
          <a:noFill/>
          <a:ln/>
        </p:spPr>
        <p:txBody>
          <a:bodyPr wrap="square" lIns="0" tIns="0" rIns="0" bIns="0" rtlCol="0" anchor="t"/>
          <a:lstStyle/>
          <a:p>
            <a:pPr indent="0" marL="0">
              <a:buNone/>
            </a:pPr>
            <a:r>
              <a:rPr lang="en-US" sz="1400" dirty="0">
                <a:solidFill>
                  <a:schemeClr val="tx1"/>
                </a:solidFill>
              </a:rPr>
              <a:t>Combien coûterait le traitement de 500 000 images en 30 jours ?</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Une photo envoyée, 18 masques reçus, une carte des vêtements</a:t>
            </a:r>
            <a:endParaRPr lang="en-US" sz="28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SegFormer attribue une classe à chaque pixel ; l'API serverless l'exécute à notre place</a:t>
            </a:r>
            <a:endParaRPr lang="en-US" sz="1600" dirty="0"/>
          </a:p>
        </p:txBody>
      </p:sp>
      <p:sp>
        <p:nvSpPr>
          <p:cNvPr id="4" name="flux-carte-0"/>
          <p:cNvSpPr/>
          <p:nvPr/>
        </p:nvSpPr>
        <p:spPr>
          <a:xfrm>
            <a:off x="548640" y="1783080"/>
            <a:ext cx="2011680" cy="1417320"/>
          </a:xfrm>
          <a:prstGeom prst="roundRect">
            <a:avLst>
              <a:gd name="adj" fmla="val 7742"/>
            </a:avLst>
          </a:prstGeom>
          <a:solidFill>
            <a:schemeClr val="bg2"/>
          </a:solidFill>
          <a:ln w="12700">
            <a:solidFill>
              <a:schemeClr val="bg2"/>
            </a:solidFill>
            <a:prstDash val="solid"/>
          </a:ln>
        </p:spPr>
      </p:sp>
      <p:sp>
        <p:nvSpPr>
          <p:cNvPr id="5" name="flux-titre-0"/>
          <p:cNvSpPr txBox="1"/>
          <p:nvPr/>
        </p:nvSpPr>
        <p:spPr>
          <a:xfrm>
            <a:off x="685800" y="1901952"/>
            <a:ext cx="1737360" cy="365760"/>
          </a:xfrm>
          <a:prstGeom prst="rect">
            <a:avLst/>
          </a:prstGeom>
          <a:noFill/>
          <a:ln/>
        </p:spPr>
        <p:txBody>
          <a:bodyPr wrap="square" lIns="0" tIns="0" rIns="0" bIns="0" rtlCol="0" anchor="t"/>
          <a:lstStyle/>
          <a:p>
            <a:pPr algn="ctr" indent="0" marL="0">
              <a:buNone/>
            </a:pPr>
            <a:r>
              <a:rPr lang="en-US" sz="1500" b="1" dirty="0">
                <a:solidFill>
                  <a:schemeClr val="tx2"/>
                </a:solidFill>
              </a:rPr>
              <a:t>Photo</a:t>
            </a:r>
            <a:endParaRPr lang="en-US" sz="1500" dirty="0"/>
          </a:p>
        </p:txBody>
      </p:sp>
      <p:sp>
        <p:nvSpPr>
          <p:cNvPr id="6" name="flux-texte-0"/>
          <p:cNvSpPr txBox="1"/>
          <p:nvPr/>
        </p:nvSpPr>
        <p:spPr>
          <a:xfrm>
            <a:off x="685800" y="2331720"/>
            <a:ext cx="1737360" cy="777240"/>
          </a:xfrm>
          <a:prstGeom prst="rect">
            <a:avLst/>
          </a:prstGeom>
          <a:noFill/>
          <a:ln/>
        </p:spPr>
        <p:txBody>
          <a:bodyPr wrap="square" lIns="0" tIns="0" rIns="0" bIns="0" rtlCol="0" anchor="t"/>
          <a:lstStyle/>
          <a:p>
            <a:pPr algn="ctr" indent="0" marL="0">
              <a:buNone/>
            </a:pPr>
            <a:r>
              <a:rPr lang="en-US" sz="1200" dirty="0">
                <a:solidFill>
                  <a:schemeClr val="tx1"/>
                </a:solidFill>
              </a:rPr>
              <a:t>réduite à 512 px, JPEG : 53 Ko</a:t>
            </a:r>
            <a:endParaRPr lang="en-US" sz="1200" dirty="0"/>
          </a:p>
        </p:txBody>
      </p:sp>
      <p:sp>
        <p:nvSpPr>
          <p:cNvPr id="7" name="flux-fleche-0"/>
          <p:cNvSpPr/>
          <p:nvPr/>
        </p:nvSpPr>
        <p:spPr>
          <a:xfrm>
            <a:off x="2578608" y="2331720"/>
            <a:ext cx="201168" cy="274320"/>
          </a:xfrm>
          <a:prstGeom prst="rightArrow">
            <a:avLst/>
          </a:prstGeom>
          <a:solidFill>
            <a:srgbClr val="86B6EF"/>
          </a:solidFill>
          <a:ln w="12700">
            <a:solidFill>
              <a:srgbClr val="86B6EF"/>
            </a:solidFill>
            <a:prstDash val="solid"/>
          </a:ln>
        </p:spPr>
      </p:sp>
      <p:sp>
        <p:nvSpPr>
          <p:cNvPr id="8" name="flux-carte-1"/>
          <p:cNvSpPr/>
          <p:nvPr/>
        </p:nvSpPr>
        <p:spPr>
          <a:xfrm>
            <a:off x="2798064" y="1783080"/>
            <a:ext cx="2011680" cy="1417320"/>
          </a:xfrm>
          <a:prstGeom prst="roundRect">
            <a:avLst>
              <a:gd name="adj" fmla="val 7742"/>
            </a:avLst>
          </a:prstGeom>
          <a:solidFill>
            <a:schemeClr val="bg2"/>
          </a:solidFill>
          <a:ln w="12700">
            <a:solidFill>
              <a:schemeClr val="bg2"/>
            </a:solidFill>
            <a:prstDash val="solid"/>
          </a:ln>
        </p:spPr>
      </p:sp>
      <p:sp>
        <p:nvSpPr>
          <p:cNvPr id="9" name="flux-titre-1"/>
          <p:cNvSpPr txBox="1"/>
          <p:nvPr/>
        </p:nvSpPr>
        <p:spPr>
          <a:xfrm>
            <a:off x="2935224" y="1901952"/>
            <a:ext cx="1737360" cy="365760"/>
          </a:xfrm>
          <a:prstGeom prst="rect">
            <a:avLst/>
          </a:prstGeom>
          <a:noFill/>
          <a:ln/>
        </p:spPr>
        <p:txBody>
          <a:bodyPr wrap="square" lIns="0" tIns="0" rIns="0" bIns="0" rtlCol="0" anchor="t"/>
          <a:lstStyle/>
          <a:p>
            <a:pPr algn="ctr" indent="0" marL="0">
              <a:buNone/>
            </a:pPr>
            <a:r>
              <a:rPr lang="en-US" sz="1500" b="1" dirty="0">
                <a:solidFill>
                  <a:schemeClr val="tx2"/>
                </a:solidFill>
              </a:rPr>
              <a:t>Requête HTTPS</a:t>
            </a:r>
            <a:endParaRPr lang="en-US" sz="1500" dirty="0"/>
          </a:p>
        </p:txBody>
      </p:sp>
      <p:sp>
        <p:nvSpPr>
          <p:cNvPr id="10" name="flux-texte-1"/>
          <p:cNvSpPr txBox="1"/>
          <p:nvPr/>
        </p:nvSpPr>
        <p:spPr>
          <a:xfrm>
            <a:off x="2935224" y="2331720"/>
            <a:ext cx="1737360" cy="777240"/>
          </a:xfrm>
          <a:prstGeom prst="rect">
            <a:avLst/>
          </a:prstGeom>
          <a:noFill/>
          <a:ln/>
        </p:spPr>
        <p:txBody>
          <a:bodyPr wrap="square" lIns="0" tIns="0" rIns="0" bIns="0" rtlCol="0" anchor="t"/>
          <a:lstStyle/>
          <a:p>
            <a:pPr algn="ctr" indent="0" marL="0">
              <a:buNone/>
            </a:pPr>
            <a:r>
              <a:rPr lang="en-US" sz="1200" dirty="0">
                <a:solidFill>
                  <a:schemeClr val="tx1"/>
                </a:solidFill>
              </a:rPr>
              <a:t>POST + token secret (fichier .env)</a:t>
            </a:r>
            <a:endParaRPr lang="en-US" sz="1200" dirty="0"/>
          </a:p>
        </p:txBody>
      </p:sp>
      <p:sp>
        <p:nvSpPr>
          <p:cNvPr id="11" name="flux-fleche-1"/>
          <p:cNvSpPr/>
          <p:nvPr/>
        </p:nvSpPr>
        <p:spPr>
          <a:xfrm>
            <a:off x="4828032" y="2331720"/>
            <a:ext cx="201168" cy="274320"/>
          </a:xfrm>
          <a:prstGeom prst="rightArrow">
            <a:avLst/>
          </a:prstGeom>
          <a:solidFill>
            <a:srgbClr val="86B6EF"/>
          </a:solidFill>
          <a:ln w="12700">
            <a:solidFill>
              <a:srgbClr val="86B6EF"/>
            </a:solidFill>
            <a:prstDash val="solid"/>
          </a:ln>
        </p:spPr>
      </p:sp>
      <p:sp>
        <p:nvSpPr>
          <p:cNvPr id="12" name="flux-carte-2"/>
          <p:cNvSpPr/>
          <p:nvPr/>
        </p:nvSpPr>
        <p:spPr>
          <a:xfrm>
            <a:off x="5047488" y="1783080"/>
            <a:ext cx="2011680" cy="1417320"/>
          </a:xfrm>
          <a:prstGeom prst="roundRect">
            <a:avLst>
              <a:gd name="adj" fmla="val 7742"/>
            </a:avLst>
          </a:prstGeom>
          <a:solidFill>
            <a:schemeClr val="accent6"/>
          </a:solidFill>
          <a:ln w="12700">
            <a:solidFill>
              <a:schemeClr val="accent6"/>
            </a:solidFill>
            <a:prstDash val="solid"/>
          </a:ln>
        </p:spPr>
      </p:sp>
      <p:sp>
        <p:nvSpPr>
          <p:cNvPr id="13" name="flux-titre-2"/>
          <p:cNvSpPr txBox="1"/>
          <p:nvPr/>
        </p:nvSpPr>
        <p:spPr>
          <a:xfrm>
            <a:off x="5184648" y="1901952"/>
            <a:ext cx="1737360" cy="365760"/>
          </a:xfrm>
          <a:prstGeom prst="rect">
            <a:avLst/>
          </a:prstGeom>
          <a:noFill/>
          <a:ln/>
        </p:spPr>
        <p:txBody>
          <a:bodyPr wrap="square" lIns="0" tIns="0" rIns="0" bIns="0" rtlCol="0" anchor="t"/>
          <a:lstStyle/>
          <a:p>
            <a:pPr algn="ctr" indent="0" marL="0">
              <a:buNone/>
            </a:pPr>
            <a:r>
              <a:rPr lang="en-US" sz="1500" b="1" dirty="0">
                <a:solidFill>
                  <a:schemeClr val="tx2"/>
                </a:solidFill>
              </a:rPr>
              <a:t>SegFormer</a:t>
            </a:r>
            <a:endParaRPr lang="en-US" sz="1500" dirty="0"/>
          </a:p>
        </p:txBody>
      </p:sp>
      <p:sp>
        <p:nvSpPr>
          <p:cNvPr id="14" name="flux-texte-2"/>
          <p:cNvSpPr txBox="1"/>
          <p:nvPr/>
        </p:nvSpPr>
        <p:spPr>
          <a:xfrm>
            <a:off x="5184648" y="2331720"/>
            <a:ext cx="1737360" cy="777240"/>
          </a:xfrm>
          <a:prstGeom prst="rect">
            <a:avLst/>
          </a:prstGeom>
          <a:noFill/>
          <a:ln/>
        </p:spPr>
        <p:txBody>
          <a:bodyPr wrap="square" lIns="0" tIns="0" rIns="0" bIns="0" rtlCol="0" anchor="t"/>
          <a:lstStyle/>
          <a:p>
            <a:pPr algn="ctr" indent="0" marL="0">
              <a:buNone/>
            </a:pPr>
            <a:r>
              <a:rPr lang="en-US" sz="1200" dirty="0">
                <a:solidFill>
                  <a:schemeClr val="tx1"/>
                </a:solidFill>
              </a:rPr>
              <a:t>classe chaque pixel (18 classes)</a:t>
            </a:r>
            <a:endParaRPr lang="en-US" sz="1200" dirty="0"/>
          </a:p>
        </p:txBody>
      </p:sp>
      <p:sp>
        <p:nvSpPr>
          <p:cNvPr id="15" name="flux-fleche-2"/>
          <p:cNvSpPr/>
          <p:nvPr/>
        </p:nvSpPr>
        <p:spPr>
          <a:xfrm>
            <a:off x="7077456" y="2331720"/>
            <a:ext cx="201168" cy="274320"/>
          </a:xfrm>
          <a:prstGeom prst="rightArrow">
            <a:avLst/>
          </a:prstGeom>
          <a:solidFill>
            <a:srgbClr val="86B6EF"/>
          </a:solidFill>
          <a:ln w="12700">
            <a:solidFill>
              <a:srgbClr val="86B6EF"/>
            </a:solidFill>
            <a:prstDash val="solid"/>
          </a:ln>
        </p:spPr>
      </p:sp>
      <p:sp>
        <p:nvSpPr>
          <p:cNvPr id="16" name="flux-carte-3"/>
          <p:cNvSpPr/>
          <p:nvPr/>
        </p:nvSpPr>
        <p:spPr>
          <a:xfrm>
            <a:off x="7296912" y="1783080"/>
            <a:ext cx="2011680" cy="1417320"/>
          </a:xfrm>
          <a:prstGeom prst="roundRect">
            <a:avLst>
              <a:gd name="adj" fmla="val 7742"/>
            </a:avLst>
          </a:prstGeom>
          <a:solidFill>
            <a:schemeClr val="bg2"/>
          </a:solidFill>
          <a:ln w="12700">
            <a:solidFill>
              <a:schemeClr val="bg2"/>
            </a:solidFill>
            <a:prstDash val="solid"/>
          </a:ln>
        </p:spPr>
      </p:sp>
      <p:sp>
        <p:nvSpPr>
          <p:cNvPr id="17" name="flux-titre-3"/>
          <p:cNvSpPr txBox="1"/>
          <p:nvPr/>
        </p:nvSpPr>
        <p:spPr>
          <a:xfrm>
            <a:off x="7434072" y="1901952"/>
            <a:ext cx="1737360" cy="365760"/>
          </a:xfrm>
          <a:prstGeom prst="rect">
            <a:avLst/>
          </a:prstGeom>
          <a:noFill/>
          <a:ln/>
        </p:spPr>
        <p:txBody>
          <a:bodyPr wrap="square" lIns="0" tIns="0" rIns="0" bIns="0" rtlCol="0" anchor="t"/>
          <a:lstStyle/>
          <a:p>
            <a:pPr algn="ctr" indent="0" marL="0">
              <a:buNone/>
            </a:pPr>
            <a:r>
              <a:rPr lang="en-US" sz="1500" b="1" dirty="0">
                <a:solidFill>
                  <a:schemeClr val="tx2"/>
                </a:solidFill>
              </a:rPr>
              <a:t>Réponse JSON</a:t>
            </a:r>
            <a:endParaRPr lang="en-US" sz="1500" dirty="0"/>
          </a:p>
        </p:txBody>
      </p:sp>
      <p:sp>
        <p:nvSpPr>
          <p:cNvPr id="18" name="flux-texte-3"/>
          <p:cNvSpPr txBox="1"/>
          <p:nvPr/>
        </p:nvSpPr>
        <p:spPr>
          <a:xfrm>
            <a:off x="7434072" y="2331720"/>
            <a:ext cx="1737360" cy="777240"/>
          </a:xfrm>
          <a:prstGeom prst="rect">
            <a:avLst/>
          </a:prstGeom>
          <a:noFill/>
          <a:ln/>
        </p:spPr>
        <p:txBody>
          <a:bodyPr wrap="square" lIns="0" tIns="0" rIns="0" bIns="0" rtlCol="0" anchor="t"/>
          <a:lstStyle/>
          <a:p>
            <a:pPr algn="ctr" indent="0" marL="0">
              <a:buNone/>
            </a:pPr>
            <a:r>
              <a:rPr lang="en-US" sz="1200" dirty="0">
                <a:solidFill>
                  <a:schemeClr val="tx1"/>
                </a:solidFill>
              </a:rPr>
              <a:t>1 masque par classe détectée (base64)</a:t>
            </a:r>
            <a:endParaRPr lang="en-US" sz="1200" dirty="0"/>
          </a:p>
        </p:txBody>
      </p:sp>
      <p:sp>
        <p:nvSpPr>
          <p:cNvPr id="19" name="flux-fleche-3"/>
          <p:cNvSpPr/>
          <p:nvPr/>
        </p:nvSpPr>
        <p:spPr>
          <a:xfrm>
            <a:off x="9326880" y="2331720"/>
            <a:ext cx="201168" cy="274320"/>
          </a:xfrm>
          <a:prstGeom prst="rightArrow">
            <a:avLst/>
          </a:prstGeom>
          <a:solidFill>
            <a:srgbClr val="86B6EF"/>
          </a:solidFill>
          <a:ln w="12700">
            <a:solidFill>
              <a:srgbClr val="86B6EF"/>
            </a:solidFill>
            <a:prstDash val="solid"/>
          </a:ln>
        </p:spPr>
      </p:sp>
      <p:sp>
        <p:nvSpPr>
          <p:cNvPr id="20" name="flux-carte-4"/>
          <p:cNvSpPr/>
          <p:nvPr/>
        </p:nvSpPr>
        <p:spPr>
          <a:xfrm>
            <a:off x="9546336" y="1783080"/>
            <a:ext cx="2011680" cy="1417320"/>
          </a:xfrm>
          <a:prstGeom prst="roundRect">
            <a:avLst>
              <a:gd name="adj" fmla="val 7742"/>
            </a:avLst>
          </a:prstGeom>
          <a:solidFill>
            <a:schemeClr val="bg2"/>
          </a:solidFill>
          <a:ln w="12700">
            <a:solidFill>
              <a:schemeClr val="bg2"/>
            </a:solidFill>
            <a:prstDash val="solid"/>
          </a:ln>
        </p:spPr>
      </p:sp>
      <p:sp>
        <p:nvSpPr>
          <p:cNvPr id="21" name="flux-titre-4"/>
          <p:cNvSpPr txBox="1"/>
          <p:nvPr/>
        </p:nvSpPr>
        <p:spPr>
          <a:xfrm>
            <a:off x="9683496" y="1901952"/>
            <a:ext cx="1737360" cy="365760"/>
          </a:xfrm>
          <a:prstGeom prst="rect">
            <a:avLst/>
          </a:prstGeom>
          <a:noFill/>
          <a:ln/>
        </p:spPr>
        <p:txBody>
          <a:bodyPr wrap="square" lIns="0" tIns="0" rIns="0" bIns="0" rtlCol="0" anchor="t"/>
          <a:lstStyle/>
          <a:p>
            <a:pPr algn="ctr" indent="0" marL="0">
              <a:buNone/>
            </a:pPr>
            <a:r>
              <a:rPr lang="en-US" sz="1500" b="1" dirty="0">
                <a:solidFill>
                  <a:schemeClr val="tx2"/>
                </a:solidFill>
              </a:rPr>
              <a:t>Carte</a:t>
            </a:r>
            <a:endParaRPr lang="en-US" sz="1500" dirty="0"/>
          </a:p>
        </p:txBody>
      </p:sp>
      <p:sp>
        <p:nvSpPr>
          <p:cNvPr id="22" name="flux-texte-4"/>
          <p:cNvSpPr txBox="1"/>
          <p:nvPr/>
        </p:nvSpPr>
        <p:spPr>
          <a:xfrm>
            <a:off x="9683496" y="2331720"/>
            <a:ext cx="1737360" cy="777240"/>
          </a:xfrm>
          <a:prstGeom prst="rect">
            <a:avLst/>
          </a:prstGeom>
          <a:noFill/>
          <a:ln/>
        </p:spPr>
        <p:txBody>
          <a:bodyPr wrap="square" lIns="0" tIns="0" rIns="0" bIns="0" rtlCol="0" anchor="t"/>
          <a:lstStyle/>
          <a:p>
            <a:pPr algn="ctr" indent="0" marL="0">
              <a:buNone/>
            </a:pPr>
            <a:r>
              <a:rPr lang="en-US" sz="1200" dirty="0">
                <a:solidFill>
                  <a:schemeClr val="tx1"/>
                </a:solidFill>
              </a:rPr>
              <a:t>1 couleur par vêtement, à la taille de la photo</a:t>
            </a:r>
            <a:endParaRPr lang="en-US" sz="1200" dirty="0"/>
          </a:p>
        </p:txBody>
      </p:sp>
      <p:sp>
        <p:nvSpPr>
          <p:cNvPr id="23" name="robuste-carte-0"/>
          <p:cNvSpPr/>
          <p:nvPr/>
        </p:nvSpPr>
        <p:spPr>
          <a:xfrm>
            <a:off x="548640" y="3474720"/>
            <a:ext cx="2602154" cy="1325880"/>
          </a:xfrm>
          <a:prstGeom prst="roundRect">
            <a:avLst>
              <a:gd name="adj" fmla="val 8276"/>
            </a:avLst>
          </a:prstGeom>
          <a:solidFill>
            <a:schemeClr val="bg2"/>
          </a:solidFill>
          <a:ln w="12700">
            <a:solidFill>
              <a:schemeClr val="bg2"/>
            </a:solidFill>
            <a:prstDash val="solid"/>
          </a:ln>
        </p:spPr>
      </p:sp>
      <p:sp>
        <p:nvSpPr>
          <p:cNvPr id="24" name="robuste-titre-0"/>
          <p:cNvSpPr txBox="1"/>
          <p:nvPr/>
        </p:nvSpPr>
        <p:spPr>
          <a:xfrm>
            <a:off x="777240" y="3639312"/>
            <a:ext cx="2144954" cy="411480"/>
          </a:xfrm>
          <a:prstGeom prst="rect">
            <a:avLst/>
          </a:prstGeom>
          <a:noFill/>
          <a:ln/>
        </p:spPr>
        <p:txBody>
          <a:bodyPr wrap="square" lIns="0" tIns="0" rIns="0" bIns="0" rtlCol="0" anchor="t"/>
          <a:lstStyle/>
          <a:p>
            <a:pPr indent="0" marL="0">
              <a:buNone/>
            </a:pPr>
            <a:r>
              <a:rPr lang="en-US" sz="1500" b="1" dirty="0">
                <a:solidFill>
                  <a:schemeClr val="tx2"/>
                </a:solidFill>
              </a:rPr>
              <a:t>Timeout</a:t>
            </a:r>
            <a:endParaRPr lang="en-US" sz="1500" dirty="0"/>
          </a:p>
        </p:txBody>
      </p:sp>
      <p:sp>
        <p:nvSpPr>
          <p:cNvPr id="25" name="robuste-texte-0"/>
          <p:cNvSpPr txBox="1"/>
          <p:nvPr/>
        </p:nvSpPr>
        <p:spPr>
          <a:xfrm>
            <a:off x="777240" y="4096512"/>
            <a:ext cx="2144954" cy="594360"/>
          </a:xfrm>
          <a:prstGeom prst="rect">
            <a:avLst/>
          </a:prstGeom>
          <a:noFill/>
          <a:ln/>
        </p:spPr>
        <p:txBody>
          <a:bodyPr wrap="square" lIns="0" tIns="0" rIns="0" bIns="0" rtlCol="0" anchor="t"/>
          <a:lstStyle/>
          <a:p>
            <a:pPr indent="0" marL="0">
              <a:buNone/>
            </a:pPr>
            <a:r>
              <a:rPr lang="en-US" sz="1200" dirty="0">
                <a:solidFill>
                  <a:schemeClr val="tx1"/>
                </a:solidFill>
              </a:rPr>
              <a:t>30 s par requête : un serveur muet ne bloque jamais la boucle</a:t>
            </a:r>
            <a:endParaRPr lang="en-US" sz="1200" dirty="0"/>
          </a:p>
        </p:txBody>
      </p:sp>
      <p:sp>
        <p:nvSpPr>
          <p:cNvPr id="26" name="robuste-carte-1"/>
          <p:cNvSpPr/>
          <p:nvPr/>
        </p:nvSpPr>
        <p:spPr>
          <a:xfrm>
            <a:off x="3379394" y="3474720"/>
            <a:ext cx="2602154" cy="1325880"/>
          </a:xfrm>
          <a:prstGeom prst="roundRect">
            <a:avLst>
              <a:gd name="adj" fmla="val 8276"/>
            </a:avLst>
          </a:prstGeom>
          <a:solidFill>
            <a:schemeClr val="bg2"/>
          </a:solidFill>
          <a:ln w="12700">
            <a:solidFill>
              <a:schemeClr val="bg2"/>
            </a:solidFill>
            <a:prstDash val="solid"/>
          </a:ln>
        </p:spPr>
      </p:sp>
      <p:sp>
        <p:nvSpPr>
          <p:cNvPr id="27" name="robuste-titre-1"/>
          <p:cNvSpPr txBox="1"/>
          <p:nvPr/>
        </p:nvSpPr>
        <p:spPr>
          <a:xfrm>
            <a:off x="3607994" y="3639312"/>
            <a:ext cx="2144954" cy="411480"/>
          </a:xfrm>
          <a:prstGeom prst="rect">
            <a:avLst/>
          </a:prstGeom>
          <a:noFill/>
          <a:ln/>
        </p:spPr>
        <p:txBody>
          <a:bodyPr wrap="square" lIns="0" tIns="0" rIns="0" bIns="0" rtlCol="0" anchor="t"/>
          <a:lstStyle/>
          <a:p>
            <a:pPr indent="0" marL="0">
              <a:buNone/>
            </a:pPr>
            <a:r>
              <a:rPr lang="en-US" sz="1500" b="1" dirty="0">
                <a:solidFill>
                  <a:schemeClr val="tx2"/>
                </a:solidFill>
              </a:rPr>
              <a:t>Quota</a:t>
            </a:r>
            <a:endParaRPr lang="en-US" sz="1500" dirty="0"/>
          </a:p>
        </p:txBody>
      </p:sp>
      <p:sp>
        <p:nvSpPr>
          <p:cNvPr id="28" name="robuste-texte-1"/>
          <p:cNvSpPr txBox="1"/>
          <p:nvPr/>
        </p:nvSpPr>
        <p:spPr>
          <a:xfrm>
            <a:off x="3607994" y="4096512"/>
            <a:ext cx="2144954" cy="594360"/>
          </a:xfrm>
          <a:prstGeom prst="rect">
            <a:avLst/>
          </a:prstGeom>
          <a:noFill/>
          <a:ln/>
        </p:spPr>
        <p:txBody>
          <a:bodyPr wrap="square" lIns="0" tIns="0" rIns="0" bIns="0" rtlCol="0" anchor="t"/>
          <a:lstStyle/>
          <a:p>
            <a:pPr indent="0" marL="0">
              <a:buNone/>
            </a:pPr>
            <a:r>
              <a:rPr lang="en-US" sz="1200" dirty="0">
                <a:solidFill>
                  <a:schemeClr val="tx1"/>
                </a:solidFill>
              </a:rPr>
              <a:t>au plus 30 requêtes par minute, sur toute fenêtre de 60 s</a:t>
            </a:r>
            <a:endParaRPr lang="en-US" sz="1200" dirty="0"/>
          </a:p>
        </p:txBody>
      </p:sp>
      <p:sp>
        <p:nvSpPr>
          <p:cNvPr id="29" name="robuste-carte-2"/>
          <p:cNvSpPr/>
          <p:nvPr/>
        </p:nvSpPr>
        <p:spPr>
          <a:xfrm>
            <a:off x="6210148" y="3474720"/>
            <a:ext cx="2602154" cy="1325880"/>
          </a:xfrm>
          <a:prstGeom prst="roundRect">
            <a:avLst>
              <a:gd name="adj" fmla="val 8276"/>
            </a:avLst>
          </a:prstGeom>
          <a:solidFill>
            <a:schemeClr val="bg2"/>
          </a:solidFill>
          <a:ln w="12700">
            <a:solidFill>
              <a:schemeClr val="bg2"/>
            </a:solidFill>
            <a:prstDash val="solid"/>
          </a:ln>
        </p:spPr>
      </p:sp>
      <p:sp>
        <p:nvSpPr>
          <p:cNvPr id="30" name="robuste-titre-2"/>
          <p:cNvSpPr txBox="1"/>
          <p:nvPr/>
        </p:nvSpPr>
        <p:spPr>
          <a:xfrm>
            <a:off x="6438748" y="3639312"/>
            <a:ext cx="2144954" cy="411480"/>
          </a:xfrm>
          <a:prstGeom prst="rect">
            <a:avLst/>
          </a:prstGeom>
          <a:noFill/>
          <a:ln/>
        </p:spPr>
        <p:txBody>
          <a:bodyPr wrap="square" lIns="0" tIns="0" rIns="0" bIns="0" rtlCol="0" anchor="t"/>
          <a:lstStyle/>
          <a:p>
            <a:pPr indent="0" marL="0">
              <a:buNone/>
            </a:pPr>
            <a:r>
              <a:rPr lang="en-US" sz="1500" b="1" dirty="0">
                <a:solidFill>
                  <a:schemeClr val="tx2"/>
                </a:solidFill>
              </a:rPr>
              <a:t>Nouvelles tentatives</a:t>
            </a:r>
            <a:endParaRPr lang="en-US" sz="1500" dirty="0"/>
          </a:p>
        </p:txBody>
      </p:sp>
      <p:sp>
        <p:nvSpPr>
          <p:cNvPr id="31" name="robuste-texte-2"/>
          <p:cNvSpPr txBox="1"/>
          <p:nvPr/>
        </p:nvSpPr>
        <p:spPr>
          <a:xfrm>
            <a:off x="6438748" y="4096512"/>
            <a:ext cx="2144954" cy="594360"/>
          </a:xfrm>
          <a:prstGeom prst="rect">
            <a:avLst/>
          </a:prstGeom>
          <a:noFill/>
          <a:ln/>
        </p:spPr>
        <p:txBody>
          <a:bodyPr wrap="square" lIns="0" tIns="0" rIns="0" bIns="0" rtlCol="0" anchor="t"/>
          <a:lstStyle/>
          <a:p>
            <a:pPr indent="0" marL="0">
              <a:buNone/>
            </a:pPr>
            <a:r>
              <a:rPr lang="en-US" sz="1200" dirty="0">
                <a:solidFill>
                  <a:schemeClr val="tx1"/>
                </a:solidFill>
              </a:rPr>
              <a:t>429, 503, timeout : attente 2, 4, 8, 16 s ; 401 ou 402 : arrêt immédiat</a:t>
            </a:r>
            <a:endParaRPr lang="en-US" sz="1200" dirty="0"/>
          </a:p>
        </p:txBody>
      </p:sp>
      <p:sp>
        <p:nvSpPr>
          <p:cNvPr id="32" name="robuste-carte-3"/>
          <p:cNvSpPr/>
          <p:nvPr/>
        </p:nvSpPr>
        <p:spPr>
          <a:xfrm>
            <a:off x="9040901" y="3474720"/>
            <a:ext cx="2602154" cy="1325880"/>
          </a:xfrm>
          <a:prstGeom prst="roundRect">
            <a:avLst>
              <a:gd name="adj" fmla="val 8276"/>
            </a:avLst>
          </a:prstGeom>
          <a:solidFill>
            <a:schemeClr val="bg2"/>
          </a:solidFill>
          <a:ln w="12700">
            <a:solidFill>
              <a:schemeClr val="bg2"/>
            </a:solidFill>
            <a:prstDash val="solid"/>
          </a:ln>
        </p:spPr>
      </p:sp>
      <p:sp>
        <p:nvSpPr>
          <p:cNvPr id="33" name="robuste-titre-3"/>
          <p:cNvSpPr txBox="1"/>
          <p:nvPr/>
        </p:nvSpPr>
        <p:spPr>
          <a:xfrm>
            <a:off x="9269501" y="3639312"/>
            <a:ext cx="2144954" cy="411480"/>
          </a:xfrm>
          <a:prstGeom prst="rect">
            <a:avLst/>
          </a:prstGeom>
          <a:noFill/>
          <a:ln/>
        </p:spPr>
        <p:txBody>
          <a:bodyPr wrap="square" lIns="0" tIns="0" rIns="0" bIns="0" rtlCol="0" anchor="t"/>
          <a:lstStyle/>
          <a:p>
            <a:pPr indent="0" marL="0">
              <a:buNone/>
            </a:pPr>
            <a:r>
              <a:rPr lang="en-US" sz="1500" b="1" dirty="0">
                <a:solidFill>
                  <a:schemeClr val="tx2"/>
                </a:solidFill>
              </a:rPr>
              <a:t>Reprise</a:t>
            </a:r>
            <a:endParaRPr lang="en-US" sz="1500" dirty="0"/>
          </a:p>
        </p:txBody>
      </p:sp>
      <p:sp>
        <p:nvSpPr>
          <p:cNvPr id="34" name="robuste-texte-3"/>
          <p:cNvSpPr txBox="1"/>
          <p:nvPr/>
        </p:nvSpPr>
        <p:spPr>
          <a:xfrm>
            <a:off x="9269501" y="4096512"/>
            <a:ext cx="2144954" cy="594360"/>
          </a:xfrm>
          <a:prstGeom prst="rect">
            <a:avLst/>
          </a:prstGeom>
          <a:noFill/>
          <a:ln/>
        </p:spPr>
        <p:txBody>
          <a:bodyPr wrap="square" lIns="0" tIns="0" rIns="0" bIns="0" rtlCol="0" anchor="t"/>
          <a:lstStyle/>
          <a:p>
            <a:pPr indent="0" marL="0">
              <a:buNone/>
            </a:pPr>
            <a:r>
              <a:rPr lang="en-US" sz="1200" dirty="0">
                <a:solidFill>
                  <a:schemeClr val="tx1"/>
                </a:solidFill>
              </a:rPr>
              <a:t>chaque résultat est mis en cache : relancer ne refait que les manquants</a:t>
            </a:r>
            <a:endParaRPr lang="en-US" sz="1200" dirty="0"/>
          </a:p>
        </p:txBody>
      </p:sp>
      <p:sp>
        <p:nvSpPr>
          <p:cNvPr id="35" name="lecture-solution-fond"/>
          <p:cNvSpPr/>
          <p:nvPr/>
        </p:nvSpPr>
        <p:spPr>
          <a:xfrm>
            <a:off x="548640" y="5074920"/>
            <a:ext cx="11094415" cy="914400"/>
          </a:xfrm>
          <a:prstGeom prst="roundRect">
            <a:avLst>
              <a:gd name="adj" fmla="val 12000"/>
            </a:avLst>
          </a:prstGeom>
          <a:solidFill>
            <a:schemeClr val="accent6"/>
          </a:solidFill>
          <a:ln w="12700">
            <a:solidFill>
              <a:schemeClr val="accent6"/>
            </a:solidFill>
            <a:prstDash val="solid"/>
          </a:ln>
        </p:spPr>
      </p:sp>
      <p:sp>
        <p:nvSpPr>
          <p:cNvPr id="36" name="lecture-solution-texte"/>
          <p:cNvSpPr txBox="1"/>
          <p:nvPr/>
        </p:nvSpPr>
        <p:spPr>
          <a:xfrm>
            <a:off x="777240" y="5074920"/>
            <a:ext cx="10637215" cy="914400"/>
          </a:xfrm>
          <a:prstGeom prst="rect">
            <a:avLst/>
          </a:prstGeom>
          <a:noFill/>
          <a:ln/>
        </p:spPr>
        <p:txBody>
          <a:bodyPr wrap="square" lIns="0" tIns="0" rIns="0" bIns="0" rtlCol="0" anchor="ctr"/>
          <a:lstStyle/>
          <a:p>
            <a:pPr indent="0" marL="0">
              <a:buNone/>
            </a:pPr>
            <a:r>
              <a:rPr lang="en-US" sz="1500" dirty="0">
                <a:solidFill>
                  <a:schemeClr val="tx2"/>
                </a:solidFill>
              </a:rPr>
              <a:t>150 appels sur 150 réussis du premier coup ; 0,71 s par image en médiane (1,24 s au 95ᵉ centile). Le JPEG réduit est 8 fois plus léger que le PNG d'origine.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mIoU vêtements = 0,79 : les grandes pièces sont bien segmentées</a:t>
            </a:r>
            <a:endParaRPr lang="en-US" sz="28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IoU = part de surface commune entre la silhouette annotée et la silhouette prédite (1 = parfait)</a:t>
            </a:r>
            <a:endParaRPr lang="en-US" sz="1600" dirty="0"/>
          </a:p>
        </p:txBody>
      </p:sp>
      <p:pic>
        <p:nvPicPr>
          <p:cNvPr id="4" name="figure-iou_par_famille" descr="IoU par famille de vêtements et de parties du corps">    </p:cNvPr>
          <p:cNvPicPr>
            <a:picLocks noChangeAspect="1"/>
          </p:cNvPicPr>
          <p:nvPr/>
        </p:nvPicPr>
        <p:blipFill>
          <a:blip r:embed="rId1"/>
          <a:stretch>
            <a:fillRect/>
          </a:stretch>
        </p:blipFill>
        <p:spPr>
          <a:xfrm>
            <a:off x="548640" y="1600200"/>
            <a:ext cx="6035040" cy="4048717"/>
          </a:xfrm>
          <a:prstGeom prst="rect">
            <a:avLst/>
          </a:prstGeom>
        </p:spPr>
      </p:pic>
      <p:sp>
        <p:nvSpPr>
          <p:cNvPr id="5" name="chiffre-cle-fond"/>
          <p:cNvSpPr/>
          <p:nvPr/>
        </p:nvSpPr>
        <p:spPr>
          <a:xfrm>
            <a:off x="6903720" y="1691640"/>
            <a:ext cx="4736592" cy="1737360"/>
          </a:xfrm>
          <a:prstGeom prst="roundRect">
            <a:avLst>
              <a:gd name="adj" fmla="val 6316"/>
            </a:avLst>
          </a:prstGeom>
          <a:solidFill>
            <a:schemeClr val="accent6"/>
          </a:solidFill>
          <a:ln w="12700">
            <a:solidFill>
              <a:schemeClr val="accent6"/>
            </a:solidFill>
            <a:prstDash val="solid"/>
          </a:ln>
        </p:spPr>
      </p:sp>
      <p:sp>
        <p:nvSpPr>
          <p:cNvPr id="6" name="chiffre-cle"/>
          <p:cNvSpPr txBox="1"/>
          <p:nvPr/>
        </p:nvSpPr>
        <p:spPr>
          <a:xfrm>
            <a:off x="7178040" y="1783080"/>
            <a:ext cx="201168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0,79</a:t>
            </a:r>
            <a:endParaRPr lang="en-US" sz="5400" dirty="0"/>
          </a:p>
        </p:txBody>
      </p:sp>
      <p:sp>
        <p:nvSpPr>
          <p:cNvPr id="7" name="chiffre-cle-legende"/>
          <p:cNvSpPr txBox="1"/>
          <p:nvPr/>
        </p:nvSpPr>
        <p:spPr>
          <a:xfrm>
            <a:off x="9144000" y="1965960"/>
            <a:ext cx="2377440" cy="914400"/>
          </a:xfrm>
          <a:prstGeom prst="rect">
            <a:avLst/>
          </a:prstGeom>
          <a:noFill/>
          <a:ln/>
        </p:spPr>
        <p:txBody>
          <a:bodyPr wrap="square" lIns="0" tIns="0" rIns="0" bIns="0" rtlCol="0" anchor="t"/>
          <a:lstStyle/>
          <a:p>
            <a:pPr indent="0" marL="0">
              <a:buNone/>
            </a:pPr>
            <a:r>
              <a:rPr lang="en-US" sz="1300" dirty="0">
                <a:solidFill>
                  <a:schemeClr val="tx2"/>
                </a:solidFill>
              </a:rPr>
              <a:t>mIoU vêtements sur 9 familles</a:t>
            </a:r>
            <a:endParaRPr lang="en-US" sz="1300" dirty="0"/>
          </a:p>
          <a:p>
            <a:pPr indent="0" marL="0">
              <a:buNone/>
            </a:pPr>
            <a:r>
              <a:rPr lang="en-US" sz="1300" dirty="0">
                <a:solidFill>
                  <a:schemeClr val="tx2"/>
                </a:solidFill>
              </a:rPr>
              <a:t>intervalle à 95 % : 0,76 – 0,82</a:t>
            </a:r>
            <a:endParaRPr lang="en-US" sz="1300" dirty="0"/>
          </a:p>
        </p:txBody>
      </p:sp>
      <p:sp>
        <p:nvSpPr>
          <p:cNvPr id="8" name="chiffre-cle-verdict"/>
          <p:cNvSpPr txBox="1"/>
          <p:nvPr/>
        </p:nvSpPr>
        <p:spPr>
          <a:xfrm>
            <a:off x="7178040" y="2834640"/>
            <a:ext cx="4297680" cy="457200"/>
          </a:xfrm>
          <a:prstGeom prst="rect">
            <a:avLst/>
          </a:prstGeom>
          <a:noFill/>
          <a:ln/>
        </p:spPr>
        <p:txBody>
          <a:bodyPr wrap="square" lIns="0" tIns="0" rIns="0" bIns="0" rtlCol="0" anchor="t"/>
          <a:lstStyle/>
          <a:p>
            <a:pPr indent="0" marL="0">
              <a:buNone/>
            </a:pPr>
            <a:r>
              <a:rPr lang="en-US" sz="1300" b="1" dirty="0">
                <a:solidFill>
                  <a:schemeClr val="tx2"/>
                </a:solidFill>
              </a:rPr>
              <a:t>Règle fixée avant les résultats : « non disqualifié pour un pilote »</a:t>
            </a:r>
            <a:endParaRPr lang="en-US" sz="1300" dirty="0"/>
          </a:p>
        </p:txBody>
      </p:sp>
      <p:sp>
        <p:nvSpPr>
          <p:cNvPr id="9" name="resultats-liste"/>
          <p:cNvSpPr txBox="1"/>
          <p:nvPr/>
        </p:nvSpPr>
        <p:spPr>
          <a:xfrm>
            <a:off x="6903720" y="3657600"/>
            <a:ext cx="4736592" cy="24688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Jupe 0,94, pantalon 0,90, haut 0,88, robe 0,80</a:t>
            </a:r>
            <a:endParaRPr lang="en-US" sz="1400" dirty="0"/>
          </a:p>
          <a:p>
            <a:pPr marL="342900" indent="-342900">
              <a:spcAft>
                <a:spcPts val="800"/>
              </a:spcAft>
              <a:buSzPct val="100000"/>
              <a:buChar char="•"/>
            </a:pPr>
            <a:r>
              <a:rPr lang="en-US" sz="1400" dirty="0">
                <a:solidFill>
                  <a:schemeClr val="tx1"/>
                </a:solidFill>
              </a:rPr>
              <a:t>Objets fins plus difficiles : ceinture 0,57</a:t>
            </a:r>
            <a:endParaRPr lang="en-US" sz="1400" dirty="0"/>
          </a:p>
          <a:p>
            <a:pPr marL="342900" indent="-342900">
              <a:spcAft>
                <a:spcPts val="800"/>
              </a:spcAft>
              <a:buSzPct val="100000"/>
              <a:buChar char="•"/>
            </a:pPr>
            <a:r>
              <a:rPr lang="en-US" sz="1400" dirty="0">
                <a:solidFill>
                  <a:schemeClr val="tx1"/>
                </a:solidFill>
              </a:rPr>
              <a:t>Écharpe (3 images) : trop rare pour conclure</a:t>
            </a:r>
            <a:endParaRPr lang="en-US" sz="1400" dirty="0"/>
          </a:p>
          <a:p>
            <a:pPr marL="342900" indent="-342900">
              <a:spcAft>
                <a:spcPts val="800"/>
              </a:spcAft>
              <a:buSzPct val="100000"/>
              <a:buChar char="•"/>
            </a:pPr>
            <a:r>
              <a:rPr lang="en-US" sz="1400" dirty="0">
                <a:solidFill>
                  <a:schemeClr val="tx1"/>
                </a:solidFill>
              </a:rPr>
              <a:t>Pourquoi pas « 96 % de pixels bien classés » ? Un modèle qui ne voit que du fond atteint déjà 78 %</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Les erreurs viennent surtout de vêtements ambigus</a:t>
            </a:r>
            <a:endParaRPr lang="en-US" sz="28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Meilleur et pire cas des 50 images : photo (visage flouté), annotation, prédiction du modèle</a:t>
            </a:r>
            <a:endParaRPr lang="en-US" sz="1600" dirty="0"/>
          </a:p>
        </p:txBody>
      </p:sp>
      <p:pic>
        <p:nvPicPr>
          <p:cNvPr id="4" name="figure-triptyque_meilleur_image_42" descr="Meilleur cas : robe, presque parfaite">    </p:cNvPr>
          <p:cNvPicPr>
            <a:picLocks noChangeAspect="1"/>
          </p:cNvPicPr>
          <p:nvPr/>
        </p:nvPicPr>
        <p:blipFill>
          <a:blip r:embed="rId1"/>
          <a:stretch>
            <a:fillRect/>
          </a:stretch>
        </p:blipFill>
        <p:spPr>
          <a:xfrm>
            <a:off x="548640" y="1600200"/>
            <a:ext cx="5486400" cy="2311415"/>
          </a:xfrm>
          <a:prstGeom prst="rect">
            <a:avLst/>
          </a:prstGeom>
        </p:spPr>
      </p:pic>
      <p:pic>
        <p:nvPicPr>
          <p:cNvPr id="5" name="figure-triptyque_pire_image_29" descr="Pire cas : short annoté robe, prédit pantalon">    </p:cNvPr>
          <p:cNvPicPr>
            <a:picLocks noChangeAspect="1"/>
          </p:cNvPicPr>
          <p:nvPr/>
        </p:nvPicPr>
        <p:blipFill>
          <a:blip r:embed="rId2"/>
          <a:stretch>
            <a:fillRect/>
          </a:stretch>
        </p:blipFill>
        <p:spPr>
          <a:xfrm>
            <a:off x="6153912" y="1600200"/>
            <a:ext cx="5486400" cy="2258552"/>
          </a:xfrm>
          <a:prstGeom prst="rect">
            <a:avLst/>
          </a:prstGeom>
        </p:spPr>
      </p:pic>
      <p:sp>
        <p:nvSpPr>
          <p:cNvPr id="6" name="exemple-carte-0"/>
          <p:cNvSpPr/>
          <p:nvPr/>
        </p:nvSpPr>
        <p:spPr>
          <a:xfrm>
            <a:off x="548640" y="4069080"/>
            <a:ext cx="5432908" cy="1188720"/>
          </a:xfrm>
          <a:prstGeom prst="roundRect">
            <a:avLst>
              <a:gd name="adj" fmla="val 9231"/>
            </a:avLst>
          </a:prstGeom>
          <a:solidFill>
            <a:schemeClr val="bg2"/>
          </a:solidFill>
          <a:ln w="12700">
            <a:solidFill>
              <a:schemeClr val="bg2"/>
            </a:solidFill>
            <a:prstDash val="solid"/>
          </a:ln>
        </p:spPr>
      </p:sp>
      <p:sp>
        <p:nvSpPr>
          <p:cNvPr id="7" name="exemple-titre-0"/>
          <p:cNvSpPr txBox="1"/>
          <p:nvPr/>
        </p:nvSpPr>
        <p:spPr>
          <a:xfrm>
            <a:off x="777240" y="4233672"/>
            <a:ext cx="4975708" cy="411480"/>
          </a:xfrm>
          <a:prstGeom prst="rect">
            <a:avLst/>
          </a:prstGeom>
          <a:noFill/>
          <a:ln/>
        </p:spPr>
        <p:txBody>
          <a:bodyPr wrap="square" lIns="0" tIns="0" rIns="0" bIns="0" rtlCol="0" anchor="t"/>
          <a:lstStyle/>
          <a:p>
            <a:pPr indent="0" marL="0">
              <a:buNone/>
            </a:pPr>
            <a:r>
              <a:rPr lang="en-US" sz="1500" b="1" dirty="0">
                <a:solidFill>
                  <a:schemeClr val="tx2"/>
                </a:solidFill>
              </a:rPr>
              <a:t>Robe simple, fond dégagé</a:t>
            </a:r>
            <a:endParaRPr lang="en-US" sz="1500" dirty="0"/>
          </a:p>
        </p:txBody>
      </p:sp>
      <p:sp>
        <p:nvSpPr>
          <p:cNvPr id="8" name="exemple-texte-0"/>
          <p:cNvSpPr txBox="1"/>
          <p:nvPr/>
        </p:nvSpPr>
        <p:spPr>
          <a:xfrm>
            <a:off x="777240" y="4690872"/>
            <a:ext cx="4975708" cy="457200"/>
          </a:xfrm>
          <a:prstGeom prst="rect">
            <a:avLst/>
          </a:prstGeom>
          <a:noFill/>
          <a:ln/>
        </p:spPr>
        <p:txBody>
          <a:bodyPr wrap="square" lIns="0" tIns="0" rIns="0" bIns="0" rtlCol="0" anchor="t"/>
          <a:lstStyle/>
          <a:p>
            <a:pPr indent="0" marL="0">
              <a:buNone/>
            </a:pPr>
            <a:r>
              <a:rPr lang="en-US" sz="1300" dirty="0">
                <a:solidFill>
                  <a:schemeClr val="tx1"/>
                </a:solidFill>
              </a:rPr>
              <a:t>Presque parfait : contours, cheveux et peau sont justes.</a:t>
            </a:r>
            <a:endParaRPr lang="en-US" sz="1300" dirty="0"/>
          </a:p>
        </p:txBody>
      </p:sp>
      <p:sp>
        <p:nvSpPr>
          <p:cNvPr id="9" name="exemple-carte-1"/>
          <p:cNvSpPr/>
          <p:nvPr/>
        </p:nvSpPr>
        <p:spPr>
          <a:xfrm>
            <a:off x="6210148" y="4069080"/>
            <a:ext cx="5432908" cy="1188720"/>
          </a:xfrm>
          <a:prstGeom prst="roundRect">
            <a:avLst>
              <a:gd name="adj" fmla="val 9231"/>
            </a:avLst>
          </a:prstGeom>
          <a:solidFill>
            <a:schemeClr val="bg2"/>
          </a:solidFill>
          <a:ln w="12700">
            <a:solidFill>
              <a:schemeClr val="bg2"/>
            </a:solidFill>
            <a:prstDash val="solid"/>
          </a:ln>
        </p:spPr>
      </p:sp>
      <p:sp>
        <p:nvSpPr>
          <p:cNvPr id="10" name="exemple-titre-1"/>
          <p:cNvSpPr txBox="1"/>
          <p:nvPr/>
        </p:nvSpPr>
        <p:spPr>
          <a:xfrm>
            <a:off x="6438748" y="4233672"/>
            <a:ext cx="4975708" cy="411480"/>
          </a:xfrm>
          <a:prstGeom prst="rect">
            <a:avLst/>
          </a:prstGeom>
          <a:noFill/>
          <a:ln/>
        </p:spPr>
        <p:txBody>
          <a:bodyPr wrap="square" lIns="0" tIns="0" rIns="0" bIns="0" rtlCol="0" anchor="t"/>
          <a:lstStyle/>
          <a:p>
            <a:pPr indent="0" marL="0">
              <a:buNone/>
            </a:pPr>
            <a:r>
              <a:rPr lang="en-US" sz="1500" b="1" dirty="0">
                <a:solidFill>
                  <a:schemeClr val="tx2"/>
                </a:solidFill>
              </a:rPr>
              <a:t>Short annoté « robe », prédit « pantalon »</a:t>
            </a:r>
            <a:endParaRPr lang="en-US" sz="1500" dirty="0"/>
          </a:p>
        </p:txBody>
      </p:sp>
      <p:sp>
        <p:nvSpPr>
          <p:cNvPr id="11" name="exemple-texte-1"/>
          <p:cNvSpPr txBox="1"/>
          <p:nvPr/>
        </p:nvSpPr>
        <p:spPr>
          <a:xfrm>
            <a:off x="6438748" y="4690872"/>
            <a:ext cx="4975708" cy="457200"/>
          </a:xfrm>
          <a:prstGeom prst="rect">
            <a:avLst/>
          </a:prstGeom>
          <a:noFill/>
          <a:ln/>
        </p:spPr>
        <p:txBody>
          <a:bodyPr wrap="square" lIns="0" tIns="0" rIns="0" bIns="0" rtlCol="0" anchor="t"/>
          <a:lstStyle/>
          <a:p>
            <a:pPr indent="0" marL="0">
              <a:buNone/>
            </a:pPr>
            <a:r>
              <a:rPr lang="en-US" sz="1300" dirty="0">
                <a:solidFill>
                  <a:schemeClr val="tx1"/>
                </a:solidFill>
              </a:rPr>
              <a:t>La silhouette est juste, le nom du vêtement est discutable : où s'arrête une robe, où commence un short ?</a:t>
            </a:r>
            <a:endParaRPr lang="en-US" sz="1300" dirty="0"/>
          </a:p>
        </p:txBody>
      </p:sp>
      <p:sp>
        <p:nvSpPr>
          <p:cNvPr id="12" name="lecture-exemples-fond"/>
          <p:cNvSpPr/>
          <p:nvPr/>
        </p:nvSpPr>
        <p:spPr>
          <a:xfrm>
            <a:off x="548640" y="5440680"/>
            <a:ext cx="11094415" cy="777240"/>
          </a:xfrm>
          <a:prstGeom prst="roundRect">
            <a:avLst>
              <a:gd name="adj" fmla="val 14118"/>
            </a:avLst>
          </a:prstGeom>
          <a:solidFill>
            <a:schemeClr val="accent6"/>
          </a:solidFill>
          <a:ln w="12700">
            <a:solidFill>
              <a:schemeClr val="accent6"/>
            </a:solidFill>
            <a:prstDash val="solid"/>
          </a:ln>
        </p:spPr>
      </p:sp>
      <p:sp>
        <p:nvSpPr>
          <p:cNvPr id="13" name="lecture-exemples-texte"/>
          <p:cNvSpPr txBox="1"/>
          <p:nvPr/>
        </p:nvSpPr>
        <p:spPr>
          <a:xfrm>
            <a:off x="777240" y="5440680"/>
            <a:ext cx="10637215" cy="777240"/>
          </a:xfrm>
          <a:prstGeom prst="rect">
            <a:avLst/>
          </a:prstGeom>
          <a:noFill/>
          <a:ln/>
        </p:spPr>
        <p:txBody>
          <a:bodyPr wrap="square" lIns="0" tIns="0" rIns="0" bIns="0" rtlCol="0" anchor="ctr"/>
          <a:lstStyle/>
          <a:p>
            <a:pPr indent="0" marL="0">
              <a:buNone/>
            </a:pPr>
            <a:r>
              <a:rPr lang="en-US" sz="1500" dirty="0">
                <a:solidFill>
                  <a:schemeClr val="tx2"/>
                </a:solidFill>
              </a:rPr>
              <a:t>Les deux plus mauvaises images (mIoU 0,40) sont des cas ambigus : short et tunique-robe. Pour ModeTrends, c'est autant une question de définition des classes que de modèle.</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Ces 50 images, le modèle les a déjà vues : le score est optimiste</a:t>
            </a:r>
            <a:endParaRPr lang="en-US" sz="28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Une méthode de validation pour la suite : des photos nouvelles, découpées par influenceur</a:t>
            </a:r>
            <a:endParaRPr lang="en-US" sz="1600" dirty="0"/>
          </a:p>
        </p:txBody>
      </p:sp>
      <p:sp>
        <p:nvSpPr>
          <p:cNvPr id="4" name="fuite-fond"/>
          <p:cNvSpPr/>
          <p:nvPr/>
        </p:nvSpPr>
        <p:spPr>
          <a:xfrm>
            <a:off x="548640" y="1691640"/>
            <a:ext cx="5120640" cy="4434840"/>
          </a:xfrm>
          <a:prstGeom prst="roundRect">
            <a:avLst>
              <a:gd name="adj" fmla="val 2474"/>
            </a:avLst>
          </a:prstGeom>
          <a:solidFill>
            <a:srgbClr val="FCE9E1"/>
          </a:solidFill>
          <a:ln w="12700">
            <a:solidFill>
              <a:srgbClr val="FCE9E1"/>
            </a:solidFill>
            <a:prstDash val="solid"/>
          </a:ln>
        </p:spPr>
      </p:sp>
      <p:sp>
        <p:nvSpPr>
          <p:cNvPr id="5" name="fuite-titre"/>
          <p:cNvSpPr txBox="1"/>
          <p:nvPr/>
        </p:nvSpPr>
        <p:spPr>
          <a:xfrm>
            <a:off x="822960" y="1828800"/>
            <a:ext cx="4572000" cy="45720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 Fuite de données</a:t>
            </a:r>
            <a:endParaRPr lang="en-US" sz="2000" dirty="0"/>
          </a:p>
        </p:txBody>
      </p:sp>
      <p:sp>
        <p:nvSpPr>
          <p:cNvPr id="6" name="fuite-liste"/>
          <p:cNvSpPr txBox="1"/>
          <p:nvPr/>
        </p:nvSpPr>
        <p:spPr>
          <a:xfrm>
            <a:off x="822960" y="2377440"/>
            <a:ext cx="4572000" cy="3657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Les 50 masques de test se retrouvent à l'identique dans le jeu public sur lequel le modèle a été affiné (17 706 photos)</a:t>
            </a:r>
            <a:endParaRPr lang="en-US" sz="1500" dirty="0"/>
          </a:p>
          <a:p>
            <a:pPr marL="342900" indent="-342900">
              <a:spcAft>
                <a:spcPts val="1000"/>
              </a:spcAft>
              <a:buSzPct val="100000"/>
              <a:buChar char="•"/>
            </a:pPr>
            <a:r>
              <a:rPr lang="en-US" sz="1500" dirty="0">
                <a:solidFill>
                  <a:schemeClr val="tx1"/>
                </a:solidFill>
              </a:rPr>
              <a:t>L'auteur n'a gardé que 0,6 % des images pour son propre test : nos images ont presque toutes servi à l'entraînement</a:t>
            </a:r>
            <a:endParaRPr lang="en-US" sz="1500" dirty="0"/>
          </a:p>
          <a:p>
            <a:pPr marL="342900" indent="-342900">
              <a:spcAft>
                <a:spcPts val="1000"/>
              </a:spcAft>
              <a:buSzPct val="100000"/>
              <a:buChar char="•"/>
            </a:pPr>
            <a:r>
              <a:rPr lang="en-US" sz="1500" dirty="0">
                <a:solidFill>
                  <a:schemeClr val="tx1"/>
                </a:solidFill>
              </a:rPr>
              <a:t>Donc 0,79 est une estimation optimiste : elle écarte un échec grossier, elle ne prouve pas que le modèle marchera sur les photos de ModeTrends</a:t>
            </a:r>
            <a:endParaRPr lang="en-US" sz="1500" dirty="0"/>
          </a:p>
        </p:txBody>
      </p:sp>
      <p:graphicFrame>
        <p:nvGraphicFramePr>
          <p:cNvPr id="7" name="table-jeux"/>
          <p:cNvGraphicFramePr>
            <a:graphicFrameLocks noGrp="1"/>
          </p:cNvGraphicFramePr>
          <p:nvPr>
            <p:extLst>
              <p:ext uri="{D42A27DB-BD31-4B8C-83A1-F6EECF244321}">
                <p14:modId xmlns:p14="http://schemas.microsoft.com/office/powerpoint/2010/main" val="1579011935"/>
              </p:ext>
            </p:extLst>
          </p:nvPr>
        </p:nvGraphicFramePr>
        <p:xfrm>
          <a:off x="5989320" y="1691640"/>
          <a:ext cx="5650992" cy="914400"/>
        </p:xfrm>
        <a:graphic>
          <a:graphicData uri="http://schemas.openxmlformats.org/drawingml/2006/table">
            <a:tbl>
              <a:tblPr/>
              <a:tblGrid>
                <a:gridCol w="1737360"/>
                <a:gridCol w="1920240"/>
                <a:gridCol w="1993392"/>
              </a:tblGrid>
              <a:tr h="502920">
                <a:tc>
                  <a:txBody>
                    <a:bodyPr/>
                    <a:lstStyle/>
                    <a:p>
                      <a:pPr indent="0" marL="0">
                        <a:buNone/>
                      </a:pPr>
                      <a:r>
                        <a:rPr lang="en-US" sz="1300" b="1" dirty="0">
                          <a:solidFill>
                            <a:schemeClr val="bg1"/>
                          </a:solidFill>
                        </a:rPr>
                        <a:t>Jeu</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Rôle</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Proposition</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solidFill>
                      <a:schemeClr val="tx2"/>
                    </a:solidFill>
                  </a:tcPr>
                </a:tc>
              </a:tr>
              <a:tr h="502920">
                <a:tc>
                  <a:txBody>
                    <a:bodyPr/>
                    <a:lstStyle/>
                    <a:p>
                      <a:pPr indent="0" marL="0">
                        <a:buNone/>
                      </a:pPr>
                      <a:r>
                        <a:rPr lang="en-US" sz="1300" dirty="0">
                          <a:solidFill>
                            <a:schemeClr val="tx1"/>
                          </a:solidFill>
                        </a:rPr>
                        <a:t>Entraînement ≈ 70 %</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300" dirty="0">
                          <a:solidFill>
                            <a:schemeClr val="tx1"/>
                          </a:solidFill>
                        </a:rPr>
                        <a:t>le modèle apprend</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300" dirty="0">
                          <a:solidFill>
                            <a:schemeClr val="tx1"/>
                          </a:solidFill>
                        </a:rPr>
                        <a:t>photos ModeTrends annotées</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r>
              <a:tr h="502920">
                <a:tc>
                  <a:txBody>
                    <a:bodyPr/>
                    <a:lstStyle/>
                    <a:p>
                      <a:pPr indent="0" marL="0">
                        <a:buNone/>
                      </a:pPr>
                      <a:r>
                        <a:rPr lang="en-US" sz="1300" dirty="0">
                          <a:solidFill>
                            <a:schemeClr val="tx1"/>
                          </a:solidFill>
                        </a:rPr>
                        <a:t>Validation ≈ 15 %</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300" dirty="0">
                          <a:solidFill>
                            <a:schemeClr val="tx1"/>
                          </a:solidFill>
                        </a:rPr>
                        <a:t>régler, arrêter l'apprentissage</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300" dirty="0">
                          <a:solidFill>
                            <a:schemeClr val="tx1"/>
                          </a:solidFill>
                        </a:rPr>
                        <a:t>jamais utilisé pour apprendre</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r>
              <a:tr h="502920">
                <a:tc>
                  <a:txBody>
                    <a:bodyPr/>
                    <a:lstStyle/>
                    <a:p>
                      <a:pPr indent="0" marL="0">
                        <a:buNone/>
                      </a:pPr>
                      <a:r>
                        <a:rPr lang="en-US" sz="1300" dirty="0">
                          <a:solidFill>
                            <a:schemeClr val="tx1"/>
                          </a:solidFill>
                        </a:rPr>
                        <a:t>Test ≈ 15 %</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300" dirty="0">
                          <a:solidFill>
                            <a:schemeClr val="tx1"/>
                          </a:solidFill>
                        </a:rPr>
                        <a:t>mesurer une fois, à la fin</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300" dirty="0">
                          <a:solidFill>
                            <a:schemeClr val="tx1"/>
                          </a:solidFill>
                        </a:rPr>
                        <a:t>mis sous clé dès le début</a:t>
                      </a:r>
                      <a:endParaRPr lang="en-US" sz="13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r>
            </a:tbl>
          </a:graphicData>
        </a:graphic>
      </p:graphicFrame>
      <p:sp>
        <p:nvSpPr>
          <p:cNvPr id="8" name="methode-carte-0"/>
          <p:cNvSpPr/>
          <p:nvPr/>
        </p:nvSpPr>
        <p:spPr>
          <a:xfrm>
            <a:off x="5989320" y="3840480"/>
            <a:ext cx="5650992" cy="1051560"/>
          </a:xfrm>
          <a:prstGeom prst="roundRect">
            <a:avLst>
              <a:gd name="adj" fmla="val 10435"/>
            </a:avLst>
          </a:prstGeom>
          <a:solidFill>
            <a:schemeClr val="bg2"/>
          </a:solidFill>
          <a:ln w="12700">
            <a:solidFill>
              <a:schemeClr val="bg2"/>
            </a:solidFill>
            <a:prstDash val="solid"/>
          </a:ln>
        </p:spPr>
      </p:sp>
      <p:sp>
        <p:nvSpPr>
          <p:cNvPr id="9" name="methode-titre-0"/>
          <p:cNvSpPr txBox="1"/>
          <p:nvPr/>
        </p:nvSpPr>
        <p:spPr>
          <a:xfrm>
            <a:off x="6217920" y="3950208"/>
            <a:ext cx="5212080" cy="365760"/>
          </a:xfrm>
          <a:prstGeom prst="rect">
            <a:avLst/>
          </a:prstGeom>
          <a:noFill/>
          <a:ln/>
        </p:spPr>
        <p:txBody>
          <a:bodyPr wrap="square" lIns="0" tIns="0" rIns="0" bIns="0" rtlCol="0" anchor="t"/>
          <a:lstStyle/>
          <a:p>
            <a:pPr indent="0" marL="0">
              <a:buNone/>
            </a:pPr>
            <a:r>
              <a:rPr lang="en-US" sz="1500" b="1" dirty="0">
                <a:solidFill>
                  <a:schemeClr val="tx2"/>
                </a:solidFill>
              </a:rPr>
              <a:t>Découper par influenceur</a:t>
            </a:r>
            <a:endParaRPr lang="en-US" sz="1500" dirty="0"/>
          </a:p>
        </p:txBody>
      </p:sp>
      <p:sp>
        <p:nvSpPr>
          <p:cNvPr id="10" name="methode-texte-0"/>
          <p:cNvSpPr txBox="1"/>
          <p:nvPr/>
        </p:nvSpPr>
        <p:spPr>
          <a:xfrm>
            <a:off x="6217920" y="4343400"/>
            <a:ext cx="5212080" cy="457200"/>
          </a:xfrm>
          <a:prstGeom prst="rect">
            <a:avLst/>
          </a:prstGeom>
          <a:noFill/>
          <a:ln/>
        </p:spPr>
        <p:txBody>
          <a:bodyPr wrap="square" lIns="0" tIns="0" rIns="0" bIns="0" rtlCol="0" anchor="t"/>
          <a:lstStyle/>
          <a:p>
            <a:pPr indent="0" marL="0">
              <a:buNone/>
            </a:pPr>
            <a:r>
              <a:rPr lang="en-US" sz="1300" dirty="0">
                <a:solidFill>
                  <a:schemeClr val="tx1"/>
                </a:solidFill>
              </a:rPr>
              <a:t>Deux photos d'une même personne ne doivent jamais se retrouver de part et d'autre.</a:t>
            </a:r>
            <a:endParaRPr lang="en-US" sz="1300" dirty="0"/>
          </a:p>
        </p:txBody>
      </p:sp>
      <p:sp>
        <p:nvSpPr>
          <p:cNvPr id="11" name="methode-carte-1"/>
          <p:cNvSpPr/>
          <p:nvPr/>
        </p:nvSpPr>
        <p:spPr>
          <a:xfrm>
            <a:off x="5989320" y="5029200"/>
            <a:ext cx="5650992" cy="1051560"/>
          </a:xfrm>
          <a:prstGeom prst="roundRect">
            <a:avLst>
              <a:gd name="adj" fmla="val 10435"/>
            </a:avLst>
          </a:prstGeom>
          <a:solidFill>
            <a:schemeClr val="bg2"/>
          </a:solidFill>
          <a:ln w="12700">
            <a:solidFill>
              <a:schemeClr val="bg2"/>
            </a:solidFill>
            <a:prstDash val="solid"/>
          </a:ln>
        </p:spPr>
      </p:sp>
      <p:sp>
        <p:nvSpPr>
          <p:cNvPr id="12" name="methode-titre-1"/>
          <p:cNvSpPr txBox="1"/>
          <p:nvPr/>
        </p:nvSpPr>
        <p:spPr>
          <a:xfrm>
            <a:off x="6217920" y="5138928"/>
            <a:ext cx="5212080" cy="365760"/>
          </a:xfrm>
          <a:prstGeom prst="rect">
            <a:avLst/>
          </a:prstGeom>
          <a:noFill/>
          <a:ln/>
        </p:spPr>
        <p:txBody>
          <a:bodyPr wrap="square" lIns="0" tIns="0" rIns="0" bIns="0" rtlCol="0" anchor="t"/>
          <a:lstStyle/>
          <a:p>
            <a:pPr indent="0" marL="0">
              <a:buNone/>
            </a:pPr>
            <a:r>
              <a:rPr lang="en-US" sz="1500" b="1" dirty="0">
                <a:solidFill>
                  <a:schemeClr val="tx2"/>
                </a:solidFill>
              </a:rPr>
              <a:t>Mesurer</a:t>
            </a:r>
            <a:endParaRPr lang="en-US" sz="1500" dirty="0"/>
          </a:p>
        </p:txBody>
      </p:sp>
      <p:sp>
        <p:nvSpPr>
          <p:cNvPr id="13" name="methode-texte-1"/>
          <p:cNvSpPr txBox="1"/>
          <p:nvPr/>
        </p:nvSpPr>
        <p:spPr>
          <a:xfrm>
            <a:off x="6217920" y="5532120"/>
            <a:ext cx="5212080" cy="457200"/>
          </a:xfrm>
          <a:prstGeom prst="rect">
            <a:avLst/>
          </a:prstGeom>
          <a:noFill/>
          <a:ln/>
        </p:spPr>
        <p:txBody>
          <a:bodyPr wrap="square" lIns="0" tIns="0" rIns="0" bIns="0" rtlCol="0" anchor="t"/>
          <a:lstStyle/>
          <a:p>
            <a:pPr indent="0" marL="0">
              <a:buNone/>
            </a:pPr>
            <a:r>
              <a:rPr lang="en-US" sz="1300" dirty="0">
                <a:solidFill>
                  <a:schemeClr val="tx1"/>
                </a:solidFill>
              </a:rPr>
              <a:t>IoU par vêtement (et Dice), cumulé sur les images, avec un intervalle de confiance.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500 000 images par mois : moins de 17 $ en serverless</a:t>
            </a:r>
            <a:endParaRPr lang="en-US" sz="28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Besoin moyen : 11,6 images par minute. Trois façons de payer (prix Hugging Face d'octobre 2026)</a:t>
            </a:r>
            <a:endParaRPr lang="en-US" sz="1600" dirty="0"/>
          </a:p>
        </p:txBody>
      </p:sp>
      <p:graphicFrame>
        <p:nvGraphicFramePr>
          <p:cNvPr id="8" name="table-couts"/>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926080"/>
                <a:gridCol w="4325112"/>
                <a:gridCol w="2011680"/>
                <a:gridCol w="1828800"/>
              </a:tblGrid>
              <a:tr h="502920">
                <a:tc>
                  <a:txBody>
                    <a:bodyPr/>
                    <a:lstStyle/>
                    <a:p>
                      <a:pPr indent="0" marL="0">
                        <a:buNone/>
                      </a:pPr>
                      <a:r>
                        <a:rPr lang="en-US" sz="1400" b="1" dirty="0">
                          <a:solidFill>
                            <a:schemeClr val="bg1"/>
                          </a:solidFill>
                        </a:rPr>
                        <a:t>Scénario</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Base du calcul</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Coût sur 30 jours</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À gérer</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solidFill>
                      <a:schemeClr val="tx2"/>
                    </a:solidFill>
                  </a:tcPr>
                </a:tc>
              </a:tr>
              <a:tr h="502920">
                <a:tc>
                  <a:txBody>
                    <a:bodyPr/>
                    <a:lstStyle/>
                    <a:p>
                      <a:pPr indent="0" marL="0">
                        <a:buNone/>
                      </a:pPr>
                      <a:r>
                        <a:rPr lang="en-US" sz="1400" dirty="0">
                          <a:solidFill>
                            <a:schemeClr val="tx1"/>
                          </a:solidFill>
                        </a:rPr>
                        <a:t>A. Serverless (à l'usage)</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facture réelle : &lt; 0,01 $ pour 301 requêtes</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&lt; 16,6 $</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rien</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r>
              <a:tr h="502920">
                <a:tc>
                  <a:txBody>
                    <a:bodyPr/>
                    <a:lstStyle/>
                    <a:p>
                      <a:pPr indent="0" marL="0">
                        <a:buNone/>
                      </a:pPr>
                      <a:r>
                        <a:rPr lang="en-US" sz="1400" dirty="0">
                          <a:solidFill>
                            <a:schemeClr val="tx1"/>
                          </a:solidFill>
                        </a:rPr>
                        <a:t>B. Machine CPU allumée 24 h/24</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2 vCPU à 0,07 $/h ; ≈ 33 images/min (hypothèse)</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50,4 $</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créer, surveiller</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r>
              <a:tr h="502920">
                <a:tc>
                  <a:txBody>
                    <a:bodyPr/>
                    <a:lstStyle/>
                    <a:p>
                      <a:pPr indent="0" marL="0">
                        <a:buNone/>
                      </a:pPr>
                      <a:r>
                        <a:rPr lang="en-US" sz="1400" dirty="0">
                          <a:solidFill>
                            <a:schemeClr val="tx1"/>
                          </a:solidFill>
                        </a:rPr>
                        <a:t>B. Machine GPU T4 24 h/24</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0,50 $/h ; large surcapacité</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360 $</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créer, surveiller</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r>
              <a:tr h="502920">
                <a:tc>
                  <a:txBody>
                    <a:bodyPr/>
                    <a:lstStyle/>
                    <a:p>
                      <a:pPr indent="0" marL="0">
                        <a:buNone/>
                      </a:pPr>
                      <a:r>
                        <a:rPr lang="en-US" sz="1400" dirty="0">
                          <a:solidFill>
                            <a:schemeClr val="tx1"/>
                          </a:solidFill>
                        </a:rPr>
                        <a:t>B'. Machine CPU par lots</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 250 h de machine, puis arrêt</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17,5 $</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c>
                  <a:txBody>
                    <a:bodyPr/>
                    <a:lstStyle/>
                    <a:p>
                      <a:pPr indent="0" marL="0">
                        <a:buNone/>
                      </a:pPr>
                      <a:r>
                        <a:rPr lang="en-US" sz="1400" dirty="0">
                          <a:solidFill>
                            <a:schemeClr val="tx1"/>
                          </a:solidFill>
                        </a:rPr>
                        <a:t>planifier les lots</a:t>
                      </a:r>
                      <a:endParaRPr lang="en-US" sz="1400" dirty="0"/>
                    </a:p>
                  </a:txBody>
                  <a:tcPr marL="91440" marR="91440" marT="45720" marB="45720" anchor="ctr">
                    <a:lnL w="9525" cap="flat" cmpd="sng" algn="ctr">
                      <a:solidFill>
                        <a:srgbClr val="DCE6F5"/>
                      </a:solidFill>
                      <a:prstDash val="solid"/>
                      <a:round/>
                      <a:headEnd type="none" w="med" len="med"/>
                      <a:tailEnd type="none" w="med" len="med"/>
                    </a:lnL>
                    <a:lnR w="9525" cap="flat" cmpd="sng" algn="ctr">
                      <a:solidFill>
                        <a:srgbClr val="DCE6F5"/>
                      </a:solidFill>
                      <a:prstDash val="solid"/>
                      <a:round/>
                      <a:headEnd type="none" w="med" len="med"/>
                      <a:tailEnd type="none" w="med" len="med"/>
                    </a:lnR>
                    <a:lnT w="9525" cap="flat" cmpd="sng" algn="ctr">
                      <a:solidFill>
                        <a:srgbClr val="DCE6F5"/>
                      </a:solidFill>
                      <a:prstDash val="solid"/>
                      <a:round/>
                      <a:headEnd type="none" w="med" len="med"/>
                      <a:tailEnd type="none" w="med" len="med"/>
                    </a:lnT>
                    <a:lnB w="9525" cap="flat" cmpd="sng" algn="ctr">
                      <a:solidFill>
                        <a:srgbClr val="DCE6F5"/>
                      </a:solidFill>
                      <a:prstDash val="solid"/>
                      <a:round/>
                      <a:headEnd type="none" w="med" len="med"/>
                      <a:tailEnd type="none" w="med" len="med"/>
                    </a:lnB>
                  </a:tcPr>
                </a:tc>
              </a:tr>
            </a:tbl>
          </a:graphicData>
        </a:graphic>
      </p:graphicFrame>
      <p:sp>
        <p:nvSpPr>
          <p:cNvPr id="5" name="cout-carte-0"/>
          <p:cNvSpPr/>
          <p:nvPr/>
        </p:nvSpPr>
        <p:spPr>
          <a:xfrm>
            <a:off x="548640" y="4526280"/>
            <a:ext cx="3545738" cy="1600200"/>
          </a:xfrm>
          <a:prstGeom prst="roundRect">
            <a:avLst>
              <a:gd name="adj" fmla="val 6857"/>
            </a:avLst>
          </a:prstGeom>
          <a:solidFill>
            <a:schemeClr val="bg2"/>
          </a:solidFill>
          <a:ln w="12700">
            <a:solidFill>
              <a:schemeClr val="bg2"/>
            </a:solidFill>
            <a:prstDash val="solid"/>
          </a:ln>
        </p:spPr>
      </p:sp>
      <p:sp>
        <p:nvSpPr>
          <p:cNvPr id="6" name="cout-titre-0"/>
          <p:cNvSpPr txBox="1"/>
          <p:nvPr/>
        </p:nvSpPr>
        <p:spPr>
          <a:xfrm>
            <a:off x="777240" y="4690872"/>
            <a:ext cx="3088538" cy="411480"/>
          </a:xfrm>
          <a:prstGeom prst="rect">
            <a:avLst/>
          </a:prstGeom>
          <a:noFill/>
          <a:ln/>
        </p:spPr>
        <p:txBody>
          <a:bodyPr wrap="square" lIns="0" tIns="0" rIns="0" bIns="0" rtlCol="0" anchor="t"/>
          <a:lstStyle/>
          <a:p>
            <a:pPr indent="0" marL="0">
              <a:buNone/>
            </a:pPr>
            <a:r>
              <a:rPr lang="en-US" sz="1500" b="1" dirty="0">
                <a:solidFill>
                  <a:schemeClr val="tx2"/>
                </a:solidFill>
              </a:rPr>
              <a:t>Recommandation</a:t>
            </a:r>
            <a:endParaRPr lang="en-US" sz="1500" dirty="0"/>
          </a:p>
        </p:txBody>
      </p:sp>
      <p:sp>
        <p:nvSpPr>
          <p:cNvPr id="7" name="cout-texte-0"/>
          <p:cNvSpPr txBox="1"/>
          <p:nvPr/>
        </p:nvSpPr>
        <p:spPr>
          <a:xfrm>
            <a:off x="777240" y="5148072"/>
            <a:ext cx="3088538" cy="868680"/>
          </a:xfrm>
          <a:prstGeom prst="rect">
            <a:avLst/>
          </a:prstGeom>
          <a:noFill/>
          <a:ln/>
        </p:spPr>
        <p:txBody>
          <a:bodyPr wrap="square" lIns="0" tIns="0" rIns="0" bIns="0" rtlCol="0" anchor="t"/>
          <a:lstStyle/>
          <a:p>
            <a:pPr indent="0" marL="0">
              <a:buNone/>
            </a:pPr>
            <a:r>
              <a:rPr lang="en-US" sz="1300" dirty="0">
                <a:solidFill>
                  <a:schemeClr val="tx1"/>
                </a:solidFill>
              </a:rPr>
              <a:t>Serverless pour le pilote : aucun serveur, coût faible. Mesurer la facture réelle sur quelques milliers d'images.</a:t>
            </a:r>
            <a:endParaRPr lang="en-US" sz="1300" dirty="0"/>
          </a:p>
        </p:txBody>
      </p:sp>
      <p:sp>
        <p:nvSpPr>
          <p:cNvPr id="8" name="cout-carte-1"/>
          <p:cNvSpPr/>
          <p:nvPr/>
        </p:nvSpPr>
        <p:spPr>
          <a:xfrm>
            <a:off x="4322978" y="4526280"/>
            <a:ext cx="3545738" cy="1600200"/>
          </a:xfrm>
          <a:prstGeom prst="roundRect">
            <a:avLst>
              <a:gd name="adj" fmla="val 6857"/>
            </a:avLst>
          </a:prstGeom>
          <a:solidFill>
            <a:schemeClr val="bg2"/>
          </a:solidFill>
          <a:ln w="12700">
            <a:solidFill>
              <a:schemeClr val="bg2"/>
            </a:solidFill>
            <a:prstDash val="solid"/>
          </a:ln>
        </p:spPr>
      </p:sp>
      <p:sp>
        <p:nvSpPr>
          <p:cNvPr id="9" name="cout-titre-1"/>
          <p:cNvSpPr txBox="1"/>
          <p:nvPr/>
        </p:nvSpPr>
        <p:spPr>
          <a:xfrm>
            <a:off x="4551578" y="4690872"/>
            <a:ext cx="3088538" cy="411480"/>
          </a:xfrm>
          <a:prstGeom prst="rect">
            <a:avLst/>
          </a:prstGeom>
          <a:noFill/>
          <a:ln/>
        </p:spPr>
        <p:txBody>
          <a:bodyPr wrap="square" lIns="0" tIns="0" rIns="0" bIns="0" rtlCol="0" anchor="t"/>
          <a:lstStyle/>
          <a:p>
            <a:pPr indent="0" marL="0">
              <a:buNone/>
            </a:pPr>
            <a:r>
              <a:rPr lang="en-US" sz="1500" b="1" dirty="0">
                <a:solidFill>
                  <a:schemeClr val="tx2"/>
                </a:solidFill>
              </a:rPr>
              <a:t>Si le volume se confirme</a:t>
            </a:r>
            <a:endParaRPr lang="en-US" sz="1500" dirty="0"/>
          </a:p>
        </p:txBody>
      </p:sp>
      <p:sp>
        <p:nvSpPr>
          <p:cNvPr id="10" name="cout-texte-1"/>
          <p:cNvSpPr txBox="1"/>
          <p:nvPr/>
        </p:nvSpPr>
        <p:spPr>
          <a:xfrm>
            <a:off x="4551578" y="5148072"/>
            <a:ext cx="3088538" cy="868680"/>
          </a:xfrm>
          <a:prstGeom prst="rect">
            <a:avLst/>
          </a:prstGeom>
          <a:noFill/>
          <a:ln/>
        </p:spPr>
        <p:txBody>
          <a:bodyPr wrap="square" lIns="0" tIns="0" rIns="0" bIns="0" rtlCol="0" anchor="t"/>
          <a:lstStyle/>
          <a:p>
            <a:pPr indent="0" marL="0">
              <a:buNone/>
            </a:pPr>
            <a:r>
              <a:rPr lang="en-US" sz="1300" dirty="0">
                <a:solidFill>
                  <a:schemeClr val="tx1"/>
                </a:solidFill>
              </a:rPr>
              <a:t>Machine dédiée par lots : coût prévisible, débit garanti, pas de quota partagé.</a:t>
            </a:r>
            <a:endParaRPr lang="en-US" sz="1300" dirty="0"/>
          </a:p>
        </p:txBody>
      </p:sp>
      <p:sp>
        <p:nvSpPr>
          <p:cNvPr id="11" name="cout-carte-2"/>
          <p:cNvSpPr/>
          <p:nvPr/>
        </p:nvSpPr>
        <p:spPr>
          <a:xfrm>
            <a:off x="8097317" y="4526280"/>
            <a:ext cx="3545738" cy="1600200"/>
          </a:xfrm>
          <a:prstGeom prst="roundRect">
            <a:avLst>
              <a:gd name="adj" fmla="val 6857"/>
            </a:avLst>
          </a:prstGeom>
          <a:solidFill>
            <a:schemeClr val="bg2"/>
          </a:solidFill>
          <a:ln w="12700">
            <a:solidFill>
              <a:schemeClr val="bg2"/>
            </a:solidFill>
            <a:prstDash val="solid"/>
          </a:ln>
        </p:spPr>
      </p:sp>
      <p:sp>
        <p:nvSpPr>
          <p:cNvPr id="12" name="cout-titre-2"/>
          <p:cNvSpPr txBox="1"/>
          <p:nvPr/>
        </p:nvSpPr>
        <p:spPr>
          <a:xfrm>
            <a:off x="8325917" y="4690872"/>
            <a:ext cx="3088538" cy="411480"/>
          </a:xfrm>
          <a:prstGeom prst="rect">
            <a:avLst/>
          </a:prstGeom>
          <a:noFill/>
          <a:ln/>
        </p:spPr>
        <p:txBody>
          <a:bodyPr wrap="square" lIns="0" tIns="0" rIns="0" bIns="0" rtlCol="0" anchor="t"/>
          <a:lstStyle/>
          <a:p>
            <a:pPr indent="0" marL="0">
              <a:buNone/>
            </a:pPr>
            <a:r>
              <a:rPr lang="en-US" sz="1500" b="1" dirty="0">
                <a:solidFill>
                  <a:schemeClr val="tx2"/>
                </a:solidFill>
              </a:rPr>
              <a:t>Le vrai coût</a:t>
            </a:r>
            <a:endParaRPr lang="en-US" sz="1500" dirty="0"/>
          </a:p>
        </p:txBody>
      </p:sp>
      <p:sp>
        <p:nvSpPr>
          <p:cNvPr id="13" name="cout-texte-2"/>
          <p:cNvSpPr txBox="1"/>
          <p:nvPr/>
        </p:nvSpPr>
        <p:spPr>
          <a:xfrm>
            <a:off x="8325917" y="5148072"/>
            <a:ext cx="3088538" cy="868680"/>
          </a:xfrm>
          <a:prstGeom prst="rect">
            <a:avLst/>
          </a:prstGeom>
          <a:noFill/>
          <a:ln/>
        </p:spPr>
        <p:txBody>
          <a:bodyPr wrap="square" lIns="0" tIns="0" rIns="0" bIns="0" rtlCol="0" anchor="t"/>
          <a:lstStyle/>
          <a:p>
            <a:pPr indent="0" marL="0">
              <a:buNone/>
            </a:pPr>
            <a:r>
              <a:rPr lang="en-US" sz="1300" dirty="0">
                <a:solidFill>
                  <a:schemeClr val="tx1"/>
                </a:solidFill>
              </a:rPr>
              <a:t>L'annotation de photos ModeTrends pour valider le modèle, pas le calcul.</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2800" b="1" dirty="0">
                <a:solidFill>
                  <a:schemeClr val="tx2"/>
                </a:solidFill>
              </a:rPr>
              <a:t>Des photos de personnes : minimiser, flouter, ne jamais identifier</a:t>
            </a:r>
            <a:endParaRPr lang="en-US" sz="2800" dirty="0"/>
          </a:p>
        </p:txBody>
      </p:sp>
      <p:sp>
        <p:nvSpPr>
          <p:cNvPr id="3" name="Text 1"/>
          <p:cNvSpPr/>
          <p:nvPr>
            <p:ph idx="102" type="body" hasCustomPrompt="1"/>
          </p:nvPr>
        </p:nvSpPr>
        <p:spPr>
          <a:xfrm>
            <a:off x="548640" y="1051560"/>
            <a:ext cx="11094415" cy="457200"/>
          </a:xfrm>
          <a:prstGeom prst="rect">
            <a:avLst/>
          </a:prstGeom>
          <a:noFill/>
          <a:ln/>
        </p:spPr>
        <p:txBody>
          <a:bodyPr wrap="square" lIns="0" tIns="0" rIns="0" bIns="0" rtlCol="0" anchor="t"/>
          <a:lstStyle/>
          <a:p>
            <a:pPr indent="0" marL="0">
              <a:buNone/>
            </a:pPr>
            <a:r>
              <a:rPr lang="en-US" sz="1600" dirty="0">
                <a:solidFill>
                  <a:schemeClr val="accent4"/>
                </a:solidFill>
              </a:rPr>
              <a:t>Conformité (rubrique optionnelle) : RGPD et AI Act</a:t>
            </a:r>
            <a:endParaRPr lang="en-US" sz="1600" dirty="0"/>
          </a:p>
        </p:txBody>
      </p:sp>
      <p:sp>
        <p:nvSpPr>
          <p:cNvPr id="4" name="conformite-carte-0"/>
          <p:cNvSpPr/>
          <p:nvPr/>
        </p:nvSpPr>
        <p:spPr>
          <a:xfrm>
            <a:off x="548640" y="1783080"/>
            <a:ext cx="3545738" cy="3108960"/>
          </a:xfrm>
          <a:prstGeom prst="roundRect">
            <a:avLst>
              <a:gd name="adj" fmla="val 3529"/>
            </a:avLst>
          </a:prstGeom>
          <a:solidFill>
            <a:schemeClr val="bg2"/>
          </a:solidFill>
          <a:ln w="12700">
            <a:solidFill>
              <a:schemeClr val="bg2"/>
            </a:solidFill>
            <a:prstDash val="solid"/>
          </a:ln>
        </p:spPr>
      </p:sp>
      <p:sp>
        <p:nvSpPr>
          <p:cNvPr id="5" name="conformite-titre-0"/>
          <p:cNvSpPr txBox="1"/>
          <p:nvPr/>
        </p:nvSpPr>
        <p:spPr>
          <a:xfrm>
            <a:off x="777240" y="1947672"/>
            <a:ext cx="3088538" cy="411480"/>
          </a:xfrm>
          <a:prstGeom prst="rect">
            <a:avLst/>
          </a:prstGeom>
          <a:noFill/>
          <a:ln/>
        </p:spPr>
        <p:txBody>
          <a:bodyPr wrap="square" lIns="0" tIns="0" rIns="0" bIns="0" rtlCol="0" anchor="t"/>
          <a:lstStyle/>
          <a:p>
            <a:pPr indent="0" marL="0">
              <a:buNone/>
            </a:pPr>
            <a:r>
              <a:rPr lang="en-US" sz="1900" b="1" dirty="0">
                <a:solidFill>
                  <a:schemeClr val="tx2"/>
                </a:solidFill>
              </a:rPr>
              <a:t>RGPD</a:t>
            </a:r>
            <a:endParaRPr lang="en-US" sz="1900" dirty="0"/>
          </a:p>
        </p:txBody>
      </p:sp>
      <p:sp>
        <p:nvSpPr>
          <p:cNvPr id="6" name="conformite-texte-0"/>
          <p:cNvSpPr txBox="1"/>
          <p:nvPr/>
        </p:nvSpPr>
        <p:spPr>
          <a:xfrm>
            <a:off x="777240" y="2404872"/>
            <a:ext cx="3088538" cy="2377440"/>
          </a:xfrm>
          <a:prstGeom prst="rect">
            <a:avLst/>
          </a:prstGeom>
          <a:noFill/>
          <a:ln/>
        </p:spPr>
        <p:txBody>
          <a:bodyPr wrap="square" lIns="0" tIns="0" rIns="0" bIns="0" rtlCol="0" anchor="t"/>
          <a:lstStyle/>
          <a:p>
            <a:pPr indent="0" marL="0">
              <a:buNone/>
            </a:pPr>
            <a:r>
              <a:rPr lang="en-US" sz="1500" dirty="0">
                <a:solidFill>
                  <a:schemeClr val="tx1"/>
                </a:solidFill>
              </a:rPr>
              <a:t>Une photo d'influenceur est une donnée personnelle : base légale, durée de conservation, information des personnes. Minimisation : ne garder que les masques de vêtements.</a:t>
            </a:r>
            <a:endParaRPr lang="en-US" sz="1500" dirty="0"/>
          </a:p>
        </p:txBody>
      </p:sp>
      <p:sp>
        <p:nvSpPr>
          <p:cNvPr id="7" name="conformite-carte-1"/>
          <p:cNvSpPr/>
          <p:nvPr/>
        </p:nvSpPr>
        <p:spPr>
          <a:xfrm>
            <a:off x="4322978" y="1783080"/>
            <a:ext cx="3545738" cy="3108960"/>
          </a:xfrm>
          <a:prstGeom prst="roundRect">
            <a:avLst>
              <a:gd name="adj" fmla="val 3529"/>
            </a:avLst>
          </a:prstGeom>
          <a:solidFill>
            <a:schemeClr val="bg2"/>
          </a:solidFill>
          <a:ln w="12700">
            <a:solidFill>
              <a:schemeClr val="bg2"/>
            </a:solidFill>
            <a:prstDash val="solid"/>
          </a:ln>
        </p:spPr>
      </p:sp>
      <p:sp>
        <p:nvSpPr>
          <p:cNvPr id="8" name="conformite-titre-1"/>
          <p:cNvSpPr txBox="1"/>
          <p:nvPr/>
        </p:nvSpPr>
        <p:spPr>
          <a:xfrm>
            <a:off x="4551578" y="1947672"/>
            <a:ext cx="3088538" cy="411480"/>
          </a:xfrm>
          <a:prstGeom prst="rect">
            <a:avLst/>
          </a:prstGeom>
          <a:noFill/>
          <a:ln/>
        </p:spPr>
        <p:txBody>
          <a:bodyPr wrap="square" lIns="0" tIns="0" rIns="0" bIns="0" rtlCol="0" anchor="t"/>
          <a:lstStyle/>
          <a:p>
            <a:pPr indent="0" marL="0">
              <a:buNone/>
            </a:pPr>
            <a:r>
              <a:rPr lang="en-US" sz="1900" b="1" dirty="0">
                <a:solidFill>
                  <a:schemeClr val="tx2"/>
                </a:solidFill>
              </a:rPr>
              <a:t>Dans ce test</a:t>
            </a:r>
            <a:endParaRPr lang="en-US" sz="1900" dirty="0"/>
          </a:p>
        </p:txBody>
      </p:sp>
      <p:sp>
        <p:nvSpPr>
          <p:cNvPr id="9" name="conformite-texte-1"/>
          <p:cNvSpPr txBox="1"/>
          <p:nvPr/>
        </p:nvSpPr>
        <p:spPr>
          <a:xfrm>
            <a:off x="4551578" y="2404872"/>
            <a:ext cx="3088538" cy="2377440"/>
          </a:xfrm>
          <a:prstGeom prst="rect">
            <a:avLst/>
          </a:prstGeom>
          <a:noFill/>
          <a:ln/>
        </p:spPr>
        <p:txBody>
          <a:bodyPr wrap="square" lIns="0" tIns="0" rIns="0" bIns="0" rtlCol="0" anchor="t"/>
          <a:lstStyle/>
          <a:p>
            <a:pPr indent="0" marL="0">
              <a:buNone/>
            </a:pPr>
            <a:r>
              <a:rPr lang="en-US" sz="1500" dirty="0">
                <a:solidFill>
                  <a:schemeClr val="tx1"/>
                </a:solidFill>
              </a:rPr>
              <a:t>Visages floutés dans toutes les figures publiées ; images envoyées à un service hébergé : vérifier où il traite les données.</a:t>
            </a:r>
            <a:endParaRPr lang="en-US" sz="1500" dirty="0"/>
          </a:p>
        </p:txBody>
      </p:sp>
      <p:sp>
        <p:nvSpPr>
          <p:cNvPr id="10" name="conformite-carte-2"/>
          <p:cNvSpPr/>
          <p:nvPr/>
        </p:nvSpPr>
        <p:spPr>
          <a:xfrm>
            <a:off x="8097317" y="1783080"/>
            <a:ext cx="3545738" cy="3108960"/>
          </a:xfrm>
          <a:prstGeom prst="roundRect">
            <a:avLst>
              <a:gd name="adj" fmla="val 3529"/>
            </a:avLst>
          </a:prstGeom>
          <a:solidFill>
            <a:schemeClr val="bg2"/>
          </a:solidFill>
          <a:ln w="12700">
            <a:solidFill>
              <a:schemeClr val="bg2"/>
            </a:solidFill>
            <a:prstDash val="solid"/>
          </a:ln>
        </p:spPr>
      </p:sp>
      <p:sp>
        <p:nvSpPr>
          <p:cNvPr id="11" name="conformite-titre-2"/>
          <p:cNvSpPr txBox="1"/>
          <p:nvPr/>
        </p:nvSpPr>
        <p:spPr>
          <a:xfrm>
            <a:off x="8325917" y="1947672"/>
            <a:ext cx="3088538" cy="411480"/>
          </a:xfrm>
          <a:prstGeom prst="rect">
            <a:avLst/>
          </a:prstGeom>
          <a:noFill/>
          <a:ln/>
        </p:spPr>
        <p:txBody>
          <a:bodyPr wrap="square" lIns="0" tIns="0" rIns="0" bIns="0" rtlCol="0" anchor="t"/>
          <a:lstStyle/>
          <a:p>
            <a:pPr indent="0" marL="0">
              <a:buNone/>
            </a:pPr>
            <a:r>
              <a:rPr lang="en-US" sz="1900" b="1" dirty="0">
                <a:solidFill>
                  <a:schemeClr val="tx2"/>
                </a:solidFill>
              </a:rPr>
              <a:t>AI Act</a:t>
            </a:r>
            <a:endParaRPr lang="en-US" sz="1900" dirty="0"/>
          </a:p>
        </p:txBody>
      </p:sp>
      <p:sp>
        <p:nvSpPr>
          <p:cNvPr id="12" name="conformite-texte-2"/>
          <p:cNvSpPr txBox="1"/>
          <p:nvPr/>
        </p:nvSpPr>
        <p:spPr>
          <a:xfrm>
            <a:off x="8325917" y="2404872"/>
            <a:ext cx="3088538" cy="2377440"/>
          </a:xfrm>
          <a:prstGeom prst="rect">
            <a:avLst/>
          </a:prstGeom>
          <a:noFill/>
          <a:ln/>
        </p:spPr>
        <p:txBody>
          <a:bodyPr wrap="square" lIns="0" tIns="0" rIns="0" bIns="0" rtlCol="0" anchor="t"/>
          <a:lstStyle/>
          <a:p>
            <a:pPr indent="0" marL="0">
              <a:buNone/>
            </a:pPr>
            <a:r>
              <a:rPr lang="en-US" sz="1500" dirty="0">
                <a:solidFill>
                  <a:schemeClr val="tx1"/>
                </a:solidFill>
              </a:rPr>
              <a:t>Reconnaître des vêtements n'est pas, en soi, un usage à haut risque. Il ne doit jamais servir à identifier les personnes (biométrie).</a:t>
            </a:r>
            <a:endParaRPr lang="en-US" sz="1500" dirty="0"/>
          </a:p>
        </p:txBody>
      </p:sp>
      <p:sp>
        <p:nvSpPr>
          <p:cNvPr id="13" name="lecture-conformite-fond"/>
          <p:cNvSpPr/>
          <p:nvPr/>
        </p:nvSpPr>
        <p:spPr>
          <a:xfrm>
            <a:off x="548640" y="5166360"/>
            <a:ext cx="11094415" cy="822960"/>
          </a:xfrm>
          <a:prstGeom prst="roundRect">
            <a:avLst>
              <a:gd name="adj" fmla="val 13333"/>
            </a:avLst>
          </a:prstGeom>
          <a:solidFill>
            <a:schemeClr val="accent6"/>
          </a:solidFill>
          <a:ln w="12700">
            <a:solidFill>
              <a:schemeClr val="accent6"/>
            </a:solidFill>
            <a:prstDash val="solid"/>
          </a:ln>
        </p:spPr>
      </p:sp>
      <p:sp>
        <p:nvSpPr>
          <p:cNvPr id="14" name="lecture-conformite-texte"/>
          <p:cNvSpPr txBox="1"/>
          <p:nvPr/>
        </p:nvSpPr>
        <p:spPr>
          <a:xfrm>
            <a:off x="777240" y="5166360"/>
            <a:ext cx="10637215" cy="822960"/>
          </a:xfrm>
          <a:prstGeom prst="rect">
            <a:avLst/>
          </a:prstGeom>
          <a:noFill/>
          <a:ln/>
        </p:spPr>
        <p:txBody>
          <a:bodyPr wrap="square" lIns="0" tIns="0" rIns="0" bIns="0" rtlCol="0" anchor="ctr"/>
          <a:lstStyle/>
          <a:p>
            <a:pPr indent="0" marL="0">
              <a:buNone/>
            </a:pPr>
            <a:r>
              <a:rPr lang="en-US" sz="1500" dirty="0">
                <a:solidFill>
                  <a:schemeClr val="tx2"/>
                </a:solidFill>
              </a:rPr>
              <a:t>Avant la production : une analyse d'impact (AIPD) avec le DPO, et des conditions d'utilisation des réseaux sociaux vérifiées.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31520"/>
          </a:xfrm>
          <a:prstGeom prst="rect">
            <a:avLst/>
          </a:prstGeom>
          <a:noFill/>
          <a:ln/>
        </p:spPr>
        <p:txBody>
          <a:bodyPr wrap="square" lIns="0" tIns="0" rIns="0" bIns="0" rtlCol="0" anchor="ctr"/>
          <a:lstStyle/>
          <a:p>
            <a:pPr indent="0" marL="0">
              <a:buNone/>
            </a:pPr>
            <a:r>
              <a:rPr lang="en-US" sz="3200" b="1" dirty="0">
                <a:solidFill>
                  <a:schemeClr val="bg1"/>
                </a:solidFill>
              </a:rPr>
              <a:t>Recommandation : lancer un pilote, mais tester d'abord sur nos propres photos</a:t>
            </a:r>
            <a:endParaRPr lang="en-US" sz="3200" dirty="0"/>
          </a:p>
        </p:txBody>
      </p:sp>
      <p:sp>
        <p:nvSpPr>
          <p:cNvPr id="3" name="bilan-carte-0"/>
          <p:cNvSpPr/>
          <p:nvPr/>
        </p:nvSpPr>
        <p:spPr>
          <a:xfrm>
            <a:off x="548640" y="1463040"/>
            <a:ext cx="3520440" cy="2194560"/>
          </a:xfrm>
          <a:prstGeom prst="roundRect">
            <a:avLst>
              <a:gd name="adj" fmla="val 5000"/>
            </a:avLst>
          </a:prstGeom>
          <a:solidFill>
            <a:srgbClr val="2C3D5E"/>
          </a:solidFill>
          <a:ln w="12700">
            <a:solidFill>
              <a:srgbClr val="2C3D5E"/>
            </a:solidFill>
            <a:prstDash val="solid"/>
          </a:ln>
        </p:spPr>
      </p:sp>
      <p:sp>
        <p:nvSpPr>
          <p:cNvPr id="4" name="bilan-titre-0"/>
          <p:cNvSpPr txBox="1"/>
          <p:nvPr/>
        </p:nvSpPr>
        <p:spPr>
          <a:xfrm>
            <a:off x="822960" y="1691640"/>
            <a:ext cx="3017520" cy="457200"/>
          </a:xfrm>
          <a:prstGeom prst="rect">
            <a:avLst/>
          </a:prstGeom>
          <a:noFill/>
          <a:ln/>
        </p:spPr>
        <p:txBody>
          <a:bodyPr wrap="square" lIns="0" tIns="0" rIns="0" bIns="0" rtlCol="0" anchor="t"/>
          <a:lstStyle/>
          <a:p>
            <a:pPr indent="0" marL="0">
              <a:buNone/>
            </a:pPr>
            <a:r>
              <a:rPr lang="en-US" sz="2200" b="1" dirty="0">
                <a:solidFill>
                  <a:schemeClr val="bg1"/>
                </a:solidFill>
              </a:rPr>
              <a:t>Faisable</a:t>
            </a:r>
            <a:endParaRPr lang="en-US" sz="2200" dirty="0"/>
          </a:p>
        </p:txBody>
      </p:sp>
      <p:sp>
        <p:nvSpPr>
          <p:cNvPr id="5" name="bilan-texte-0"/>
          <p:cNvSpPr txBox="1"/>
          <p:nvPr/>
        </p:nvSpPr>
        <p:spPr>
          <a:xfrm>
            <a:off x="822960" y="2240280"/>
            <a:ext cx="3017520" cy="1280160"/>
          </a:xfrm>
          <a:prstGeom prst="rect">
            <a:avLst/>
          </a:prstGeom>
          <a:noFill/>
          <a:ln/>
        </p:spPr>
        <p:txBody>
          <a:bodyPr wrap="square" lIns="0" tIns="0" rIns="0" bIns="0" rtlCol="0" anchor="t"/>
          <a:lstStyle/>
          <a:p>
            <a:pPr indent="0" marL="0">
              <a:buNone/>
            </a:pPr>
            <a:r>
              <a:rPr lang="en-US" sz="1500" dirty="0">
                <a:solidFill>
                  <a:schemeClr val="accent6"/>
                </a:solidFill>
              </a:rPr>
              <a:t>L'API répond, le client résiste aux erreurs : 0,71 s et 53 Ko par image</a:t>
            </a:r>
            <a:endParaRPr lang="en-US" sz="1500" dirty="0"/>
          </a:p>
        </p:txBody>
      </p:sp>
      <p:sp>
        <p:nvSpPr>
          <p:cNvPr id="6" name="bilan-carte-1"/>
          <p:cNvSpPr/>
          <p:nvPr/>
        </p:nvSpPr>
        <p:spPr>
          <a:xfrm>
            <a:off x="4297680" y="1463040"/>
            <a:ext cx="3520440" cy="2194560"/>
          </a:xfrm>
          <a:prstGeom prst="roundRect">
            <a:avLst>
              <a:gd name="adj" fmla="val 5000"/>
            </a:avLst>
          </a:prstGeom>
          <a:solidFill>
            <a:srgbClr val="2C3D5E"/>
          </a:solidFill>
          <a:ln w="12700">
            <a:solidFill>
              <a:srgbClr val="2C3D5E"/>
            </a:solidFill>
            <a:prstDash val="solid"/>
          </a:ln>
        </p:spPr>
      </p:sp>
      <p:sp>
        <p:nvSpPr>
          <p:cNvPr id="7" name="bilan-titre-1"/>
          <p:cNvSpPr txBox="1"/>
          <p:nvPr/>
        </p:nvSpPr>
        <p:spPr>
          <a:xfrm>
            <a:off x="4572000" y="1691640"/>
            <a:ext cx="3017520" cy="457200"/>
          </a:xfrm>
          <a:prstGeom prst="rect">
            <a:avLst/>
          </a:prstGeom>
          <a:noFill/>
          <a:ln/>
        </p:spPr>
        <p:txBody>
          <a:bodyPr wrap="square" lIns="0" tIns="0" rIns="0" bIns="0" rtlCol="0" anchor="t"/>
          <a:lstStyle/>
          <a:p>
            <a:pPr indent="0" marL="0">
              <a:buNone/>
            </a:pPr>
            <a:r>
              <a:rPr lang="en-US" sz="2200" b="1" dirty="0">
                <a:solidFill>
                  <a:schemeClr val="bg1"/>
                </a:solidFill>
              </a:rPr>
              <a:t>Prometteur</a:t>
            </a:r>
            <a:endParaRPr lang="en-US" sz="2200" dirty="0"/>
          </a:p>
        </p:txBody>
      </p:sp>
      <p:sp>
        <p:nvSpPr>
          <p:cNvPr id="8" name="bilan-texte-1"/>
          <p:cNvSpPr txBox="1"/>
          <p:nvPr/>
        </p:nvSpPr>
        <p:spPr>
          <a:xfrm>
            <a:off x="4572000" y="2240280"/>
            <a:ext cx="3017520" cy="1280160"/>
          </a:xfrm>
          <a:prstGeom prst="rect">
            <a:avLst/>
          </a:prstGeom>
          <a:noFill/>
          <a:ln/>
        </p:spPr>
        <p:txBody>
          <a:bodyPr wrap="square" lIns="0" tIns="0" rIns="0" bIns="0" rtlCol="0" anchor="t"/>
          <a:lstStyle/>
          <a:p>
            <a:pPr indent="0" marL="0">
              <a:buNone/>
            </a:pPr>
            <a:r>
              <a:rPr lang="en-US" sz="1500" dirty="0">
                <a:solidFill>
                  <a:schemeClr val="accent6"/>
                </a:solidFill>
              </a:rPr>
              <a:t>mIoU vêtements 0,79, à confirmer : ces images sont déjà connues du modèle</a:t>
            </a:r>
            <a:endParaRPr lang="en-US" sz="1500" dirty="0"/>
          </a:p>
        </p:txBody>
      </p:sp>
      <p:sp>
        <p:nvSpPr>
          <p:cNvPr id="9" name="bilan-carte-2"/>
          <p:cNvSpPr/>
          <p:nvPr/>
        </p:nvSpPr>
        <p:spPr>
          <a:xfrm>
            <a:off x="8046720" y="1463040"/>
            <a:ext cx="3520440" cy="2194560"/>
          </a:xfrm>
          <a:prstGeom prst="roundRect">
            <a:avLst>
              <a:gd name="adj" fmla="val 5000"/>
            </a:avLst>
          </a:prstGeom>
          <a:solidFill>
            <a:srgbClr val="2C3D5E"/>
          </a:solidFill>
          <a:ln w="12700">
            <a:solidFill>
              <a:srgbClr val="2C3D5E"/>
            </a:solidFill>
            <a:prstDash val="solid"/>
          </a:ln>
        </p:spPr>
      </p:sp>
      <p:sp>
        <p:nvSpPr>
          <p:cNvPr id="10" name="bilan-titre-2"/>
          <p:cNvSpPr txBox="1"/>
          <p:nvPr/>
        </p:nvSpPr>
        <p:spPr>
          <a:xfrm>
            <a:off x="8321040" y="1691640"/>
            <a:ext cx="3017520" cy="457200"/>
          </a:xfrm>
          <a:prstGeom prst="rect">
            <a:avLst/>
          </a:prstGeom>
          <a:noFill/>
          <a:ln/>
        </p:spPr>
        <p:txBody>
          <a:bodyPr wrap="square" lIns="0" tIns="0" rIns="0" bIns="0" rtlCol="0" anchor="t"/>
          <a:lstStyle/>
          <a:p>
            <a:pPr indent="0" marL="0">
              <a:buNone/>
            </a:pPr>
            <a:r>
              <a:rPr lang="en-US" sz="2200" b="1" dirty="0">
                <a:solidFill>
                  <a:schemeClr val="bg1"/>
                </a:solidFill>
              </a:rPr>
              <a:t>Peu coûteux</a:t>
            </a:r>
            <a:endParaRPr lang="en-US" sz="2200" dirty="0"/>
          </a:p>
        </p:txBody>
      </p:sp>
      <p:sp>
        <p:nvSpPr>
          <p:cNvPr id="11" name="bilan-texte-2"/>
          <p:cNvSpPr txBox="1"/>
          <p:nvPr/>
        </p:nvSpPr>
        <p:spPr>
          <a:xfrm>
            <a:off x="8321040" y="2240280"/>
            <a:ext cx="3017520" cy="1280160"/>
          </a:xfrm>
          <a:prstGeom prst="rect">
            <a:avLst/>
          </a:prstGeom>
          <a:noFill/>
          <a:ln/>
        </p:spPr>
        <p:txBody>
          <a:bodyPr wrap="square" lIns="0" tIns="0" rIns="0" bIns="0" rtlCol="0" anchor="t"/>
          <a:lstStyle/>
          <a:p>
            <a:pPr indent="0" marL="0">
              <a:buNone/>
            </a:pPr>
            <a:r>
              <a:rPr lang="en-US" sz="1500" dirty="0">
                <a:solidFill>
                  <a:schemeClr val="accent6"/>
                </a:solidFill>
              </a:rPr>
              <a:t>Moins de 17 $ par mois en serverless pour 500 000 images</a:t>
            </a:r>
            <a:endParaRPr lang="en-US" sz="1500" dirty="0"/>
          </a:p>
        </p:txBody>
      </p:sp>
      <p:sp>
        <p:nvSpPr>
          <p:cNvPr id="12" name="etapes-titre"/>
          <p:cNvSpPr txBox="1"/>
          <p:nvPr/>
        </p:nvSpPr>
        <p:spPr>
          <a:xfrm>
            <a:off x="548640" y="4023360"/>
            <a:ext cx="5486400" cy="4572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Prochaines étapes</a:t>
            </a:r>
            <a:endParaRPr lang="en-US" sz="2200" dirty="0"/>
          </a:p>
        </p:txBody>
      </p:sp>
      <p:sp>
        <p:nvSpPr>
          <p:cNvPr id="13" name="etapes-liste"/>
          <p:cNvSpPr txBox="1"/>
          <p:nvPr/>
        </p:nvSpPr>
        <p:spPr>
          <a:xfrm>
            <a:off x="548640" y="4572000"/>
            <a:ext cx="11094415" cy="146304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1600" dirty="0">
                <a:solidFill>
                  <a:schemeClr val="bg1"/>
                </a:solidFill>
              </a:rPr>
              <a:t>Annoter 200 à 300 photos ModeTrends jamais vues, découpées par influenceur, et mesurer le vrai score</a:t>
            </a:r>
            <a:endParaRPr lang="en-US" sz="1600" dirty="0"/>
          </a:p>
          <a:p>
            <a:pPr marL="342900" indent="-342900">
              <a:spcAft>
                <a:spcPts val="800"/>
              </a:spcAft>
              <a:buSzPct val="100000"/>
              <a:buFont typeface="+mj-lt"/>
              <a:buAutoNum type="arabicPeriod" startAt="1"/>
            </a:pPr>
            <a:r>
              <a:rPr lang="en-US" sz="1600" dirty="0">
                <a:solidFill>
                  <a:schemeClr val="bg1"/>
                </a:solidFill>
              </a:rPr>
              <a:t>Préciser les classes ambiguës avec les équipes mode (robe, tunique, short)</a:t>
            </a:r>
            <a:endParaRPr lang="en-US" sz="1600" dirty="0"/>
          </a:p>
          <a:p>
            <a:pPr marL="342900" indent="-342900">
              <a:spcAft>
                <a:spcPts val="800"/>
              </a:spcAft>
              <a:buSzPct val="100000"/>
              <a:buFont typeface="+mj-lt"/>
              <a:buAutoNum type="arabicPeriod" startAt="1"/>
            </a:pPr>
            <a:r>
              <a:rPr lang="en-US" sz="1600" dirty="0">
                <a:solidFill>
                  <a:schemeClr val="bg1"/>
                </a:solidFill>
              </a:rPr>
              <a:t>Pilote serverless sur quelques milliers d'images pour mesurer la facture réelle</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Office Theme">
  <a:themeElements>
    <a:clrScheme name="Segmentation vêtements">
      <a:dk1>
        <a:srgbClr val="1B1B1A"/>
      </a:dk1>
      <a:lt1>
        <a:srgbClr val="FFFFFF"/>
      </a:lt1>
      <a:dk2>
        <a:srgbClr val="1E2A44"/>
      </a:dk2>
      <a:lt2>
        <a:srgbClr val="F1F3F8"/>
      </a:lt2>
      <a:accent1>
        <a:srgbClr val="2A78D6"/>
      </a:accent1>
      <a:accent2>
        <a:srgbClr val="EB6834"/>
      </a:accent2>
      <a:accent3>
        <a:srgbClr val="1BAF7A"/>
      </a:accent3>
      <a:accent4>
        <a:srgbClr val="52514E"/>
      </a:accent4>
      <a:accent5>
        <a:srgbClr val="86B6EF"/>
      </a:accent5>
      <a:accent6>
        <a:srgbClr val="DCE6F5"/>
      </a:accent6>
      <a:hlink>
        <a:srgbClr val="2A78D6"/>
      </a:hlink>
      <a:folHlink>
        <a:srgbClr val="6250D6"/>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Segmenter les vêtements par API : premier test</dc:title>
  <dc:subject>Corrigé P01 AI Engineer OpenClassrooms — ModeTrends</dc:subject>
  <dc:creator>PptxGenJS</dc:creator>
  <cp:lastModifiedBy>PptxGenJS</cp:lastModifiedBy>
  <cp:revision>1</cp:revision>
  <dcterms:created xsi:type="dcterms:W3CDTF">2026-10-24T22:19:22Z</dcterms:created>
  <dcterms:modified xsi:type="dcterms:W3CDTF">2026-10-24T22:19:22Z</dcterms:modified>
</cp:coreProperties>
</file>
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4d03dc-30a9-6ea6-4ebf-f93ac408a5f9}">
          <p14:sldIdLst>
            <p14:sldId id="256"/>
            <p14:sldId id="257"/>
          </p14:sldIdLst>
        </p14:section>
        <p14:section name="Données et base" id="{bb3025ec-5e94-21b9-8fa3-829e4961b91f}">
          <p14:sldIdLst>
            <p14:sldId id="258"/>
            <p14:sldId id="259"/>
            <p14:sldId id="260"/>
            <p14:sldId id="261"/>
            <p14:sldId id="262"/>
            <p14:sldId id="263"/>
          </p14:sldIdLst>
        </p14:section>
        <p14:section name="Les 12 besoins" id="{a2b87b5f-ad50-ab63-1bad-782280008d74}">
          <p14:sldIdLst>
            <p14:sldId id="264"/>
            <p14:sldId id="265"/>
            <p14:sldId id="266"/>
            <p14:sldId id="267"/>
            <p14:sldId id="268"/>
            <p14:sldId id="269"/>
            <p14:sldId id="270"/>
            <p14:sldId id="271"/>
            <p14:sldId id="272"/>
            <p14:sldId id="273"/>
            <p14:sldId id="274"/>
            <p14:sldId id="275"/>
            <p14:sldId id="276"/>
          </p14:sldIdLst>
        </p14:section>
        <p14:section name="Conclusion" id="{b5424696-fd9c-09bd-d797-b9cd25b05dce}">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Ventes par mois (toutes ventes)</a:t>
            </a:r>
          </a:p>
        </c:rich>
      </c:tx>
      <c:layout/>
      <c:overlay val="0"/>
    </c:title>
    <c:autoTitleDeleted val="0"/>
    <c:plotArea>
      <c:layout/>
      <c:barChart>
        <c:barDir val="col"/>
        <c:grouping val="clustered"/>
        <c:varyColors val="0"/>
        <c:ser>
          <c:idx val="0"/>
          <c:order val="0"/>
          <c:tx>
            <c:strRef>
              <c:f>Sheet1!$B$1</c:f>
              <c:strCache>
                <c:ptCount val="1"/>
                <c:pt idx="0">
                  <c:v>Ventes</c:v>
                </c:pt>
              </c:strCache>
            </c:strRef>
          </c:tx>
          <c:spPr>
            <a:solidFill>
              <a:srgbClr val="1F7A8C"/>
            </a:solidFill>
            <a:effectLst/>
          </c:spPr>
          <c:invertIfNegative val="0"/>
          <c:dLbls>
            <c:numFmt formatCode="# ##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2020-01</c:v>
                  </c:pt>
                  <c:pt idx="1">
                    <c:v>2020-02</c:v>
                  </c:pt>
                  <c:pt idx="2">
                    <c:v>2020-03</c:v>
                  </c:pt>
                  <c:pt idx="3">
                    <c:v>2020-04</c:v>
                  </c:pt>
                  <c:pt idx="4">
                    <c:v>2020-05</c:v>
                  </c:pt>
                  <c:pt idx="5">
                    <c:v>2020-06</c:v>
                  </c:pt>
                </c:lvl>
              </c:multiLvlStrCache>
            </c:multiLvlStrRef>
          </c:cat>
          <c:val>
            <c:numRef>
              <c:f>Sheet1!$B$2:$B$7</c:f>
              <c:numCache>
                <c:formatCode>General</c:formatCode>
                <c:ptCount val="6"/>
                <c:pt idx="0">
                  <c:v>6314</c:v>
                </c:pt>
                <c:pt idx="1">
                  <c:v>6144</c:v>
                </c:pt>
                <c:pt idx="2">
                  <c:v>4318</c:v>
                </c:pt>
                <c:pt idx="3">
                  <c:v>2611</c:v>
                </c:pt>
                <c:pt idx="4">
                  <c:v>7358</c:v>
                </c:pt>
                <c:pt idx="5">
                  <c:v>7424</c:v>
                </c:pt>
              </c:numCache>
            </c:numRef>
          </c:val>
        </c:ser>
        <c:dLbls>
          <c:numFmt formatCode="# ##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Laplace Immo veut savoir si une base SQL sur les ventes publiques (DVF) peut répondre aux questions de ses agences. Plan : le besoin, la préparation des données, la base, puis les 12 réponses.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POC est une preuve de faisabilité : un semestre de données, mais un schéma pensé pour en accueillir d'autres. Tout ce qui suit sert à répondre aux 12 besoins, présentés un par un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piège se démontre : convertir les codes en nombres fait disparaître les 251 ventes de Corse des jointures. La préparation est faite en Python dans le corrigé ; elle se fait aussi au tableur, avec les mêmes pièges.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dictionnaire est la colonne vertébrale du projet : il fixe le type et la règle de chaque champ avant d'écrire une ligne de SQL. Montrer code_departement en texte et code_postal rangé dans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figure est générée depuis sql/schema.sql : elle ne peut pas diverger de la base. Écart assumé avec l'ébauche fournie : le code postal est dans bien, pas dans commune (57 communes en ont plusieurs).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remplace la capture d'écran demandée : mêmes informations, exportées de la base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preuve que la base est complète avant d'interroger quoi que ce soit. Au bilan, lancer cette requête en direct dans SQLite 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Minimisation : on ne garde que ce qui sert. Pseudonymiser le nom n'aurait d'intérêt que pour suivre un acheteur dans le temps, ce que personne ne demande. Côté sauvegarde, insister sur le test de restauration.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sql/requetes/01_appartements_vendus.sql. COUNT(*) sur les appartements, ventes sans valeur foncière comprises : une vente reste une vente.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sql/requetes/02_ventes_appartements_par_region.sql. 17 régions sur 19 apparaissent : les deux autres sont dans la table region mais sans vente dans l'extrait.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sql/requetes/03_proportion_par_nombre_de_pieces.sql. Le dénominateur est le nombre de ventes d'appartements, calculé dans une sous-requête.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sql/requetes/04_top10_departements_prix_m2.sql. Avec la médiane, la Gironde sort et la Charente-Maritime entre. Prix au m² = valeur foncière / surface Carrez.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sql/requetes/05_prix_m2_maison_ile_de_france.sql. Filtre sur id_region = '11' : le référentiel écrit « Ile-de-France » sans accent, un filtre sur le nom serait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sql/requetes/06_top10_appartements_plus_chers.sql. Même doute pour Corbeil-Essonnes (8,6 M€ pour 64 m²). Impossible de trancher avec ces données : un analyste le 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sql/requetes/07_evolution_ventes_t1_t2.sql. La chute coïncide avec le premier confinement (17 mars - 11 mai). La date DVF est celle de l'acte notarié : le rebond peut refléter des signatures reportées. +3,87 % pour les seuls appartements.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sql/requetes/08_regions_prix_m2_appartements_plus_de_4_pieces.sql. Parmi les régions avec au moins 30 ventes : Île-de-France, PACA, Auvergne-Rhône-Alpes, Nouvelle-Aquitaine. Avec « 4 pièces et plus », une seule vente aberrante (1,31 m² Carrez à Orléans) fait passer le Centre-Val de Loire de 1 453 à plus de 3 300 €/m².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sql/requetes/09_communes_50_ventes_t1.sql. Groupement par clé commune et non par nom : 15 noms de communes sont des homonymes dans DVF.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sql/requetes/10_ecart_prix_m2_2_et_3_pieces.sql. À Paris seul, l'écart disparaît presque. Le sens du calcul compte : vu depuis le 3 pièces, le 2 pièces est 14,2 % plus cher. Médiane : −13,9 %.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sql/requetes/11_top3_communes_par_departement.sql. Deux CTE : la moyenne par commune, puis le rang dans le département.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sql/requetes/11_top3_communes_par_departement.sql. Départements 06, 13, 33, 59, 69. RANK() dans une fonction de fenêtre, partitionnée par département.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Fichier sql/requetes/12_transactions_pour_1000_habitants.sql. Le ratio ne compare les communes qu'à l'intérieur de l'extrait : ce n'est pas un taux de transactions réel. Avec la population totale (PTOT), ce sont les mêmes 20 communes.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médianes viennent du notebook corrigé (SQLite n'a pas de fonction médiane). Trois messages, pas douze : c'est ce que la direction retiendra.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les prochaines étapes, puis passer à la démonstration en direct des requêtes.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3611880"/>
            <a:ext cx="1051560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Laplace Immo · POC DATAImmo</a:t>
            </a:r>
            <a:endParaRPr lang="en-US" sz="1000" dirty="0"/>
          </a:p>
        </p:txBody>
      </p:sp>
      <p:sp>
        <p:nvSpPr>
          <p:cNvPr id="3" name="Text 1"/>
          <p:cNvSpPr/>
          <p:nvPr>
            <p:ph idx="101" type="title" hasCustomPrompt="1"/>
          </p:nvPr>
        </p:nvSpPr>
        <p:spPr>
          <a:xfrm>
            <a:off x="548640" y="320040"/>
            <a:ext cx="11094415" cy="73152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4" name="Text 1"/>
          <p:cNvSpPr/>
          <p:nvPr>
            <p:ph idx="102" type="body" hasCustomPrompt="1"/>
          </p:nvPr>
        </p:nvSpPr>
        <p:spPr>
          <a:xfrm>
            <a:off x="548640" y="1051560"/>
            <a:ext cx="11094415" cy="457200"/>
          </a:xfrm>
          <a:prstGeom prst="rect">
            <a:avLst/>
          </a:prstGeom>
          <a:noFill/>
          <a:ln/>
        </p:spPr>
        <p:txBody>
          <a:bodyPr wrap="square" rtlCol="0"/>
          <a:lstStyle>
            <a:lvl1pPr indent="0" marL="0">
              <a:buNone/>
              <a:defRPr lang="en-US" sz="1700" dirty="0">
                <a:solidFill>
                  <a:schemeClr val="accent4"/>
                </a:solidFill>
              </a:defRPr>
            </a:lvl1pPr>
          </a:lstStyle>
          <a:p>
            <a:pPr indent="0" marL="0">
              <a:buNone/>
            </a:pP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nchor="b"/>
          <a:lstStyle/>
          <a:p>
            <a:pPr indent="0" marL="0">
              <a:buNone/>
            </a:pPr>
            <a:r>
              <a:rPr lang="en-US" sz="4400" b="1" dirty="0">
                <a:solidFill>
                  <a:schemeClr val="bg1"/>
                </a:solidFill>
              </a:rPr>
              <a:t>DATAImmo : une base SQL des ventes immobilières</a:t>
            </a:r>
            <a:endParaRPr lang="en-US" sz="4400" dirty="0"/>
          </a:p>
        </p:txBody>
      </p:sp>
      <p:sp>
        <p:nvSpPr>
          <p:cNvPr id="3" name="Text 0"/>
          <p:cNvSpPr/>
          <p:nvPr>
            <p:ph idx="101" type="body" hasCustomPrompt="1"/>
          </p:nvPr>
        </p:nvSpPr>
        <p:spPr>
          <a:xfrm>
            <a:off x="548640" y="3611880"/>
            <a:ext cx="10515600" cy="1097280"/>
          </a:xfrm>
          <a:prstGeom prst="rect">
            <a:avLst/>
          </a:prstGeom>
          <a:noFill/>
          <a:ln/>
        </p:spPr>
        <p:txBody>
          <a:bodyPr wrap="square" rtlCol="0" anchor="t"/>
          <a:lstStyle/>
          <a:p>
            <a:pPr indent="0" marL="0">
              <a:buNone/>
            </a:pPr>
            <a:r>
              <a:rPr lang="en-US" sz="2000" dirty="0">
                <a:solidFill>
                  <a:schemeClr val="accent6"/>
                </a:solidFill>
              </a:rPr>
              <a:t>34 169 ventes du 1er semestre 2020, une base relationnelle conforme au RGPD, 12 questions métier</a:t>
            </a:r>
            <a:endParaRPr lang="en-US" sz="2000" dirty="0"/>
          </a:p>
        </p:txBody>
      </p:sp>
      <p:sp>
        <p:nvSpPr>
          <p:cNvPr id="4" name="mention-corrige"/>
          <p:cNvSpPr txBox="1"/>
          <p:nvPr/>
        </p:nvSpPr>
        <p:spPr>
          <a:xfrm>
            <a:off x="548640" y="6035040"/>
            <a:ext cx="10515600" cy="365760"/>
          </a:xfrm>
          <a:prstGeom prst="rect">
            <a:avLst/>
          </a:prstGeom>
          <a:noFill/>
          <a:ln/>
        </p:spPr>
        <p:txBody>
          <a:bodyPr wrap="square" lIns="0" tIns="0" rIns="0" bIns="0" rtlCol="0" anchor="t"/>
          <a:lstStyle/>
          <a:p>
            <a:pPr indent="0" marL="0">
              <a:buNone/>
            </a:pPr>
            <a:r>
              <a:rPr lang="en-US" sz="1200" dirty="0">
                <a:solidFill>
                  <a:schemeClr val="accent6"/>
                </a:solidFill>
              </a:rPr>
              <a:t>Corrigé de référence — projet OpenClassrooms « Entraînez-vous avec SQL et créez votre BDD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Le POC demandé par Laplace Immo</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Une base relationnelle propre, conforme au RGPD, qui répond aux 12 besoins de la réunion</a:t>
            </a:r>
            <a:endParaRPr lang="en-US" sz="1700" dirty="0"/>
          </a:p>
        </p:txBody>
      </p:sp>
      <p:sp>
        <p:nvSpPr>
          <p:cNvPr id="4" name="carte-besoin-0"/>
          <p:cNvSpPr/>
          <p:nvPr/>
        </p:nvSpPr>
        <p:spPr>
          <a:xfrm>
            <a:off x="548640" y="1828800"/>
            <a:ext cx="5394960" cy="1645920"/>
          </a:xfrm>
          <a:prstGeom prst="roundRect">
            <a:avLst>
              <a:gd name="adj" fmla="val 6667"/>
            </a:avLst>
          </a:prstGeom>
          <a:solidFill>
            <a:schemeClr val="bg2"/>
          </a:solidFill>
          <a:ln w="12700">
            <a:solidFill>
              <a:schemeClr val="bg2"/>
            </a:solidFill>
            <a:prstDash val="solid"/>
          </a:ln>
        </p:spPr>
      </p:sp>
      <p:sp>
        <p:nvSpPr>
          <p:cNvPr id="5" name="besoin-titre-0"/>
          <p:cNvSpPr txBox="1"/>
          <p:nvPr/>
        </p:nvSpPr>
        <p:spPr>
          <a:xfrm>
            <a:off x="868680" y="2057400"/>
            <a:ext cx="47548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Qui ?</a:t>
            </a:r>
            <a:endParaRPr lang="en-US" sz="2200" dirty="0"/>
          </a:p>
        </p:txBody>
      </p:sp>
      <p:sp>
        <p:nvSpPr>
          <p:cNvPr id="6" name="besoin-texte-0"/>
          <p:cNvSpPr txBox="1"/>
          <p:nvPr/>
        </p:nvSpPr>
        <p:spPr>
          <a:xfrm>
            <a:off x="868680" y="2560320"/>
            <a:ext cx="4754880" cy="822960"/>
          </a:xfrm>
          <a:prstGeom prst="rect">
            <a:avLst/>
          </a:prstGeom>
          <a:noFill/>
          <a:ln/>
        </p:spPr>
        <p:txBody>
          <a:bodyPr wrap="square" lIns="0" tIns="0" rIns="0" bIns="0" rtlCol="0" anchor="t"/>
          <a:lstStyle/>
          <a:p>
            <a:pPr indent="0" marL="0">
              <a:buNone/>
            </a:pPr>
            <a:r>
              <a:rPr lang="en-US" sz="1600" dirty="0">
                <a:solidFill>
                  <a:schemeClr val="tx1"/>
                </a:solidFill>
              </a:rPr>
              <a:t>Laplace Immo, réseau national d'agences immobilières, qui veut suivre le marché</a:t>
            </a:r>
            <a:endParaRPr lang="en-US" sz="1600" dirty="0"/>
          </a:p>
        </p:txBody>
      </p:sp>
      <p:sp>
        <p:nvSpPr>
          <p:cNvPr id="7" name="carte-besoin-1"/>
          <p:cNvSpPr/>
          <p:nvPr/>
        </p:nvSpPr>
        <p:spPr>
          <a:xfrm>
            <a:off x="6172200" y="1828800"/>
            <a:ext cx="5394960" cy="1645920"/>
          </a:xfrm>
          <a:prstGeom prst="roundRect">
            <a:avLst>
              <a:gd name="adj" fmla="val 6667"/>
            </a:avLst>
          </a:prstGeom>
          <a:solidFill>
            <a:schemeClr val="bg2"/>
          </a:solidFill>
          <a:ln w="12700">
            <a:solidFill>
              <a:schemeClr val="bg2"/>
            </a:solidFill>
            <a:prstDash val="solid"/>
          </a:ln>
        </p:spPr>
      </p:sp>
      <p:sp>
        <p:nvSpPr>
          <p:cNvPr id="8" name="besoin-titre-1"/>
          <p:cNvSpPr txBox="1"/>
          <p:nvPr/>
        </p:nvSpPr>
        <p:spPr>
          <a:xfrm>
            <a:off x="6492240" y="2057400"/>
            <a:ext cx="47548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Quoi ?</a:t>
            </a:r>
            <a:endParaRPr lang="en-US" sz="2200" dirty="0"/>
          </a:p>
        </p:txBody>
      </p:sp>
      <p:sp>
        <p:nvSpPr>
          <p:cNvPr id="9" name="besoin-texte-1"/>
          <p:cNvSpPr txBox="1"/>
          <p:nvPr/>
        </p:nvSpPr>
        <p:spPr>
          <a:xfrm>
            <a:off x="6492240" y="2560320"/>
            <a:ext cx="4754880" cy="822960"/>
          </a:xfrm>
          <a:prstGeom prst="rect">
            <a:avLst/>
          </a:prstGeom>
          <a:noFill/>
          <a:ln/>
        </p:spPr>
        <p:txBody>
          <a:bodyPr wrap="square" lIns="0" tIns="0" rIns="0" bIns="0" rtlCol="0" anchor="t"/>
          <a:lstStyle/>
          <a:p>
            <a:pPr indent="0" marL="0">
              <a:buNone/>
            </a:pPr>
            <a:r>
              <a:rPr lang="en-US" sz="1600" dirty="0">
                <a:solidFill>
                  <a:schemeClr val="tx1"/>
                </a:solidFill>
              </a:rPr>
              <a:t>Les ventes de logements du 1er semestre 2020 (DVF), enrichies des communes et des régions</a:t>
            </a:r>
            <a:endParaRPr lang="en-US" sz="1600" dirty="0"/>
          </a:p>
        </p:txBody>
      </p:sp>
      <p:sp>
        <p:nvSpPr>
          <p:cNvPr id="10" name="carte-besoin-2"/>
          <p:cNvSpPr/>
          <p:nvPr/>
        </p:nvSpPr>
        <p:spPr>
          <a:xfrm>
            <a:off x="548640" y="3657600"/>
            <a:ext cx="5394960" cy="1645920"/>
          </a:xfrm>
          <a:prstGeom prst="roundRect">
            <a:avLst>
              <a:gd name="adj" fmla="val 6667"/>
            </a:avLst>
          </a:prstGeom>
          <a:solidFill>
            <a:schemeClr val="accent6"/>
          </a:solidFill>
          <a:ln w="12700">
            <a:solidFill>
              <a:schemeClr val="accent6"/>
            </a:solidFill>
            <a:prstDash val="solid"/>
          </a:ln>
        </p:spPr>
      </p:sp>
      <p:sp>
        <p:nvSpPr>
          <p:cNvPr id="11" name="besoin-titre-2"/>
          <p:cNvSpPr txBox="1"/>
          <p:nvPr/>
        </p:nvSpPr>
        <p:spPr>
          <a:xfrm>
            <a:off x="868680" y="3886200"/>
            <a:ext cx="47548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Comment ?</a:t>
            </a:r>
            <a:endParaRPr lang="en-US" sz="2200" dirty="0"/>
          </a:p>
        </p:txBody>
      </p:sp>
      <p:sp>
        <p:nvSpPr>
          <p:cNvPr id="12" name="besoin-texte-2"/>
          <p:cNvSpPr txBox="1"/>
          <p:nvPr/>
        </p:nvSpPr>
        <p:spPr>
          <a:xfrm>
            <a:off x="868680" y="4389120"/>
            <a:ext cx="4754880" cy="822960"/>
          </a:xfrm>
          <a:prstGeom prst="rect">
            <a:avLst/>
          </a:prstGeom>
          <a:noFill/>
          <a:ln/>
        </p:spPr>
        <p:txBody>
          <a:bodyPr wrap="square" lIns="0" tIns="0" rIns="0" bIns="0" rtlCol="0" anchor="t"/>
          <a:lstStyle/>
          <a:p>
            <a:pPr indent="0" marL="0">
              <a:buNone/>
            </a:pPr>
            <a:r>
              <a:rPr lang="en-US" sz="1600" dirty="0">
                <a:solidFill>
                  <a:schemeClr val="tx1"/>
                </a:solidFill>
              </a:rPr>
              <a:t>Une base SQLite en 3ᵉ forme normale, chargée depuis des CSV, sans donnée personnelle inutile</a:t>
            </a:r>
            <a:endParaRPr lang="en-US" sz="1600" dirty="0"/>
          </a:p>
        </p:txBody>
      </p:sp>
      <p:sp>
        <p:nvSpPr>
          <p:cNvPr id="13" name="carte-besoin-3"/>
          <p:cNvSpPr/>
          <p:nvPr/>
        </p:nvSpPr>
        <p:spPr>
          <a:xfrm>
            <a:off x="6172200" y="3657600"/>
            <a:ext cx="5394960" cy="1645920"/>
          </a:xfrm>
          <a:prstGeom prst="roundRect">
            <a:avLst>
              <a:gd name="adj" fmla="val 6667"/>
            </a:avLst>
          </a:prstGeom>
          <a:solidFill>
            <a:schemeClr val="accent6"/>
          </a:solidFill>
          <a:ln w="12700">
            <a:solidFill>
              <a:schemeClr val="accent6"/>
            </a:solidFill>
            <a:prstDash val="solid"/>
          </a:ln>
        </p:spPr>
      </p:sp>
      <p:sp>
        <p:nvSpPr>
          <p:cNvPr id="14" name="besoin-titre-3"/>
          <p:cNvSpPr txBox="1"/>
          <p:nvPr/>
        </p:nvSpPr>
        <p:spPr>
          <a:xfrm>
            <a:off x="6492240" y="3886200"/>
            <a:ext cx="47548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Pour quoi ?</a:t>
            </a:r>
            <a:endParaRPr lang="en-US" sz="2200" dirty="0"/>
          </a:p>
        </p:txBody>
      </p:sp>
      <p:sp>
        <p:nvSpPr>
          <p:cNvPr id="15" name="besoin-texte-3"/>
          <p:cNvSpPr txBox="1"/>
          <p:nvPr/>
        </p:nvSpPr>
        <p:spPr>
          <a:xfrm>
            <a:off x="6492240" y="4389120"/>
            <a:ext cx="4754880" cy="822960"/>
          </a:xfrm>
          <a:prstGeom prst="rect">
            <a:avLst/>
          </a:prstGeom>
          <a:noFill/>
          <a:ln/>
        </p:spPr>
        <p:txBody>
          <a:bodyPr wrap="square" lIns="0" tIns="0" rIns="0" bIns="0" rtlCol="0" anchor="t"/>
          <a:lstStyle/>
          <a:p>
            <a:pPr indent="0" marL="0">
              <a:buNone/>
            </a:pPr>
            <a:r>
              <a:rPr lang="en-US" sz="1600" dirty="0">
                <a:solidFill>
                  <a:schemeClr val="tx1"/>
                </a:solidFill>
              </a:rPr>
              <a:t>12 besoins : volumes de ventes, prix au m², classements de départements, régions et communes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Trois fichiers, quatre pièges, quatre tables</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La préparation corrige ce qu'un import naïf aurait cassé</a:t>
            </a:r>
            <a:endParaRPr lang="en-US" sz="1700" dirty="0"/>
          </a:p>
        </p:txBody>
      </p:sp>
      <p:graphicFrame>
        <p:nvGraphicFramePr>
          <p:cNvPr id="4" name="table-sources"/>
          <p:cNvGraphicFramePr>
            <a:graphicFrameLocks noGrp="1"/>
          </p:cNvGraphicFramePr>
          <p:nvPr>
            <p:extLst>
              <p:ext uri="{D42A27DB-BD31-4B8C-83A1-F6EECF244321}">
                <p14:modId xmlns:p14="http://schemas.microsoft.com/office/powerpoint/2010/main" val="1579011935"/>
              </p:ext>
            </p:extLst>
          </p:nvPr>
        </p:nvGraphicFramePr>
        <p:xfrm>
          <a:off x="548640" y="1737360"/>
          <a:ext cx="5760720" cy="914400"/>
        </p:xfrm>
        <a:graphic>
          <a:graphicData uri="http://schemas.openxmlformats.org/drawingml/2006/table">
            <a:tbl>
              <a:tblPr/>
              <a:tblGrid>
                <a:gridCol w="1828800"/>
                <a:gridCol w="822960"/>
                <a:gridCol w="3108960"/>
              </a:tblGrid>
              <a:tr h="548640">
                <a:tc>
                  <a:txBody>
                    <a:bodyPr/>
                    <a:lstStyle/>
                    <a:p>
                      <a:pPr indent="0" marL="0">
                        <a:buNone/>
                      </a:pPr>
                      <a:r>
                        <a:rPr lang="en-US" sz="1300" b="1" dirty="0">
                          <a:solidFill>
                            <a:schemeClr val="bg1"/>
                          </a:solidFill>
                        </a:rPr>
                        <a:t>Fichier source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Lignes</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Ce qu'on en garde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548640">
                <a:tc>
                  <a:txBody>
                    <a:bodyPr/>
                    <a:lstStyle/>
                    <a:p>
                      <a:pPr indent="0" marL="0">
                        <a:buNone/>
                      </a:pPr>
                      <a:r>
                        <a:rPr lang="en-US" sz="1300" dirty="0">
                          <a:solidFill>
                            <a:schemeClr val="tx1"/>
                          </a:solidFill>
                        </a:rPr>
                        <a:t>Valeurs foncières (DVF)</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34 169</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la vente et le bien (17 colonnes vides et le nom de l'acquéreur écartés)</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548640">
                <a:tc>
                  <a:txBody>
                    <a:bodyPr/>
                    <a:lstStyle/>
                    <a:p>
                      <a:pPr indent="0" marL="0">
                        <a:buNone/>
                      </a:pPr>
                      <a:r>
                        <a:rPr lang="en-US" sz="1300" dirty="0">
                          <a:solidFill>
                            <a:schemeClr val="tx1"/>
                          </a:solidFill>
                        </a:rPr>
                        <a:t>Données communes (INSEE)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34 991</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la population municipale de chaque commune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548640">
                <a:tc>
                  <a:txBody>
                    <a:bodyPr/>
                    <a:lstStyle/>
                    <a:p>
                      <a:pPr indent="0" marL="0">
                        <a:buNone/>
                      </a:pPr>
                      <a:r>
                        <a:rPr lang="en-US" sz="1300" dirty="0">
                          <a:solidFill>
                            <a:schemeClr val="tx1"/>
                          </a:solidFill>
                        </a:rPr>
                        <a:t>Référentiel géographique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38 916</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le lien commune → département → région (19 régions)</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5" name="carte-piege-0"/>
          <p:cNvSpPr/>
          <p:nvPr/>
        </p:nvSpPr>
        <p:spPr>
          <a:xfrm>
            <a:off x="6583680" y="1737360"/>
            <a:ext cx="5056632" cy="804672"/>
          </a:xfrm>
          <a:prstGeom prst="roundRect">
            <a:avLst>
              <a:gd name="adj" fmla="val 13636"/>
            </a:avLst>
          </a:prstGeom>
          <a:solidFill>
            <a:schemeClr val="bg2"/>
          </a:solidFill>
          <a:ln w="12700">
            <a:solidFill>
              <a:schemeClr val="bg2"/>
            </a:solidFill>
            <a:prstDash val="solid"/>
          </a:ln>
        </p:spPr>
      </p:sp>
      <p:sp>
        <p:nvSpPr>
          <p:cNvPr id="6" name="piege-titre-0"/>
          <p:cNvSpPr txBox="1"/>
          <p:nvPr/>
        </p:nvSpPr>
        <p:spPr>
          <a:xfrm>
            <a:off x="6812280" y="1828800"/>
            <a:ext cx="4663440" cy="320040"/>
          </a:xfrm>
          <a:prstGeom prst="rect">
            <a:avLst/>
          </a:prstGeom>
          <a:noFill/>
          <a:ln/>
        </p:spPr>
        <p:txBody>
          <a:bodyPr wrap="square" lIns="0" tIns="0" rIns="0" bIns="0" rtlCol="0" anchor="t"/>
          <a:lstStyle/>
          <a:p>
            <a:pPr indent="0" marL="0">
              <a:buNone/>
            </a:pPr>
            <a:r>
              <a:rPr lang="en-US" sz="1500" b="1" dirty="0">
                <a:solidFill>
                  <a:schemeClr val="tx2"/>
                </a:solidFill>
              </a:rPr>
              <a:t>Les codes sont du texte</a:t>
            </a:r>
            <a:endParaRPr lang="en-US" sz="1500" dirty="0"/>
          </a:p>
        </p:txBody>
      </p:sp>
      <p:sp>
        <p:nvSpPr>
          <p:cNvPr id="7" name="piege-texte-0"/>
          <p:cNvSpPr txBox="1"/>
          <p:nvPr/>
        </p:nvSpPr>
        <p:spPr>
          <a:xfrm>
            <a:off x="6812280" y="2148840"/>
            <a:ext cx="4663440" cy="365760"/>
          </a:xfrm>
          <a:prstGeom prst="rect">
            <a:avLst/>
          </a:prstGeom>
          <a:noFill/>
          <a:ln/>
        </p:spPr>
        <p:txBody>
          <a:bodyPr wrap="square" lIns="0" tIns="0" rIns="0" bIns="0" rtlCol="0" anchor="t"/>
          <a:lstStyle/>
          <a:p>
            <a:pPr indent="0" marL="0">
              <a:buNone/>
            </a:pPr>
            <a:r>
              <a:rPr lang="en-US" sz="1300" dirty="0">
                <a:solidFill>
                  <a:schemeClr val="tx1"/>
                </a:solidFill>
              </a:rPr>
              <a:t>« 2A », « 2B », « 01 » : en nombre, la Corse et les zéros disparaissent</a:t>
            </a:r>
            <a:endParaRPr lang="en-US" sz="1300" dirty="0"/>
          </a:p>
        </p:txBody>
      </p:sp>
      <p:sp>
        <p:nvSpPr>
          <p:cNvPr id="8" name="carte-piege-1"/>
          <p:cNvSpPr/>
          <p:nvPr/>
        </p:nvSpPr>
        <p:spPr>
          <a:xfrm>
            <a:off x="6583680" y="2651760"/>
            <a:ext cx="5056632" cy="804672"/>
          </a:xfrm>
          <a:prstGeom prst="roundRect">
            <a:avLst>
              <a:gd name="adj" fmla="val 13636"/>
            </a:avLst>
          </a:prstGeom>
          <a:solidFill>
            <a:schemeClr val="bg2"/>
          </a:solidFill>
          <a:ln w="12700">
            <a:solidFill>
              <a:schemeClr val="bg2"/>
            </a:solidFill>
            <a:prstDash val="solid"/>
          </a:ln>
        </p:spPr>
      </p:sp>
      <p:sp>
        <p:nvSpPr>
          <p:cNvPr id="9" name="piege-titre-1"/>
          <p:cNvSpPr txBox="1"/>
          <p:nvPr/>
        </p:nvSpPr>
        <p:spPr>
          <a:xfrm>
            <a:off x="6812280" y="2743200"/>
            <a:ext cx="4663440" cy="320040"/>
          </a:xfrm>
          <a:prstGeom prst="rect">
            <a:avLst/>
          </a:prstGeom>
          <a:noFill/>
          <a:ln/>
        </p:spPr>
        <p:txBody>
          <a:bodyPr wrap="square" lIns="0" tIns="0" rIns="0" bIns="0" rtlCol="0" anchor="t"/>
          <a:lstStyle/>
          <a:p>
            <a:pPr indent="0" marL="0">
              <a:buNone/>
            </a:pPr>
            <a:r>
              <a:rPr lang="en-US" sz="1500" b="1" dirty="0">
                <a:solidFill>
                  <a:schemeClr val="tx2"/>
                </a:solidFill>
              </a:rPr>
              <a:t>Le code postal décrit l'adresse</a:t>
            </a:r>
            <a:endParaRPr lang="en-US" sz="1500" dirty="0"/>
          </a:p>
        </p:txBody>
      </p:sp>
      <p:sp>
        <p:nvSpPr>
          <p:cNvPr id="10" name="piege-texte-1"/>
          <p:cNvSpPr txBox="1"/>
          <p:nvPr/>
        </p:nvSpPr>
        <p:spPr>
          <a:xfrm>
            <a:off x="6812280" y="3063240"/>
            <a:ext cx="4663440" cy="365760"/>
          </a:xfrm>
          <a:prstGeom prst="rect">
            <a:avLst/>
          </a:prstGeom>
          <a:noFill/>
          <a:ln/>
        </p:spPr>
        <p:txBody>
          <a:bodyPr wrap="square" lIns="0" tIns="0" rIns="0" bIns="0" rtlCol="0" anchor="t"/>
          <a:lstStyle/>
          <a:p>
            <a:pPr indent="0" marL="0">
              <a:buNone/>
            </a:pPr>
            <a:r>
              <a:rPr lang="en-US" sz="1300" dirty="0">
                <a:solidFill>
                  <a:schemeClr val="tx1"/>
                </a:solidFill>
              </a:rPr>
              <a:t>Nice en a 4, 05100 couvre 3 communes : il va dans bien</a:t>
            </a:r>
            <a:endParaRPr lang="en-US" sz="1300" dirty="0"/>
          </a:p>
        </p:txBody>
      </p:sp>
      <p:sp>
        <p:nvSpPr>
          <p:cNvPr id="11" name="carte-piege-2"/>
          <p:cNvSpPr/>
          <p:nvPr/>
        </p:nvSpPr>
        <p:spPr>
          <a:xfrm>
            <a:off x="6583680" y="3566160"/>
            <a:ext cx="5056632" cy="804672"/>
          </a:xfrm>
          <a:prstGeom prst="roundRect">
            <a:avLst>
              <a:gd name="adj" fmla="val 13636"/>
            </a:avLst>
          </a:prstGeom>
          <a:solidFill>
            <a:schemeClr val="bg2"/>
          </a:solidFill>
          <a:ln w="12700">
            <a:solidFill>
              <a:schemeClr val="bg2"/>
            </a:solidFill>
            <a:prstDash val="solid"/>
          </a:ln>
        </p:spPr>
      </p:sp>
      <p:sp>
        <p:nvSpPr>
          <p:cNvPr id="12" name="piege-titre-2"/>
          <p:cNvSpPr txBox="1"/>
          <p:nvPr/>
        </p:nvSpPr>
        <p:spPr>
          <a:xfrm>
            <a:off x="6812280" y="3657600"/>
            <a:ext cx="4663440" cy="320040"/>
          </a:xfrm>
          <a:prstGeom prst="rect">
            <a:avLst/>
          </a:prstGeom>
          <a:noFill/>
          <a:ln/>
        </p:spPr>
        <p:txBody>
          <a:bodyPr wrap="square" lIns="0" tIns="0" rIns="0" bIns="0" rtlCol="0" anchor="t"/>
          <a:lstStyle/>
          <a:p>
            <a:pPr indent="0" marL="0">
              <a:buNone/>
            </a:pPr>
            <a:r>
              <a:rPr lang="en-US" sz="1500" b="1" dirty="0">
                <a:solidFill>
                  <a:schemeClr val="tx2"/>
                </a:solidFill>
              </a:rPr>
              <a:t>Des noms abîmés</a:t>
            </a:r>
            <a:endParaRPr lang="en-US" sz="1500" dirty="0"/>
          </a:p>
        </p:txBody>
      </p:sp>
      <p:sp>
        <p:nvSpPr>
          <p:cNvPr id="13" name="piege-texte-2"/>
          <p:cNvSpPr txBox="1"/>
          <p:nvPr/>
        </p:nvSpPr>
        <p:spPr>
          <a:xfrm>
            <a:off x="6812280" y="3977640"/>
            <a:ext cx="4663440" cy="365760"/>
          </a:xfrm>
          <a:prstGeom prst="rect">
            <a:avLst/>
          </a:prstGeom>
          <a:noFill/>
          <a:ln/>
        </p:spPr>
        <p:txBody>
          <a:bodyPr wrap="square" lIns="0" tIns="0" rIns="0" bIns="0" rtlCol="0" anchor="t"/>
          <a:lstStyle/>
          <a:p>
            <a:pPr indent="0" marL="0">
              <a:buNone/>
            </a:pPr>
            <a:r>
              <a:rPr lang="en-US" sz="1300" dirty="0">
                <a:solidFill>
                  <a:schemeClr val="tx1"/>
                </a:solidFill>
              </a:rPr>
              <a:t>« SchÅ“lcher » réparé en « Schœlcher » (24 communes)</a:t>
            </a:r>
            <a:endParaRPr lang="en-US" sz="1300" dirty="0"/>
          </a:p>
        </p:txBody>
      </p:sp>
      <p:sp>
        <p:nvSpPr>
          <p:cNvPr id="14" name="carte-piege-3"/>
          <p:cNvSpPr/>
          <p:nvPr/>
        </p:nvSpPr>
        <p:spPr>
          <a:xfrm>
            <a:off x="6583680" y="4480560"/>
            <a:ext cx="5056632" cy="804672"/>
          </a:xfrm>
          <a:prstGeom prst="roundRect">
            <a:avLst>
              <a:gd name="adj" fmla="val 13636"/>
            </a:avLst>
          </a:prstGeom>
          <a:solidFill>
            <a:schemeClr val="bg2"/>
          </a:solidFill>
          <a:ln w="12700">
            <a:solidFill>
              <a:schemeClr val="bg2"/>
            </a:solidFill>
            <a:prstDash val="solid"/>
          </a:ln>
        </p:spPr>
      </p:sp>
      <p:sp>
        <p:nvSpPr>
          <p:cNvPr id="15" name="piege-titre-3"/>
          <p:cNvSpPr txBox="1"/>
          <p:nvPr/>
        </p:nvSpPr>
        <p:spPr>
          <a:xfrm>
            <a:off x="6812280" y="4572000"/>
            <a:ext cx="4663440" cy="320040"/>
          </a:xfrm>
          <a:prstGeom prst="rect">
            <a:avLst/>
          </a:prstGeom>
          <a:noFill/>
          <a:ln/>
        </p:spPr>
        <p:txBody>
          <a:bodyPr wrap="square" lIns="0" tIns="0" rIns="0" bIns="0" rtlCol="0" anchor="t"/>
          <a:lstStyle/>
          <a:p>
            <a:pPr indent="0" marL="0">
              <a:buNone/>
            </a:pPr>
            <a:r>
              <a:rPr lang="en-US" sz="1500" b="1" dirty="0">
                <a:solidFill>
                  <a:schemeClr val="tx2"/>
                </a:solidFill>
              </a:rPr>
              <a:t>Des vides qui comptent</a:t>
            </a:r>
            <a:endParaRPr lang="en-US" sz="1500" dirty="0"/>
          </a:p>
        </p:txBody>
      </p:sp>
      <p:sp>
        <p:nvSpPr>
          <p:cNvPr id="16" name="piege-texte-3"/>
          <p:cNvSpPr txBox="1"/>
          <p:nvPr/>
        </p:nvSpPr>
        <p:spPr>
          <a:xfrm>
            <a:off x="6812280" y="4892040"/>
            <a:ext cx="4663440" cy="365760"/>
          </a:xfrm>
          <a:prstGeom prst="rect">
            <a:avLst/>
          </a:prstGeom>
          <a:noFill/>
          <a:ln/>
        </p:spPr>
        <p:txBody>
          <a:bodyPr wrap="square" lIns="0" tIns="0" rIns="0" bIns="0" rtlCol="0" anchor="t"/>
          <a:lstStyle/>
          <a:p>
            <a:pPr indent="0" marL="0">
              <a:buNone/>
            </a:pPr>
            <a:r>
              <a:rPr lang="en-US" sz="1300" dirty="0">
                <a:solidFill>
                  <a:schemeClr val="tx1"/>
                </a:solidFill>
              </a:rPr>
              <a:t>18 ventes sans valeur gardées en NULL : un '' serait lu comme 0 par AVG</a:t>
            </a:r>
            <a:endParaRPr lang="en-US" sz="1300" dirty="0"/>
          </a:p>
        </p:txBody>
      </p:sp>
      <p:sp>
        <p:nvSpPr>
          <p:cNvPr id="17" name="note-cle"/>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400" i="1" dirty="0">
                <a:solidFill>
                  <a:schemeClr val="accent4"/>
                </a:solidFill>
              </a:rPr>
              <a:t>Clé d'une commune : code département + code commune (ex. 34172 = Montpellier), présente dans les 3 fichiers.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Un dictionnaire pour chaque colonne de la base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Extrait : 7 lignes, choisies pour leurs pièges (dictionnaire complet : dictionnaire_donnees.xlsx)</a:t>
            </a:r>
            <a:endParaRPr lang="en-US" sz="1700" dirty="0"/>
          </a:p>
        </p:txBody>
      </p:sp>
      <p:graphicFrame>
        <p:nvGraphicFramePr>
          <p:cNvPr id="5" name="table-dictionnair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77240"/>
                <a:gridCol w="2148840"/>
                <a:gridCol w="2011680"/>
                <a:gridCol w="777240"/>
                <a:gridCol w="594360"/>
                <a:gridCol w="1051560"/>
                <a:gridCol w="3730752"/>
              </a:tblGrid>
              <a:tr h="457200">
                <a:tc>
                  <a:txBody>
                    <a:bodyPr/>
                    <a:lstStyle/>
                    <a:p>
                      <a:pPr indent="0" marL="0">
                        <a:buNone/>
                      </a:pPr>
                      <a:r>
                        <a:rPr lang="en-US" sz="1100" b="1" dirty="0">
                          <a:solidFill>
                            <a:schemeClr val="bg1"/>
                          </a:solidFill>
                        </a:rPr>
                        <a:t>Table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Code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Signification</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Type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Long.</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Nature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Règle de gestion</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457200">
                <a:tc>
                  <a:txBody>
                    <a:bodyPr/>
                    <a:lstStyle/>
                    <a:p>
                      <a:pPr indent="0" marL="0">
                        <a:buNone/>
                      </a:pPr>
                      <a:r>
                        <a:rPr lang="en-US" sz="1100" dirty="0">
                          <a:solidFill>
                            <a:schemeClr val="tx1"/>
                          </a:solidFill>
                        </a:rPr>
                        <a:t>commune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id_codedep_codecommune</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Identifiant unique de la commune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Texte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6</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Concaténée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Clé primaire, unique, non nulle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commune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code_departement</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Code du département</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Texte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Élémentaire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Non nul ; texte : « 2A », « 2B » (Corse), « 971 » (Guadeloupe), « 01 » garde son zéro</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bien</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id_bien</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Identifiant du bien dans la base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Entier</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NC</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Calculée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Clé primaire, unique, non nulle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bien</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code_postal</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Code postal de l'adresse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Texte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5</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Élémentaire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5 caractères (zéro initial rétabli : « 01170 ») ; décrit l'adresse, pas la commune (Nice en a 4)</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vente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id_bien</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Bien vendu</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Entier</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NC</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Élémentaire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Clé étrangère vers bien ; unique (1 vente par bien sur la période)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vente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date_vente</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Date de la vente (mutation)</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Date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10</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Élémentaire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Non nulle ; format AAAA-MM-JJ ; entre le 01/01/2020 et le 30/06/2020</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457200">
                <a:tc>
                  <a:txBody>
                    <a:bodyPr/>
                    <a:lstStyle/>
                    <a:p>
                      <a:pPr indent="0" marL="0">
                        <a:buNone/>
                      </a:pPr>
                      <a:r>
                        <a:rPr lang="en-US" sz="1100" dirty="0">
                          <a:solidFill>
                            <a:schemeClr val="tx1"/>
                          </a:solidFill>
                        </a:rPr>
                        <a:t>vente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latin typeface="Consolas" pitchFamily="34" charset="0"/>
                          <a:ea typeface="Consolas" pitchFamily="34" charset="-122"/>
                          <a:cs typeface="Consolas" pitchFamily="34" charset="-120"/>
                        </a:rPr>
                        <a:t>valeur_fonciere</a:t>
                      </a:r>
                      <a:endParaRPr lang="en-US" sz="11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Prix de vente en euros</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Décimal</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NC</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Élémentaire</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Strictement positive ; vide (NULL) pour 18 ventes non renseignées</a:t>
                      </a:r>
                      <a:endParaRPr lang="en-US" sz="11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Un schéma en troisième forme normale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region ← commune ← bien ← vente : chaque information est stockée une seule fois</a:t>
            </a:r>
            <a:endParaRPr lang="en-US" sz="1700" dirty="0"/>
          </a:p>
        </p:txBody>
      </p:sp>
      <p:pic>
        <p:nvPicPr>
          <p:cNvPr id="4" name="figure-schema" descr="Schéma relationnel : tables region, commune, bien et vente reliées par clés étrangères">    </p:cNvPr>
          <p:cNvPicPr>
            <a:picLocks noChangeAspect="1"/>
          </p:cNvPicPr>
          <p:nvPr/>
        </p:nvPicPr>
        <p:blipFill>
          <a:blip r:embed="rId1"/>
          <a:stretch>
            <a:fillRect/>
          </a:stretch>
        </p:blipFill>
        <p:spPr>
          <a:xfrm>
            <a:off x="548640" y="1691640"/>
            <a:ext cx="11094415" cy="2948290"/>
          </a:xfrm>
          <a:prstGeom prst="rect">
            <a:avLst/>
          </a:prstGeom>
        </p:spPr>
      </p:pic>
      <p:sp>
        <p:nvSpPr>
          <p:cNvPr id="5" name="carte-nf-0"/>
          <p:cNvSpPr/>
          <p:nvPr/>
        </p:nvSpPr>
        <p:spPr>
          <a:xfrm>
            <a:off x="548640" y="4937760"/>
            <a:ext cx="3520440" cy="1188720"/>
          </a:xfrm>
          <a:prstGeom prst="roundRect">
            <a:avLst>
              <a:gd name="adj" fmla="val 9231"/>
            </a:avLst>
          </a:prstGeom>
          <a:solidFill>
            <a:schemeClr val="bg2"/>
          </a:solidFill>
          <a:ln w="12700">
            <a:solidFill>
              <a:schemeClr val="bg2"/>
            </a:solidFill>
            <a:prstDash val="solid"/>
          </a:ln>
        </p:spPr>
      </p:sp>
      <p:sp>
        <p:nvSpPr>
          <p:cNvPr id="6" name="nf-titre-0"/>
          <p:cNvSpPr txBox="1"/>
          <p:nvPr/>
        </p:nvSpPr>
        <p:spPr>
          <a:xfrm>
            <a:off x="777240" y="502920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1NF</a:t>
            </a:r>
            <a:endParaRPr lang="en-US" sz="1800" dirty="0"/>
          </a:p>
        </p:txBody>
      </p:sp>
      <p:sp>
        <p:nvSpPr>
          <p:cNvPr id="7" name="nf-texte-0"/>
          <p:cNvSpPr txBox="1"/>
          <p:nvPr/>
        </p:nvSpPr>
        <p:spPr>
          <a:xfrm>
            <a:off x="777240" y="5394960"/>
            <a:ext cx="3108960" cy="685800"/>
          </a:xfrm>
          <a:prstGeom prst="rect">
            <a:avLst/>
          </a:prstGeom>
          <a:noFill/>
          <a:ln/>
        </p:spPr>
        <p:txBody>
          <a:bodyPr wrap="square" lIns="0" tIns="0" rIns="0" bIns="0" rtlCol="0" anchor="t"/>
          <a:lstStyle/>
          <a:p>
            <a:pPr indent="0" marL="0">
              <a:buNone/>
            </a:pPr>
            <a:r>
              <a:rPr lang="en-US" sz="1300" dirty="0">
                <a:solidFill>
                  <a:schemeClr val="tx1"/>
                </a:solidFill>
              </a:rPr>
              <a:t>Valeurs atomiques : l'adresse est découpée en n°, indice, type de voie, voie, code postal</a:t>
            </a:r>
            <a:endParaRPr lang="en-US" sz="1300" dirty="0"/>
          </a:p>
        </p:txBody>
      </p:sp>
      <p:sp>
        <p:nvSpPr>
          <p:cNvPr id="8" name="carte-nf-1"/>
          <p:cNvSpPr/>
          <p:nvPr/>
        </p:nvSpPr>
        <p:spPr>
          <a:xfrm>
            <a:off x="4297680" y="4937760"/>
            <a:ext cx="3520440" cy="1188720"/>
          </a:xfrm>
          <a:prstGeom prst="roundRect">
            <a:avLst>
              <a:gd name="adj" fmla="val 9231"/>
            </a:avLst>
          </a:prstGeom>
          <a:solidFill>
            <a:schemeClr val="bg2"/>
          </a:solidFill>
          <a:ln w="12700">
            <a:solidFill>
              <a:schemeClr val="bg2"/>
            </a:solidFill>
            <a:prstDash val="solid"/>
          </a:ln>
        </p:spPr>
      </p:sp>
      <p:sp>
        <p:nvSpPr>
          <p:cNvPr id="9" name="nf-titre-1"/>
          <p:cNvSpPr txBox="1"/>
          <p:nvPr/>
        </p:nvSpPr>
        <p:spPr>
          <a:xfrm>
            <a:off x="4526280" y="502920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2NF</a:t>
            </a:r>
            <a:endParaRPr lang="en-US" sz="1800" dirty="0"/>
          </a:p>
        </p:txBody>
      </p:sp>
      <p:sp>
        <p:nvSpPr>
          <p:cNvPr id="10" name="nf-texte-1"/>
          <p:cNvSpPr txBox="1"/>
          <p:nvPr/>
        </p:nvSpPr>
        <p:spPr>
          <a:xfrm>
            <a:off x="4526280" y="5394960"/>
            <a:ext cx="3108960" cy="685800"/>
          </a:xfrm>
          <a:prstGeom prst="rect">
            <a:avLst/>
          </a:prstGeom>
          <a:noFill/>
          <a:ln/>
        </p:spPr>
        <p:txBody>
          <a:bodyPr wrap="square" lIns="0" tIns="0" rIns="0" bIns="0" rtlCol="0" anchor="t"/>
          <a:lstStyle/>
          <a:p>
            <a:pPr indent="0" marL="0">
              <a:buNone/>
            </a:pPr>
            <a:r>
              <a:rPr lang="en-US" sz="1300" dirty="0">
                <a:solidFill>
                  <a:schemeClr val="tx1"/>
                </a:solidFill>
              </a:rPr>
              <a:t>Clés à une seule colonne : la 2NF est respectée d'office</a:t>
            </a:r>
            <a:endParaRPr lang="en-US" sz="1300" dirty="0"/>
          </a:p>
        </p:txBody>
      </p:sp>
      <p:sp>
        <p:nvSpPr>
          <p:cNvPr id="11" name="carte-nf-2"/>
          <p:cNvSpPr/>
          <p:nvPr/>
        </p:nvSpPr>
        <p:spPr>
          <a:xfrm>
            <a:off x="8046720" y="4937760"/>
            <a:ext cx="3520440" cy="1188720"/>
          </a:xfrm>
          <a:prstGeom prst="roundRect">
            <a:avLst>
              <a:gd name="adj" fmla="val 9231"/>
            </a:avLst>
          </a:prstGeom>
          <a:solidFill>
            <a:schemeClr val="bg2"/>
          </a:solidFill>
          <a:ln w="12700">
            <a:solidFill>
              <a:schemeClr val="bg2"/>
            </a:solidFill>
            <a:prstDash val="solid"/>
          </a:ln>
        </p:spPr>
      </p:sp>
      <p:sp>
        <p:nvSpPr>
          <p:cNvPr id="12" name="nf-titre-2"/>
          <p:cNvSpPr txBox="1"/>
          <p:nvPr/>
        </p:nvSpPr>
        <p:spPr>
          <a:xfrm>
            <a:off x="8275320" y="5029200"/>
            <a:ext cx="3108960" cy="365760"/>
          </a:xfrm>
          <a:prstGeom prst="rect">
            <a:avLst/>
          </a:prstGeom>
          <a:noFill/>
          <a:ln/>
        </p:spPr>
        <p:txBody>
          <a:bodyPr wrap="square" lIns="0" tIns="0" rIns="0" bIns="0" rtlCol="0" anchor="t"/>
          <a:lstStyle/>
          <a:p>
            <a:pPr indent="0" marL="0">
              <a:buNone/>
            </a:pPr>
            <a:r>
              <a:rPr lang="en-US" sz="1800" b="1" dirty="0">
                <a:solidFill>
                  <a:schemeClr val="accent1"/>
                </a:solidFill>
              </a:rPr>
              <a:t>3NF</a:t>
            </a:r>
            <a:endParaRPr lang="en-US" sz="1800" dirty="0"/>
          </a:p>
        </p:txBody>
      </p:sp>
      <p:sp>
        <p:nvSpPr>
          <p:cNvPr id="13" name="nf-texte-2"/>
          <p:cNvSpPr txBox="1"/>
          <p:nvPr/>
        </p:nvSpPr>
        <p:spPr>
          <a:xfrm>
            <a:off x="8275320" y="5394960"/>
            <a:ext cx="3108960" cy="685800"/>
          </a:xfrm>
          <a:prstGeom prst="rect">
            <a:avLst/>
          </a:prstGeom>
          <a:noFill/>
          <a:ln/>
        </p:spPr>
        <p:txBody>
          <a:bodyPr wrap="square" lIns="0" tIns="0" rIns="0" bIns="0" rtlCol="0" anchor="t"/>
          <a:lstStyle/>
          <a:p>
            <a:pPr indent="0" marL="0">
              <a:buNone/>
            </a:pPr>
            <a:r>
              <a:rPr lang="en-US" sz="1300" dirty="0">
                <a:solidFill>
                  <a:schemeClr val="tx1"/>
                </a:solidFill>
              </a:rPr>
              <a:t>Le nom de région dépend du code région : stocké 19 fois, pas 3 125</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Dans la base : codes avec leurs zéros, dates au format ISO</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Les 3 premières lignes de chaque table, colonnes principales (export de la base, comme dans SQLite Studio)</a:t>
            </a:r>
            <a:endParaRPr lang="en-US" sz="1700" dirty="0"/>
          </a:p>
        </p:txBody>
      </p:sp>
      <p:sp>
        <p:nvSpPr>
          <p:cNvPr id="4" name="apercu-titre-region"/>
          <p:cNvSpPr txBox="1"/>
          <p:nvPr/>
        </p:nvSpPr>
        <p:spPr>
          <a:xfrm>
            <a:off x="548640" y="1645920"/>
            <a:ext cx="420624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region</a:t>
            </a:r>
            <a:endParaRPr lang="en-US" sz="1400" dirty="0"/>
          </a:p>
        </p:txBody>
      </p:sp>
      <p:graphicFrame>
        <p:nvGraphicFramePr>
          <p:cNvPr id="7" name="apercu-region"/>
          <p:cNvGraphicFramePr>
            <a:graphicFrameLocks noGrp="1"/>
          </p:cNvGraphicFramePr>
          <p:nvPr>
            <p:extLst>
              <p:ext uri="{D42A27DB-BD31-4B8C-83A1-F6EECF244321}">
                <p14:modId xmlns:p14="http://schemas.microsoft.com/office/powerpoint/2010/main" val="1579011935"/>
              </p:ext>
            </p:extLst>
          </p:nvPr>
        </p:nvGraphicFramePr>
        <p:xfrm>
          <a:off x="548640" y="1938528"/>
          <a:ext cx="4206240" cy="914400"/>
        </p:xfrm>
        <a:graphic>
          <a:graphicData uri="http://schemas.openxmlformats.org/drawingml/2006/table">
            <a:tbl>
              <a:tblPr/>
              <a:tblGrid>
                <a:gridCol w="822960"/>
                <a:gridCol w="2103120"/>
                <a:gridCol w="1280160"/>
              </a:tblGrid>
              <a:tr h="237744">
                <a:tc>
                  <a:txBody>
                    <a:bodyPr/>
                    <a:lstStyle/>
                    <a:p>
                      <a:pPr indent="0" marL="0">
                        <a:buNone/>
                      </a:pPr>
                      <a:r>
                        <a:rPr lang="en-US" sz="900" b="1" dirty="0">
                          <a:solidFill>
                            <a:schemeClr val="bg1"/>
                          </a:solidFill>
                        </a:rPr>
                        <a:t>id_region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nom_region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nom_regroupement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37744">
                <a:tc>
                  <a:txBody>
                    <a:bodyPr/>
                    <a:lstStyle/>
                    <a:p>
                      <a:pPr indent="0" marL="0">
                        <a:buNone/>
                      </a:pPr>
                      <a:r>
                        <a:rPr lang="en-US" sz="900" dirty="0">
                          <a:solidFill>
                            <a:schemeClr val="tx1"/>
                          </a:solidFill>
                        </a:rPr>
                        <a:t>00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Collectivités d'outre-mer</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DROM-COM</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01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Guadeloupe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DROM-COM</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02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Martinique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DROM-COM</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6" name="apercu-titre-commune"/>
          <p:cNvSpPr txBox="1"/>
          <p:nvPr/>
        </p:nvSpPr>
        <p:spPr>
          <a:xfrm>
            <a:off x="5029200" y="1645920"/>
            <a:ext cx="6611112"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commune</a:t>
            </a:r>
            <a:endParaRPr lang="en-US" sz="1400" dirty="0"/>
          </a:p>
        </p:txBody>
      </p:sp>
      <p:graphicFrame>
        <p:nvGraphicFramePr>
          <p:cNvPr id="13" name="apercu-commune"/>
          <p:cNvGraphicFramePr>
            <a:graphicFrameLocks noGrp="1"/>
          </p:cNvGraphicFramePr>
          <p:nvPr>
            <p:extLst>
              <p:ext uri="{D42A27DB-BD31-4B8C-83A1-F6EECF244321}">
                <p14:modId xmlns:p14="http://schemas.microsoft.com/office/powerpoint/2010/main" val="1579011935"/>
              </p:ext>
            </p:extLst>
          </p:nvPr>
        </p:nvGraphicFramePr>
        <p:xfrm>
          <a:off x="5029200" y="1938528"/>
          <a:ext cx="6611112" cy="914400"/>
        </p:xfrm>
        <a:graphic>
          <a:graphicData uri="http://schemas.openxmlformats.org/drawingml/2006/table">
            <a:tbl>
              <a:tblPr/>
              <a:tblGrid>
                <a:gridCol w="1600200"/>
                <a:gridCol w="731520"/>
                <a:gridCol w="1188720"/>
                <a:gridCol w="1005840"/>
                <a:gridCol w="1353312"/>
                <a:gridCol w="731520"/>
              </a:tblGrid>
              <a:tr h="237744">
                <a:tc>
                  <a:txBody>
                    <a:bodyPr/>
                    <a:lstStyle/>
                    <a:p>
                      <a:pPr indent="0" marL="0">
                        <a:buNone/>
                      </a:pPr>
                      <a:r>
                        <a:rPr lang="en-US" sz="900" b="1" dirty="0">
                          <a:solidFill>
                            <a:schemeClr val="bg1"/>
                          </a:solidFill>
                        </a:rPr>
                        <a:t>id_codedep_codecommune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id_region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code_departement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code_commune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nom_commune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population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37744">
                <a:tc>
                  <a:txBody>
                    <a:bodyPr/>
                    <a:lstStyle/>
                    <a:p>
                      <a:pPr indent="0" marL="0">
                        <a:buNone/>
                      </a:pPr>
                      <a:r>
                        <a:rPr lang="en-US" sz="900" dirty="0">
                          <a:solidFill>
                            <a:schemeClr val="tx1"/>
                          </a:solidFill>
                        </a:rPr>
                        <a:t>01004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84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004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Ambérieu-en-Bugey</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14134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01014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84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Arbent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3349</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01030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84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030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Beauregard</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829</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8" name="apercu-titre-bien"/>
          <p:cNvSpPr txBox="1"/>
          <p:nvPr/>
        </p:nvSpPr>
        <p:spPr>
          <a:xfrm>
            <a:off x="548640" y="3063240"/>
            <a:ext cx="11094415"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bien</a:t>
            </a:r>
            <a:endParaRPr lang="en-US" sz="1400" dirty="0"/>
          </a:p>
        </p:txBody>
      </p:sp>
      <p:graphicFrame>
        <p:nvGraphicFramePr>
          <p:cNvPr id="19" name="apercu-bien"/>
          <p:cNvGraphicFramePr>
            <a:graphicFrameLocks noGrp="1"/>
          </p:cNvGraphicFramePr>
          <p:nvPr>
            <p:extLst>
              <p:ext uri="{D42A27DB-BD31-4B8C-83A1-F6EECF244321}">
                <p14:modId xmlns:p14="http://schemas.microsoft.com/office/powerpoint/2010/main" val="1579011935"/>
              </p:ext>
            </p:extLst>
          </p:nvPr>
        </p:nvGraphicFramePr>
        <p:xfrm>
          <a:off x="548640" y="3355848"/>
          <a:ext cx="11094415" cy="914400"/>
        </p:xfrm>
        <a:graphic>
          <a:graphicData uri="http://schemas.openxmlformats.org/drawingml/2006/table">
            <a:tbl>
              <a:tblPr/>
              <a:tblGrid>
                <a:gridCol w="708358"/>
                <a:gridCol w="1907118"/>
                <a:gridCol w="708358"/>
                <a:gridCol w="980804"/>
                <a:gridCol w="2125075"/>
                <a:gridCol w="1144271"/>
                <a:gridCol w="1253249"/>
                <a:gridCol w="1089782"/>
                <a:gridCol w="1176964"/>
              </a:tblGrid>
              <a:tr h="237744">
                <a:tc>
                  <a:txBody>
                    <a:bodyPr/>
                    <a:lstStyle/>
                    <a:p>
                      <a:pPr indent="0" marL="0">
                        <a:buNone/>
                      </a:pPr>
                      <a:r>
                        <a:rPr lang="en-US" sz="900" b="1" dirty="0">
                          <a:solidFill>
                            <a:schemeClr val="bg1"/>
                          </a:solidFill>
                        </a:rPr>
                        <a:t>id_bien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id_codedep_codecommune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no_voie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type_voie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voie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code_postal</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type_local</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total_pieces</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surface_carrez</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37744">
                <a:tc>
                  <a:txBody>
                    <a:bodyPr/>
                    <a:lstStyle/>
                    <a:p>
                      <a:pPr indent="0" marL="0">
                        <a:buNone/>
                      </a:pPr>
                      <a:r>
                        <a:rPr lang="en-US" sz="900" dirty="0">
                          <a:solidFill>
                            <a:schemeClr val="tx1"/>
                          </a:solidFill>
                        </a:rPr>
                        <a:t>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01103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347</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RUE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DU CHATEAU</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01170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Appartement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48.22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06004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4</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BD</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EDOUARD BAUDOIN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06160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Appartement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39.11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06088</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RUE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MARCEAU</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06000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Appartement</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80.25</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10" name="apercu-titre-vente"/>
          <p:cNvSpPr txBox="1"/>
          <p:nvPr/>
        </p:nvSpPr>
        <p:spPr>
          <a:xfrm>
            <a:off x="548640" y="4480560"/>
            <a:ext cx="5943600" cy="27432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vente</a:t>
            </a:r>
            <a:endParaRPr lang="en-US" sz="1400" dirty="0"/>
          </a:p>
        </p:txBody>
      </p:sp>
      <p:graphicFrame>
        <p:nvGraphicFramePr>
          <p:cNvPr id="25" name="apercu-vente"/>
          <p:cNvGraphicFramePr>
            <a:graphicFrameLocks noGrp="1"/>
          </p:cNvGraphicFramePr>
          <p:nvPr>
            <p:extLst>
              <p:ext uri="{D42A27DB-BD31-4B8C-83A1-F6EECF244321}">
                <p14:modId xmlns:p14="http://schemas.microsoft.com/office/powerpoint/2010/main" val="1579011935"/>
              </p:ext>
            </p:extLst>
          </p:nvPr>
        </p:nvGraphicFramePr>
        <p:xfrm>
          <a:off x="548640" y="4773168"/>
          <a:ext cx="5943600" cy="914400"/>
        </p:xfrm>
        <a:graphic>
          <a:graphicData uri="http://schemas.openxmlformats.org/drawingml/2006/table">
            <a:tbl>
              <a:tblPr/>
              <a:tblGrid>
                <a:gridCol w="914400"/>
                <a:gridCol w="822960"/>
                <a:gridCol w="1463040"/>
                <a:gridCol w="1554480"/>
                <a:gridCol w="1188720"/>
              </a:tblGrid>
              <a:tr h="237744">
                <a:tc>
                  <a:txBody>
                    <a:bodyPr/>
                    <a:lstStyle/>
                    <a:p>
                      <a:pPr indent="0" marL="0">
                        <a:buNone/>
                      </a:pPr>
                      <a:r>
                        <a:rPr lang="en-US" sz="900" b="1" dirty="0">
                          <a:solidFill>
                            <a:schemeClr val="bg1"/>
                          </a:solidFill>
                        </a:rPr>
                        <a:t>id_vente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id_bien</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date_vente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valeur_fonciere</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900" b="1" dirty="0">
                          <a:solidFill>
                            <a:schemeClr val="bg1"/>
                          </a:solidFill>
                        </a:rPr>
                        <a:t>nombre_lots</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37744">
                <a:tc>
                  <a:txBody>
                    <a:bodyPr/>
                    <a:lstStyle/>
                    <a:p>
                      <a:pPr indent="0" marL="0">
                        <a:buNone/>
                      </a:pPr>
                      <a:r>
                        <a:rPr lang="en-US" sz="900" dirty="0">
                          <a:solidFill>
                            <a:schemeClr val="tx1"/>
                          </a:solidFill>
                        </a:rPr>
                        <a:t>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2020-01-02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165000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2020-01-02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355680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37744">
                <a:tc>
                  <a:txBody>
                    <a:bodyPr/>
                    <a:lstStyle/>
                    <a:p>
                      <a:pPr indent="0" marL="0">
                        <a:buNone/>
                      </a:pPr>
                      <a:r>
                        <a:rPr lang="en-US" sz="900" dirty="0">
                          <a:solidFill>
                            <a:schemeClr val="tx1"/>
                          </a:solidFill>
                        </a:rPr>
                        <a:t>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3</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2020-01-02</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229500</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900" dirty="0">
                          <a:solidFill>
                            <a:schemeClr val="tx1"/>
                          </a:solidFill>
                        </a:rPr>
                        <a:t>1</a:t>
                      </a:r>
                      <a:endParaRPr lang="en-US" sz="900" dirty="0"/>
                    </a:p>
                  </a:txBody>
                  <a:tcPr marL="27432" marR="27432" marT="27432" marB="27432"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12" name="note-apercu"/>
          <p:cNvSpPr txBox="1"/>
          <p:nvPr/>
        </p:nvSpPr>
        <p:spPr>
          <a:xfrm>
            <a:off x="6766560" y="4846320"/>
            <a:ext cx="4873752" cy="822960"/>
          </a:xfrm>
          <a:prstGeom prst="rect">
            <a:avLst/>
          </a:prstGeom>
          <a:noFill/>
          <a:ln/>
        </p:spPr>
        <p:txBody>
          <a:bodyPr wrap="square" lIns="0" tIns="0" rIns="0" bIns="0" rtlCol="0" anchor="t"/>
          <a:lstStyle/>
          <a:p>
            <a:pPr indent="0" marL="0">
              <a:buNone/>
            </a:pPr>
            <a:r>
              <a:rPr lang="en-US" sz="1400" i="1" dirty="0">
                <a:solidFill>
                  <a:schemeClr val="accent4"/>
                </a:solidFill>
              </a:rPr>
              <a:t>« 01 », « 01170 », « 2020-01-02 » : des textes, pas des nombres. Une valeur absente s'affiche NULL.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Aucune ligne perdue au chargement</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Les mêmes comptages côté CSV et côté base</a:t>
            </a:r>
            <a:endParaRPr lang="en-US" sz="1700" dirty="0"/>
          </a:p>
        </p:txBody>
      </p:sp>
      <p:sp>
        <p:nvSpPr>
          <p:cNvPr id="4" name="sql-controle-fond"/>
          <p:cNvSpPr/>
          <p:nvPr/>
        </p:nvSpPr>
        <p:spPr>
          <a:xfrm>
            <a:off x="548640" y="1691640"/>
            <a:ext cx="5852160" cy="1554480"/>
          </a:xfrm>
          <a:prstGeom prst="roundRect">
            <a:avLst>
              <a:gd name="adj" fmla="val 7059"/>
            </a:avLst>
          </a:prstGeom>
          <a:solidFill>
            <a:srgbClr val="F3F5F7"/>
          </a:solidFill>
          <a:ln w="12700">
            <a:solidFill>
              <a:srgbClr val="F3F5F7"/>
            </a:solidFill>
            <a:prstDash val="solid"/>
          </a:ln>
        </p:spPr>
      </p:sp>
      <p:sp>
        <p:nvSpPr>
          <p:cNvPr id="5" name="sql-controle-code"/>
          <p:cNvSpPr txBox="1"/>
          <p:nvPr/>
        </p:nvSpPr>
        <p:spPr>
          <a:xfrm>
            <a:off x="731520" y="1828800"/>
            <a:ext cx="5486400" cy="12801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SELECT 'vente' AS table_, COUNT(*) AS lignes FROM vente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UNION ALL SELECT 'bien',    COUNT(*) FROM bien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UNION ALL SELECT 'commune', COUNT(*) FROM commune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UNION ALL SELECT 'region',  COUNT(*) FROM region;</a:t>
            </a:r>
            <a:endParaRPr lang="en-US" sz="1200" dirty="0"/>
          </a:p>
        </p:txBody>
      </p:sp>
      <p:graphicFrame>
        <p:nvGraphicFramePr>
          <p:cNvPr id="8" name="table-controle"/>
          <p:cNvGraphicFramePr>
            <a:graphicFrameLocks noGrp="1"/>
          </p:cNvGraphicFramePr>
          <p:nvPr>
            <p:extLst>
              <p:ext uri="{D42A27DB-BD31-4B8C-83A1-F6EECF244321}">
                <p14:modId xmlns:p14="http://schemas.microsoft.com/office/powerpoint/2010/main" val="1579011935"/>
              </p:ext>
            </p:extLst>
          </p:nvPr>
        </p:nvGraphicFramePr>
        <p:xfrm>
          <a:off x="6675120" y="1691640"/>
          <a:ext cx="4965192" cy="914400"/>
        </p:xfrm>
        <a:graphic>
          <a:graphicData uri="http://schemas.openxmlformats.org/drawingml/2006/table">
            <a:tbl>
              <a:tblPr/>
              <a:tblGrid>
                <a:gridCol w="1188720"/>
                <a:gridCol w="1371600"/>
                <a:gridCol w="2404872"/>
              </a:tblGrid>
              <a:tr h="384048">
                <a:tc>
                  <a:txBody>
                    <a:bodyPr/>
                    <a:lstStyle/>
                    <a:p>
                      <a:pPr indent="0" marL="0">
                        <a:buNone/>
                      </a:pPr>
                      <a:r>
                        <a:rPr lang="en-US" sz="1300" b="1" dirty="0">
                          <a:solidFill>
                            <a:schemeClr val="bg1"/>
                          </a:solidFill>
                        </a:rPr>
                        <a:t>Table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Lignes en base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Côté CSV</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vente</a:t>
                      </a:r>
                      <a:endParaRPr lang="en-US" sz="13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34 169</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34 169 lignes DVF</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38404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bien</a:t>
                      </a:r>
                      <a:endParaRPr lang="en-US" sz="13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34 169</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34 169 (1 bien par vente)</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38404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commune</a:t>
                      </a:r>
                      <a:endParaRPr lang="en-US" sz="13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3 125</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3 125 communes distinctes dans DVF</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384048">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region</a:t>
                      </a:r>
                      <a:endParaRPr lang="en-US" sz="1300" dirty="0">
                        <a:latin typeface="Consolas" charset="0"/>
                        <a:ea typeface="Consolas" charset="0"/>
                        <a:cs typeface="Consolas" charset="0"/>
                      </a:endParaRPr>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19</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19 régions du référentiel</a:t>
                      </a:r>
                      <a:endParaRPr lang="en-US" sz="1300" dirty="0"/>
                    </a:p>
                  </a:txBody>
                  <a:tcPr marL="91440" marR="9144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note-controle"/>
          <p:cNvSpPr txBox="1"/>
          <p:nvPr/>
        </p:nvSpPr>
        <p:spPr>
          <a:xfrm>
            <a:off x="6675120" y="3291840"/>
            <a:ext cx="4965192" cy="411480"/>
          </a:xfrm>
          <a:prstGeom prst="rect">
            <a:avLst/>
          </a:prstGeom>
          <a:noFill/>
          <a:ln/>
        </p:spPr>
        <p:txBody>
          <a:bodyPr wrap="square" lIns="0" tIns="0" rIns="0" bIns="0" rtlCol="0" anchor="t"/>
          <a:lstStyle/>
          <a:p>
            <a:pPr indent="0" marL="0">
              <a:buNone/>
            </a:pPr>
            <a:r>
              <a:rPr lang="en-US" sz="1200" i="1" dirty="0">
                <a:solidFill>
                  <a:schemeClr val="accent4"/>
                </a:solidFill>
              </a:rPr>
              <a:t>Seules les communes ayant au moins une vente sont chargées : 3 125 sur les 34 991 du fichier INSEE.</a:t>
            </a:r>
            <a:endParaRPr lang="en-US" sz="1200" dirty="0"/>
          </a:p>
        </p:txBody>
      </p:sp>
      <p:sp>
        <p:nvSpPr>
          <p:cNvPr id="8" name="carte-preuve-0"/>
          <p:cNvSpPr/>
          <p:nvPr/>
        </p:nvSpPr>
        <p:spPr>
          <a:xfrm>
            <a:off x="548640" y="3749040"/>
            <a:ext cx="5394960" cy="1371600"/>
          </a:xfrm>
          <a:prstGeom prst="roundRect">
            <a:avLst>
              <a:gd name="adj" fmla="val 8000"/>
            </a:avLst>
          </a:prstGeom>
          <a:solidFill>
            <a:schemeClr val="bg2"/>
          </a:solidFill>
          <a:ln w="12700">
            <a:solidFill>
              <a:schemeClr val="bg2"/>
            </a:solidFill>
            <a:prstDash val="solid"/>
          </a:ln>
        </p:spPr>
      </p:sp>
      <p:sp>
        <p:nvSpPr>
          <p:cNvPr id="9" name="preuve-titre-0"/>
          <p:cNvSpPr txBox="1"/>
          <p:nvPr/>
        </p:nvSpPr>
        <p:spPr>
          <a:xfrm>
            <a:off x="822960" y="3886200"/>
            <a:ext cx="4846320" cy="365760"/>
          </a:xfrm>
          <a:prstGeom prst="rect">
            <a:avLst/>
          </a:prstGeom>
          <a:noFill/>
          <a:ln/>
        </p:spPr>
        <p:txBody>
          <a:bodyPr wrap="square" lIns="0" tIns="0" rIns="0" bIns="0" rtlCol="0" anchor="t"/>
          <a:lstStyle/>
          <a:p>
            <a:pPr indent="0" marL="0">
              <a:buNone/>
            </a:pPr>
            <a:r>
              <a:rPr lang="en-US" sz="1700" b="1" dirty="0">
                <a:solidFill>
                  <a:schemeClr val="tx2"/>
                </a:solidFill>
              </a:rPr>
              <a:t>Corse comprise</a:t>
            </a:r>
            <a:endParaRPr lang="en-US" sz="1700" dirty="0"/>
          </a:p>
        </p:txBody>
      </p:sp>
      <p:sp>
        <p:nvSpPr>
          <p:cNvPr id="10" name="preuve-texte-0"/>
          <p:cNvSpPr txBox="1"/>
          <p:nvPr/>
        </p:nvSpPr>
        <p:spPr>
          <a:xfrm>
            <a:off x="822960" y="4297680"/>
            <a:ext cx="4846320" cy="731520"/>
          </a:xfrm>
          <a:prstGeom prst="rect">
            <a:avLst/>
          </a:prstGeom>
          <a:noFill/>
          <a:ln/>
        </p:spPr>
        <p:txBody>
          <a:bodyPr wrap="square" lIns="0" tIns="0" rIns="0" bIns="0" rtlCol="0" anchor="t"/>
          <a:lstStyle/>
          <a:p>
            <a:pPr indent="0" marL="0">
              <a:buNone/>
            </a:pPr>
            <a:r>
              <a:rPr lang="en-US" sz="1400" dirty="0">
                <a:solidFill>
                  <a:schemeClr val="tx1"/>
                </a:solidFill>
              </a:rPr>
              <a:t>les codes 2A / 2B sont en texte : aucune vente corse ne disparaît</a:t>
            </a:r>
            <a:endParaRPr lang="en-US" sz="1400" dirty="0"/>
          </a:p>
        </p:txBody>
      </p:sp>
      <p:sp>
        <p:nvSpPr>
          <p:cNvPr id="11" name="carte-preuve-1"/>
          <p:cNvSpPr/>
          <p:nvPr/>
        </p:nvSpPr>
        <p:spPr>
          <a:xfrm>
            <a:off x="6172200" y="3749040"/>
            <a:ext cx="5394960" cy="1371600"/>
          </a:xfrm>
          <a:prstGeom prst="roundRect">
            <a:avLst>
              <a:gd name="adj" fmla="val 8000"/>
            </a:avLst>
          </a:prstGeom>
          <a:solidFill>
            <a:schemeClr val="bg2"/>
          </a:solidFill>
          <a:ln w="12700">
            <a:solidFill>
              <a:schemeClr val="bg2"/>
            </a:solidFill>
            <a:prstDash val="solid"/>
          </a:ln>
        </p:spPr>
      </p:sp>
      <p:sp>
        <p:nvSpPr>
          <p:cNvPr id="12" name="preuve-titre-1"/>
          <p:cNvSpPr txBox="1"/>
          <p:nvPr/>
        </p:nvSpPr>
        <p:spPr>
          <a:xfrm>
            <a:off x="6446520" y="3886200"/>
            <a:ext cx="4846320" cy="365760"/>
          </a:xfrm>
          <a:prstGeom prst="rect">
            <a:avLst/>
          </a:prstGeom>
          <a:noFill/>
          <a:ln/>
        </p:spPr>
        <p:txBody>
          <a:bodyPr wrap="square" lIns="0" tIns="0" rIns="0" bIns="0" rtlCol="0" anchor="t"/>
          <a:lstStyle/>
          <a:p>
            <a:pPr indent="0" marL="0">
              <a:buNone/>
            </a:pPr>
            <a:r>
              <a:rPr lang="en-US" sz="1700" b="1" dirty="0">
                <a:solidFill>
                  <a:schemeClr val="tx2"/>
                </a:solidFill>
              </a:rPr>
              <a:t>Contraintes actives</a:t>
            </a:r>
            <a:endParaRPr lang="en-US" sz="1700" dirty="0"/>
          </a:p>
        </p:txBody>
      </p:sp>
      <p:sp>
        <p:nvSpPr>
          <p:cNvPr id="13" name="preuve-texte-1"/>
          <p:cNvSpPr txBox="1"/>
          <p:nvPr/>
        </p:nvSpPr>
        <p:spPr>
          <a:xfrm>
            <a:off x="6446520" y="4297680"/>
            <a:ext cx="4846320" cy="731520"/>
          </a:xfrm>
          <a:prstGeom prst="rect">
            <a:avLst/>
          </a:prstGeom>
          <a:noFill/>
          <a:ln/>
        </p:spPr>
        <p:txBody>
          <a:bodyPr wrap="square" lIns="0" tIns="0" rIns="0" bIns="0" rtlCol="0" anchor="t"/>
          <a:lstStyle/>
          <a:p>
            <a:pPr indent="0" marL="0">
              <a:buNone/>
            </a:pPr>
            <a:r>
              <a:rPr lang="en-US" sz="1400" dirty="0">
                <a:solidFill>
                  <a:schemeClr val="tx1"/>
                </a:solidFill>
              </a:rPr>
              <a:t>une vente rattachée à un bien inexistant, une date 2020-13-45 ou une valeur vide ('') sont refusées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Moins de données personnelles, une base restaurable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RGPD et sauvegarde : deux obligations qui se prévoient dès la conception</a:t>
            </a:r>
            <a:endParaRPr lang="en-US" sz="1700" dirty="0"/>
          </a:p>
        </p:txBody>
      </p:sp>
      <p:sp>
        <p:nvSpPr>
          <p:cNvPr id="4" name="carte-rgpd-0"/>
          <p:cNvSpPr/>
          <p:nvPr/>
        </p:nvSpPr>
        <p:spPr>
          <a:xfrm>
            <a:off x="548640" y="1737360"/>
            <a:ext cx="5394960" cy="4206240"/>
          </a:xfrm>
          <a:prstGeom prst="roundRect">
            <a:avLst>
              <a:gd name="adj" fmla="val 2609"/>
            </a:avLst>
          </a:prstGeom>
          <a:solidFill>
            <a:schemeClr val="bg2"/>
          </a:solidFill>
          <a:ln w="12700">
            <a:solidFill>
              <a:schemeClr val="bg2"/>
            </a:solidFill>
            <a:prstDash val="solid"/>
          </a:ln>
        </p:spPr>
      </p:sp>
      <p:sp>
        <p:nvSpPr>
          <p:cNvPr id="5" name="rgpd-titre-0"/>
          <p:cNvSpPr txBox="1"/>
          <p:nvPr/>
        </p:nvSpPr>
        <p:spPr>
          <a:xfrm>
            <a:off x="868680" y="1920240"/>
            <a:ext cx="4754880"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RGPD : minimisation</a:t>
            </a:r>
            <a:endParaRPr lang="en-US" sz="2100" dirty="0"/>
          </a:p>
        </p:txBody>
      </p:sp>
      <p:sp>
        <p:nvSpPr>
          <p:cNvPr id="6" name="rgpd-liste-0"/>
          <p:cNvSpPr txBox="1"/>
          <p:nvPr/>
        </p:nvSpPr>
        <p:spPr>
          <a:xfrm>
            <a:off x="868680" y="251460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Le nom de l'acquéreur identifie une personne et ne sert à aucun besoin : il est supprimé</a:t>
            </a:r>
            <a:endParaRPr lang="en-US" sz="1500" dirty="0"/>
          </a:p>
          <a:p>
            <a:pPr marL="342900" indent="-342900">
              <a:spcAft>
                <a:spcPts val="1000"/>
              </a:spcAft>
              <a:buSzPct val="100000"/>
              <a:buChar char="•"/>
            </a:pPr>
            <a:r>
              <a:rPr lang="en-US" sz="1500" dirty="0">
                <a:solidFill>
                  <a:schemeClr val="tx1"/>
                </a:solidFill>
              </a:rPr>
              <a:t>Ce n'est pas une anonymisation : adresse, date et prix rattachent encore une vente à un bien</a:t>
            </a:r>
            <a:endParaRPr lang="en-US" sz="1500" dirty="0"/>
          </a:p>
          <a:p>
            <a:pPr marL="342900" indent="-342900">
              <a:spcAft>
                <a:spcPts val="1000"/>
              </a:spcAft>
              <a:buSzPct val="100000"/>
              <a:buChar char="•"/>
            </a:pPr>
            <a:r>
              <a:rPr lang="en-US" sz="1500" dirty="0">
                <a:solidFill>
                  <a:schemeClr val="tx1"/>
                </a:solidFill>
              </a:rPr>
              <a:t>Accès à la base limité aux personnes qui en ont besoin</a:t>
            </a:r>
            <a:endParaRPr lang="en-US" sz="1500" dirty="0"/>
          </a:p>
        </p:txBody>
      </p:sp>
      <p:sp>
        <p:nvSpPr>
          <p:cNvPr id="7" name="carte-rgpd-1"/>
          <p:cNvSpPr/>
          <p:nvPr/>
        </p:nvSpPr>
        <p:spPr>
          <a:xfrm>
            <a:off x="6172200" y="1737360"/>
            <a:ext cx="5394960" cy="4206240"/>
          </a:xfrm>
          <a:prstGeom prst="roundRect">
            <a:avLst>
              <a:gd name="adj" fmla="val 2609"/>
            </a:avLst>
          </a:prstGeom>
          <a:solidFill>
            <a:schemeClr val="accent6"/>
          </a:solidFill>
          <a:ln w="12700">
            <a:solidFill>
              <a:schemeClr val="accent6"/>
            </a:solidFill>
            <a:prstDash val="solid"/>
          </a:ln>
        </p:spPr>
      </p:sp>
      <p:sp>
        <p:nvSpPr>
          <p:cNvPr id="8" name="rgpd-titre-1"/>
          <p:cNvSpPr txBox="1"/>
          <p:nvPr/>
        </p:nvSpPr>
        <p:spPr>
          <a:xfrm>
            <a:off x="6492240" y="1920240"/>
            <a:ext cx="4754880"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Sauvegarde</a:t>
            </a:r>
            <a:endParaRPr lang="en-US" sz="2100" dirty="0"/>
          </a:p>
        </p:txBody>
      </p:sp>
      <p:sp>
        <p:nvSpPr>
          <p:cNvPr id="9" name="rgpd-liste-1"/>
          <p:cNvSpPr txBox="1"/>
          <p:nvPr/>
        </p:nvSpPr>
        <p:spPr>
          <a:xfrm>
            <a:off x="6492240" y="2514600"/>
            <a:ext cx="47548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La base se reconstruit à l'identique depuis les sources, dont l'empreinte SHA-256 est vérifiée</a:t>
            </a:r>
            <a:endParaRPr lang="en-US" sz="1500" dirty="0"/>
          </a:p>
          <a:p>
            <a:pPr marL="342900" indent="-342900">
              <a:spcAft>
                <a:spcPts val="1000"/>
              </a:spcAft>
              <a:buSzPct val="100000"/>
              <a:buChar char="•"/>
            </a:pPr>
            <a:r>
              <a:rPr lang="en-US" sz="1500" dirty="0">
                <a:solidFill>
                  <a:schemeClr val="tx1"/>
                </a:solidFill>
              </a:rPr>
              <a:t>Sauvegarde cohérente avec .backup (SQLite) ou pg_dump (PostgreSQL), pas une copie pendant l'écriture</a:t>
            </a:r>
            <a:endParaRPr lang="en-US" sz="1500" dirty="0"/>
          </a:p>
          <a:p>
            <a:pPr marL="342900" indent="-342900">
              <a:spcAft>
                <a:spcPts val="1000"/>
              </a:spcAft>
              <a:buSzPct val="100000"/>
              <a:buChar char="•"/>
            </a:pPr>
            <a:r>
              <a:rPr lang="en-US" sz="1500" dirty="0">
                <a:solidFill>
                  <a:schemeClr val="tx1"/>
                </a:solidFill>
              </a:rPr>
              <a:t>Une sauvegarde se teste en la restaurant ; elle contient les mêmes données, donc les mêmes protections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31 378 appartements vendus au 1er semestre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1 · Nombre total d'appartements vendus au 1er semestre 2020</a:t>
            </a:r>
            <a:endParaRPr lang="en-US" sz="1700" dirty="0"/>
          </a:p>
        </p:txBody>
      </p:sp>
      <p:sp>
        <p:nvSpPr>
          <p:cNvPr id="4" name="sql-besoin-1-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1-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SELECT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COUNT(*) AS nb_appartements_vendus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FROM vente AS v</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INNER JOIN bien AS b ON b.id_bien = v.id_bien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WHERE b.type_local = 'Appartement'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AND v.date_vente BETWEEN '2020-01-01' AND '2020-06-30';</a:t>
            </a:r>
            <a:endParaRPr lang="en-US" sz="1200" dirty="0"/>
          </a:p>
        </p:txBody>
      </p:sp>
      <p:graphicFrame>
        <p:nvGraphicFramePr>
          <p:cNvPr id="10" name="resultat-besoin-1"/>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4785055"/>
              </a:tblGrid>
              <a:tr h="274320">
                <a:tc>
                  <a:txBody>
                    <a:bodyPr/>
                    <a:lstStyle/>
                    <a:p>
                      <a:pPr indent="0" marL="0">
                        <a:buNone/>
                      </a:pPr>
                      <a:r>
                        <a:rPr lang="en-US" sz="1200" b="1" dirty="0">
                          <a:solidFill>
                            <a:schemeClr val="bg1"/>
                          </a:solidFill>
                        </a:rPr>
                        <a:t>Appartements vendus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31 378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lecture-besoin-1-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8" name="lecture-besoin-1-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92 % des 34 169 ventes de l'extrait, les 2 791 autres sont des maisons : c'est une caractéristique de l'extrait, pas du marché français.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L'Île-de-France concentre 45 % des appartements vendus</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2 · Nombre de ventes d'appartements par région</a:t>
            </a:r>
            <a:endParaRPr lang="en-US" sz="1700" dirty="0"/>
          </a:p>
        </p:txBody>
      </p:sp>
      <p:sp>
        <p:nvSpPr>
          <p:cNvPr id="4" name="sql-besoin-2-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2-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1000" dirty="0">
                <a:solidFill>
                  <a:schemeClr val="tx1"/>
                </a:solidFill>
                <a:latin typeface="Consolas" pitchFamily="34" charset="0"/>
                <a:ea typeface="Consolas" pitchFamily="34" charset="-122"/>
                <a:cs typeface="Consolas" pitchFamily="34" charset="-120"/>
              </a:rPr>
              <a:t>SELECT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r.nom_region,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COUNT(*) AS nb_ventes_appartements</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FROM vente AS v</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bien    AS b ON b.id_bien = v.id_bien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region  AS r ON r.id_region = c.id_region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WHERE b.type_local = 'Appartement'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AND v.date_vente BETWEEN '2020-01-01' AND '2020-06-30'</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GROUP BY r.id_region, r.nom_region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ORDER BY nb_ventes_appartements DESC;</a:t>
            </a:r>
            <a:endParaRPr lang="en-US" sz="1000" dirty="0"/>
          </a:p>
        </p:txBody>
      </p:sp>
      <p:graphicFrame>
        <p:nvGraphicFramePr>
          <p:cNvPr id="11" name="resultat-besoin-2"/>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3108960"/>
                <a:gridCol w="1673352"/>
              </a:tblGrid>
              <a:tr h="274320">
                <a:tc>
                  <a:txBody>
                    <a:bodyPr/>
                    <a:lstStyle/>
                    <a:p>
                      <a:pPr indent="0" marL="0">
                        <a:buNone/>
                      </a:pPr>
                      <a:r>
                        <a:rPr lang="en-US" sz="1200" b="1" dirty="0">
                          <a:solidFill>
                            <a:schemeClr val="bg1"/>
                          </a:solidFill>
                        </a:rPr>
                        <a:t>Région</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Ventes d'apparts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Ile-de-France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13 995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Provence-Alpes-Côte d'Azur</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3 649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Auvergne-Rhône-Alpes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3 253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Nouvelle-Aquitaine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1 932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Occitanie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1 640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Pays de la Loire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1 357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Hauts-de-France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1 254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Grand Est</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984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Bretagne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983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Normandie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862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resultat-besoin-2-troncature"/>
          <p:cNvSpPr txBox="1"/>
          <p:nvPr/>
        </p:nvSpPr>
        <p:spPr>
          <a:xfrm>
            <a:off x="6858000" y="4736592"/>
            <a:ext cx="4785055" cy="274320"/>
          </a:xfrm>
          <a:prstGeom prst="rect">
            <a:avLst/>
          </a:prstGeom>
          <a:noFill/>
          <a:ln/>
        </p:spPr>
        <p:txBody>
          <a:bodyPr wrap="square" lIns="0" tIns="0" rIns="0" bIns="0" rtlCol="0" anchor="t"/>
          <a:lstStyle/>
          <a:p>
            <a:pPr indent="0" marL="0">
              <a:buNone/>
            </a:pPr>
            <a:r>
              <a:rPr lang="en-US" sz="1100" i="1" dirty="0">
                <a:solidFill>
                  <a:schemeClr val="accent4"/>
                </a:solidFill>
              </a:rPr>
              <a:t>17 lignes au total : les 10 premières sont affichées</a:t>
            </a:r>
            <a:endParaRPr lang="en-US" sz="1100" dirty="0"/>
          </a:p>
        </p:txBody>
      </p:sp>
      <p:sp>
        <p:nvSpPr>
          <p:cNvPr id="8" name="lecture-besoin-2-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2-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13 995 ventes, loin devant Provence-Alpes-Côte d'Azur (3 649) et Auvergne-Rhône-Alpes (3 253). Mayotte et les collectivités d'outre-mer n'ont aucune vente.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8 ventes sur 10 portent sur un 1 à 3 pièces</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3 · Proportion des ventes d'appartements par nombre de pièces</a:t>
            </a:r>
            <a:endParaRPr lang="en-US" sz="1700" dirty="0"/>
          </a:p>
        </p:txBody>
      </p:sp>
      <p:sp>
        <p:nvSpPr>
          <p:cNvPr id="4" name="sql-besoin-3-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3-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SELECT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b.total_pieces AS nb_pieces,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COUNT(*) AS nb_ventes,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ROUND(COUNT(*) * 100.0 /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SELECT COUNT(*)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FROM vente AS v2</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INNER JOIN bien AS b2 ON b2.id_bien = v2.id_bien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WHERE b2.type_local = 'Appartement'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2) AS proportion_pct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FROM vente AS v</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INNER JOIN bien AS b ON b.id_bien = v.id_bien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WHERE b.type_local = 'Appartement'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GROUP BY b.total_pieces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ORDER BY b.total_pieces;</a:t>
            </a:r>
            <a:endParaRPr lang="en-US" sz="1200" dirty="0"/>
          </a:p>
        </p:txBody>
      </p:sp>
      <p:graphicFrame>
        <p:nvGraphicFramePr>
          <p:cNvPr id="12" name="resultat-besoin-3"/>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1188720"/>
                <a:gridCol w="1463040"/>
                <a:gridCol w="2130552"/>
              </a:tblGrid>
              <a:tr h="274320">
                <a:tc>
                  <a:txBody>
                    <a:bodyPr/>
                    <a:lstStyle/>
                    <a:p>
                      <a:pPr indent="0" marL="0">
                        <a:buNone/>
                      </a:pPr>
                      <a:r>
                        <a:rPr lang="en-US" sz="1200" b="1" dirty="0">
                          <a:solidFill>
                            <a:schemeClr val="bg1"/>
                          </a:solidFill>
                        </a:rPr>
                        <a:t>Pièces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Ventes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Part (%)</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6 739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21,48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9 783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31,18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8 966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28,57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4 460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14,21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1 114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3,55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204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0,65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54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0,17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0,05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0,03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resultat-besoin-3-troncature"/>
          <p:cNvSpPr txBox="1"/>
          <p:nvPr/>
        </p:nvSpPr>
        <p:spPr>
          <a:xfrm>
            <a:off x="6858000" y="4736592"/>
            <a:ext cx="4785055" cy="274320"/>
          </a:xfrm>
          <a:prstGeom prst="rect">
            <a:avLst/>
          </a:prstGeom>
          <a:noFill/>
          <a:ln/>
        </p:spPr>
        <p:txBody>
          <a:bodyPr wrap="square" lIns="0" tIns="0" rIns="0" bIns="0" rtlCol="0" anchor="t"/>
          <a:lstStyle/>
          <a:p>
            <a:pPr indent="0" marL="0">
              <a:buNone/>
            </a:pPr>
            <a:r>
              <a:rPr lang="en-US" sz="1100" i="1" dirty="0">
                <a:solidFill>
                  <a:schemeClr val="accent4"/>
                </a:solidFill>
              </a:rPr>
              <a:t>12 lignes au total : les 10 premières sont affichées</a:t>
            </a:r>
            <a:endParaRPr lang="en-US" sz="1100" dirty="0"/>
          </a:p>
        </p:txBody>
      </p:sp>
      <p:sp>
        <p:nvSpPr>
          <p:cNvPr id="8" name="lecture-besoin-3-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3-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2 pièces 31,2 %, 3 pièces 28,6 %, studios 21,5 % ; 5 pièces et plus : 4,5 %. Les 30 ventes « 0 pièce » viennent de la source : signalées, pas corrigées.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Le m² parisien vaut 1,7 fois celui des Hauts-de-Seine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4 · Les 10 départements où le prix du m² est le plus élevé</a:t>
            </a:r>
            <a:endParaRPr lang="en-US" sz="1700" dirty="0"/>
          </a:p>
        </p:txBody>
      </p:sp>
      <p:sp>
        <p:nvSpPr>
          <p:cNvPr id="4" name="sql-besoin-4-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4-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1000" dirty="0">
                <a:solidFill>
                  <a:schemeClr val="tx1"/>
                </a:solidFill>
                <a:latin typeface="Consolas" pitchFamily="34" charset="0"/>
                <a:ea typeface="Consolas" pitchFamily="34" charset="-122"/>
                <a:cs typeface="Consolas" pitchFamily="34" charset="-120"/>
              </a:rPr>
              <a:t>SELECT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c.code_departement,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ROUND(AVG(v.valeur_fonciere / b.surface_carrez), 0) AS prix_m2_moyen,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COUNT(*) AS nb_ventes</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FROM vente AS v</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bien    AS b ON b.id_bien = v.id_bien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WHERE v.valeur_fonciere IS NOT NULL</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GROUP BY c.code_departement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ORDER BY AVG(v.valeur_fonciere / b.surface_carrez) DESC</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LIMIT 10;</a:t>
            </a:r>
            <a:endParaRPr lang="en-US" sz="1000" dirty="0"/>
          </a:p>
        </p:txBody>
      </p:sp>
      <p:graphicFrame>
        <p:nvGraphicFramePr>
          <p:cNvPr id="13" name="resultat-besoin-4"/>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1005840"/>
                <a:gridCol w="2103120"/>
                <a:gridCol w="1673352"/>
              </a:tblGrid>
              <a:tr h="274320">
                <a:tc>
                  <a:txBody>
                    <a:bodyPr/>
                    <a:lstStyle/>
                    <a:p>
                      <a:pPr indent="0" marL="0">
                        <a:buNone/>
                      </a:pPr>
                      <a:r>
                        <a:rPr lang="en-US" sz="1200" b="1" dirty="0">
                          <a:solidFill>
                            <a:schemeClr val="bg1"/>
                          </a:solidFill>
                        </a:rPr>
                        <a:t>Dép.</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Prix moyen €/m²</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Ventes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12 053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4 840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92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7 219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1 813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94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5 343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1 926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06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4 700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1 343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74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4 667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364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93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4 345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1 074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78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4 225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1 586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69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4 059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1 412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2A</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4 027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245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33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3 764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1 239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lecture-besoin-4-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8" name="lecture-besoin-4-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12 053 €/m² à Paris contre 7 219 dans le 92. En médiane, 9 départements sur 10 restent : le haut du classement est solide, la 10ᵉ place ne l'est pas.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Une maison francilienne : 3 745 €/m² en moyenne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5 · Prix moyen du m² d'une maison en Île-de-France</a:t>
            </a:r>
            <a:endParaRPr lang="en-US" sz="1700" dirty="0"/>
          </a:p>
        </p:txBody>
      </p:sp>
      <p:sp>
        <p:nvSpPr>
          <p:cNvPr id="4" name="sql-besoin-5-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5-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950" dirty="0">
                <a:solidFill>
                  <a:schemeClr val="tx1"/>
                </a:solidFill>
                <a:latin typeface="Consolas" pitchFamily="34" charset="0"/>
                <a:ea typeface="Consolas" pitchFamily="34" charset="-122"/>
                <a:cs typeface="Consolas" pitchFamily="34" charset="-120"/>
              </a:rPr>
              <a:t>SELECT</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ROUND(AVG(v.valeur_fonciere / b.surface_carrez), 0) AS prix_m2_moyen_maison_idf,</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COUNT(*) AS nb_maisons</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FROM vente AS v</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INNER JOIN bien    AS b ON b.id_bien = v.id_bien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WHERE b.type_local = 'Maison'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AND c.id_region = '11'</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AND v.valeur_fonciere IS NOT NULL;</a:t>
            </a:r>
            <a:endParaRPr lang="en-US" sz="950" dirty="0"/>
          </a:p>
        </p:txBody>
      </p:sp>
      <p:graphicFrame>
        <p:nvGraphicFramePr>
          <p:cNvPr id="14" name="resultat-besoin-5"/>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2834640"/>
                <a:gridCol w="1947672"/>
              </a:tblGrid>
              <a:tr h="274320">
                <a:tc>
                  <a:txBody>
                    <a:bodyPr/>
                    <a:lstStyle/>
                    <a:p>
                      <a:pPr indent="0" marL="0">
                        <a:buNone/>
                      </a:pPr>
                      <a:r>
                        <a:rPr lang="en-US" sz="1200" b="1" dirty="0">
                          <a:solidFill>
                            <a:schemeClr val="bg1"/>
                          </a:solidFill>
                        </a:rPr>
                        <a:t>Prix moyen €/m²</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Maisons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3 745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1 059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lecture-besoin-5-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8" name="lecture-besoin-5-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Sur 1 059 maisons, médiane 3 244 €/m² : trois fois moins que le m² parisien, car les maisons vendues sont presque toutes hors de Paris.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Les 10 appartements les plus chers… dont un suspect</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6 · Les 10 appartements les plus chers, avec leur région et leur surface</a:t>
            </a:r>
            <a:endParaRPr lang="en-US" sz="1700" dirty="0"/>
          </a:p>
        </p:txBody>
      </p:sp>
      <p:sp>
        <p:nvSpPr>
          <p:cNvPr id="4" name="sql-besoin-6-fond"/>
          <p:cNvSpPr/>
          <p:nvPr/>
        </p:nvSpPr>
        <p:spPr>
          <a:xfrm>
            <a:off x="548640" y="1645920"/>
            <a:ext cx="5486400" cy="3611880"/>
          </a:xfrm>
          <a:prstGeom prst="roundRect">
            <a:avLst>
              <a:gd name="adj" fmla="val 3038"/>
            </a:avLst>
          </a:prstGeom>
          <a:solidFill>
            <a:srgbClr val="F3F5F7"/>
          </a:solidFill>
          <a:ln w="12700">
            <a:solidFill>
              <a:srgbClr val="F3F5F7"/>
            </a:solidFill>
            <a:prstDash val="solid"/>
          </a:ln>
        </p:spPr>
      </p:sp>
      <p:sp>
        <p:nvSpPr>
          <p:cNvPr id="5" name="sql-besoin-6-code"/>
          <p:cNvSpPr txBox="1"/>
          <p:nvPr/>
        </p:nvSpPr>
        <p:spPr>
          <a:xfrm>
            <a:off x="731520" y="1783080"/>
            <a:ext cx="5120640" cy="3337560"/>
          </a:xfrm>
          <a:prstGeom prst="rect">
            <a:avLst/>
          </a:prstGeom>
          <a:noFill/>
          <a:ln/>
        </p:spPr>
        <p:txBody>
          <a:bodyPr wrap="square" lIns="0" tIns="0" rIns="0" bIns="0" rtlCol="0" anchor="t"/>
          <a:lstStyle/>
          <a:p>
            <a:pPr indent="0" marL="0">
              <a:buNone/>
            </a:pPr>
            <a:r>
              <a:rPr lang="en-US" sz="900" dirty="0">
                <a:solidFill>
                  <a:schemeClr val="tx1"/>
                </a:solidFill>
                <a:latin typeface="Consolas" pitchFamily="34" charset="0"/>
                <a:ea typeface="Consolas" pitchFamily="34" charset="-122"/>
                <a:cs typeface="Consolas" pitchFamily="34" charset="-120"/>
              </a:rPr>
              <a:t>SELECT</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v.valeur_fonciere,</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b.surface_carrez AS surface_m2,</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b.total_pieces   AS nb_pieces,</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c.nom_commune,</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r.nom_region</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FROM vente AS v</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INNER JOIN bien    AS b ON b.id_bien = v.id_bien</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INNER JOIN region  AS r ON r.id_region = c.id_region</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WHERE b.type_local = 'Appartement'</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  AND v.valeur_fonciere IS NOT NULL</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ORDER BY v.valeur_fonciere DESC</a:t>
            </a:r>
            <a:endParaRPr lang="en-US" sz="900" dirty="0"/>
          </a:p>
          <a:p>
            <a:pPr indent="0" marL="0">
              <a:buNone/>
            </a:pPr>
            <a:r>
              <a:rPr lang="en-US" sz="900" dirty="0">
                <a:solidFill>
                  <a:schemeClr val="tx1"/>
                </a:solidFill>
                <a:latin typeface="Consolas" pitchFamily="34" charset="0"/>
                <a:ea typeface="Consolas" pitchFamily="34" charset="-122"/>
                <a:cs typeface="Consolas" pitchFamily="34" charset="-120"/>
              </a:rPr>
              <a:t>LIMIT 10;</a:t>
            </a:r>
            <a:endParaRPr lang="en-US" sz="900" dirty="0"/>
          </a:p>
        </p:txBody>
      </p:sp>
      <p:graphicFrame>
        <p:nvGraphicFramePr>
          <p:cNvPr id="15" name="resultat-besoin-6"/>
          <p:cNvGraphicFramePr>
            <a:graphicFrameLocks noGrp="1"/>
          </p:cNvGraphicFramePr>
          <p:nvPr>
            <p:extLst>
              <p:ext uri="{D42A27DB-BD31-4B8C-83A1-F6EECF244321}">
                <p14:modId xmlns:p14="http://schemas.microsoft.com/office/powerpoint/2010/main" val="1579011935"/>
              </p:ext>
            </p:extLst>
          </p:nvPr>
        </p:nvGraphicFramePr>
        <p:xfrm>
          <a:off x="6309360" y="1645920"/>
          <a:ext cx="5333695" cy="914400"/>
        </p:xfrm>
        <a:graphic>
          <a:graphicData uri="http://schemas.openxmlformats.org/drawingml/2006/table">
            <a:tbl>
              <a:tblPr/>
              <a:tblGrid>
                <a:gridCol w="1143000"/>
                <a:gridCol w="777240"/>
                <a:gridCol w="640080"/>
                <a:gridCol w="1444752"/>
                <a:gridCol w="1325880"/>
              </a:tblGrid>
              <a:tr h="274320">
                <a:tc>
                  <a:txBody>
                    <a:bodyPr/>
                    <a:lstStyle/>
                    <a:p>
                      <a:pPr indent="0" marL="0">
                        <a:buNone/>
                      </a:pPr>
                      <a:r>
                        <a:rPr lang="en-US" sz="1000" b="1" dirty="0">
                          <a:solidFill>
                            <a:schemeClr val="bg1"/>
                          </a:solidFill>
                        </a:rPr>
                        <a:t>Valeur (€)</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m² Carrez</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Pièces</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Commune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Région</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000" dirty="0">
                          <a:solidFill>
                            <a:schemeClr val="tx1"/>
                          </a:solidFill>
                        </a:rPr>
                        <a:t>9 000 000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9,1</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16e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8 600 000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64</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Corbeil-Essonnes</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8 577 713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20,55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7e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7 620 000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42,77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2</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17e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7 600 000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253,3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6e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7 535 000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139,9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1er</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7 420 000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360,95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8</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16e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7 200 000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595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8</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16e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7 050 000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122,56</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1er</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6 600 000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79,38</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Paris 1er</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Ile-de-France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lecture-besoin-6-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8" name="lecture-besoin-6-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Tous en Île-de-France. Le 1er coûte 9 M€ pour 9,10 m² Carrez avec un seul lot : erreur de saisie ou vente incomplète. On signale ces lignes.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Le +3,68 % du T1 au T2 masque le creux d'avril</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7 · Évolution du nombre de ventes entre le 1er et le 2ᵉ trimestre 2020</a:t>
            </a:r>
            <a:endParaRPr lang="en-US" sz="1700" dirty="0"/>
          </a:p>
        </p:txBody>
      </p:sp>
      <p:sp>
        <p:nvSpPr>
          <p:cNvPr id="4" name="sql-besoin-7-fond"/>
          <p:cNvSpPr/>
          <p:nvPr/>
        </p:nvSpPr>
        <p:spPr>
          <a:xfrm>
            <a:off x="548640" y="1645920"/>
            <a:ext cx="11094415" cy="2011680"/>
          </a:xfrm>
          <a:prstGeom prst="roundRect">
            <a:avLst>
              <a:gd name="adj" fmla="val 5455"/>
            </a:avLst>
          </a:prstGeom>
          <a:solidFill>
            <a:srgbClr val="F3F5F7"/>
          </a:solidFill>
          <a:ln w="12700">
            <a:solidFill>
              <a:srgbClr val="F3F5F7"/>
            </a:solidFill>
            <a:prstDash val="solid"/>
          </a:ln>
        </p:spPr>
      </p:sp>
      <p:sp>
        <p:nvSpPr>
          <p:cNvPr id="5" name="sql-besoin-7-code"/>
          <p:cNvSpPr txBox="1"/>
          <p:nvPr/>
        </p:nvSpPr>
        <p:spPr>
          <a:xfrm>
            <a:off x="731520" y="1783080"/>
            <a:ext cx="10728655" cy="1737360"/>
          </a:xfrm>
          <a:prstGeom prst="rect">
            <a:avLst/>
          </a:prstGeom>
          <a:noFill/>
          <a:ln/>
        </p:spPr>
        <p:txBody>
          <a:bodyPr wrap="square" lIns="0" tIns="0" rIns="0" bIns="0" rtlCol="0" anchor="t"/>
          <a:lstStyle/>
          <a:p>
            <a:pPr indent="0" marL="0">
              <a:buNone/>
            </a:pPr>
            <a:r>
              <a:rPr lang="en-US" sz="1000" dirty="0">
                <a:solidFill>
                  <a:schemeClr val="tx1"/>
                </a:solidFill>
                <a:latin typeface="Consolas" pitchFamily="34" charset="0"/>
                <a:ea typeface="Consolas" pitchFamily="34" charset="-122"/>
                <a:cs typeface="Consolas" pitchFamily="34" charset="-120"/>
              </a:rPr>
              <a:t>WITH ventes_par_trimestre AS (</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SELECT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SUM(CASE WHEN date_vente BETWEEN '2020-01-01' AND '2020-03-31' THEN 1 ELSE 0 END) AS nb_t1,</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SUM(CASE WHEN date_vente BETWEEN '2020-04-01' AND '2020-06-30' THEN 1 ELSE 0 END) AS nb_t2</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FROM vente</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SELECT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nb_t1,</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nb_t2,</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ROUND((nb_t2 - nb_t1) * 100.0 / nb_t1, 2) AS evolution_pct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FROM ventes_par_trimestre;</a:t>
            </a:r>
            <a:endParaRPr lang="en-US" sz="1000" dirty="0"/>
          </a:p>
        </p:txBody>
      </p:sp>
      <p:graphicFrame>
        <p:nvGraphicFramePr>
          <p:cNvPr id="16" name="resultat-besoin-7"/>
          <p:cNvGraphicFramePr>
            <a:graphicFrameLocks noGrp="1"/>
          </p:cNvGraphicFramePr>
          <p:nvPr>
            <p:extLst>
              <p:ext uri="{D42A27DB-BD31-4B8C-83A1-F6EECF244321}">
                <p14:modId xmlns:p14="http://schemas.microsoft.com/office/powerpoint/2010/main" val="1579011935"/>
              </p:ext>
            </p:extLst>
          </p:nvPr>
        </p:nvGraphicFramePr>
        <p:xfrm>
          <a:off x="548640" y="3794760"/>
          <a:ext cx="5120640" cy="914400"/>
        </p:xfrm>
        <a:graphic>
          <a:graphicData uri="http://schemas.openxmlformats.org/drawingml/2006/table">
            <a:tbl>
              <a:tblPr/>
              <a:tblGrid>
                <a:gridCol w="1706880"/>
                <a:gridCol w="1706880"/>
                <a:gridCol w="1706880"/>
              </a:tblGrid>
              <a:tr h="274320">
                <a:tc>
                  <a:txBody>
                    <a:bodyPr/>
                    <a:lstStyle/>
                    <a:p>
                      <a:pPr indent="0" marL="0">
                        <a:buNone/>
                      </a:pPr>
                      <a:r>
                        <a:rPr lang="en-US" sz="1300" b="1" dirty="0">
                          <a:solidFill>
                            <a:schemeClr val="bg1"/>
                          </a:solidFill>
                        </a:rPr>
                        <a:t>Ventes T1</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Ventes T2</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Évolution (%)</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300" dirty="0">
                          <a:solidFill>
                            <a:schemeClr val="tx1"/>
                          </a:solidFill>
                        </a:rPr>
                        <a:t>16 776</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17 393</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3,68</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graphicFrame>
        <p:nvGraphicFramePr>
          <p:cNvPr id="7" name="graphique-ventes-mois" descr=""/>
          <p:cNvGraphicFramePr/>
          <p:nvPr/>
        </p:nvGraphicFramePr>
        <p:xfrm>
          <a:off x="5943600" y="3703320"/>
          <a:ext cx="5699455" cy="1645920"/>
        </p:xfrm>
        <a:graphic xmlns:a="http://schemas.openxmlformats.org/drawingml/2006/main">
          <a:graphicData uri="http://schemas.openxmlformats.org/drawingml/2006/chart">
            <c:chart xmlns:c="http://schemas.openxmlformats.org/drawingml/2006/chart" r:id="rId1"/>
          </a:graphicData>
        </a:graphic>
      </p:graphicFrame>
      <p:sp>
        <p:nvSpPr>
          <p:cNvPr id="8" name="lecture-besoin-7-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7-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16 776 puis 17 393 ventes, mais chute dès la mi-mars, creux en avril, rebond en mai-juin. La chute coïncide avec le premier confinement (17 mars - 11 mai) : à confirmer en comparant avec 2019.</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Île-de-France en tête, des rangs suivants fragiles</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8 · Régions classées par prix au m² des appartements de plus de 4 pièces</a:t>
            </a:r>
            <a:endParaRPr lang="en-US" sz="1700" dirty="0"/>
          </a:p>
        </p:txBody>
      </p:sp>
      <p:sp>
        <p:nvSpPr>
          <p:cNvPr id="4" name="sql-besoin-8-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8-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950" dirty="0">
                <a:solidFill>
                  <a:schemeClr val="tx1"/>
                </a:solidFill>
                <a:latin typeface="Consolas" pitchFamily="34" charset="0"/>
                <a:ea typeface="Consolas" pitchFamily="34" charset="-122"/>
                <a:cs typeface="Consolas" pitchFamily="34" charset="-120"/>
              </a:rPr>
              <a:t>SELECT</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RANK() OVER (ORDER BY AVG(v.valeur_fonciere / b.surface_carrez) DESC) AS rang,</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r.nom_region,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ROUND(AVG(v.valeur_fonciere / b.surface_carrez), 0) AS prix_m2_moyen,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COUNT(*) AS nb_ventes</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FROM vente AS v</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INNER JOIN bien    AS b ON b.id_bien = v.id_bien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INNER JOIN region  AS r ON r.id_region = c.id_region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WHERE b.type_local = 'Appartement'</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AND b.total_pieces &gt; 4</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  AND v.valeur_fonciere IS NOT NULL</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GROUP BY r.id_region, r.nom_region</a:t>
            </a:r>
            <a:endParaRPr lang="en-US" sz="950" dirty="0"/>
          </a:p>
          <a:p>
            <a:pPr indent="0" marL="0">
              <a:buNone/>
            </a:pPr>
            <a:r>
              <a:rPr lang="en-US" sz="950" dirty="0">
                <a:solidFill>
                  <a:schemeClr val="tx1"/>
                </a:solidFill>
                <a:latin typeface="Consolas" pitchFamily="34" charset="0"/>
                <a:ea typeface="Consolas" pitchFamily="34" charset="-122"/>
                <a:cs typeface="Consolas" pitchFamily="34" charset="-120"/>
              </a:rPr>
              <a:t>ORDER BY rang;</a:t>
            </a:r>
            <a:endParaRPr lang="en-US" sz="950" dirty="0"/>
          </a:p>
        </p:txBody>
      </p:sp>
      <p:graphicFrame>
        <p:nvGraphicFramePr>
          <p:cNvPr id="17" name="resultat-besoin-8"/>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548640"/>
                <a:gridCol w="2468880"/>
                <a:gridCol w="1033272"/>
                <a:gridCol w="731520"/>
              </a:tblGrid>
              <a:tr h="274320">
                <a:tc>
                  <a:txBody>
                    <a:bodyPr/>
                    <a:lstStyle/>
                    <a:p>
                      <a:pPr indent="0" marL="0">
                        <a:buNone/>
                      </a:pPr>
                      <a:r>
                        <a:rPr lang="en-US" sz="1200" b="1" dirty="0">
                          <a:solidFill>
                            <a:schemeClr val="bg1"/>
                          </a:solidFill>
                        </a:rPr>
                        <a:t>Rang</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Région</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Prix moyen €/m²</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Ventes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Ile-de-France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8 770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684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La Réunion</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3 642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Provence-Alpes-Côte d'Azur</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3 588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117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Corse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3 105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Auvergne-Rhône-Alpes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2 891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185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Nouvelle-Aquitaine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2 465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68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Bretagne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2 412</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Pays de la Loire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2 316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54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Hauts-de-France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2 190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10</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Occitanie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2 097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resultat-besoin-8-troncature"/>
          <p:cNvSpPr txBox="1"/>
          <p:nvPr/>
        </p:nvSpPr>
        <p:spPr>
          <a:xfrm>
            <a:off x="6858000" y="4736592"/>
            <a:ext cx="4785055" cy="274320"/>
          </a:xfrm>
          <a:prstGeom prst="rect">
            <a:avLst/>
          </a:prstGeom>
          <a:noFill/>
          <a:ln/>
        </p:spPr>
        <p:txBody>
          <a:bodyPr wrap="square" lIns="0" tIns="0" rIns="0" bIns="0" rtlCol="0" anchor="t"/>
          <a:lstStyle/>
          <a:p>
            <a:pPr indent="0" marL="0">
              <a:buNone/>
            </a:pPr>
            <a:r>
              <a:rPr lang="en-US" sz="1100" i="1" dirty="0">
                <a:solidFill>
                  <a:schemeClr val="accent4"/>
                </a:solidFill>
              </a:rPr>
              <a:t>15 lignes au total : les 10 premières sont affichées</a:t>
            </a:r>
            <a:endParaRPr lang="en-US" sz="1100" dirty="0"/>
          </a:p>
        </p:txBody>
      </p:sp>
      <p:sp>
        <p:nvSpPr>
          <p:cNvPr id="8" name="lecture-besoin-8-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8-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8 770 €/m² sur 684 ventes en Île-de-France. Mais La Réunion est 2ᵉ sur 2 ventes : sous 30 ventes, un rang ne veut pas dire grand-chose.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48 communes dépassent 50 ventes au 1er trimestre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9 · Communes ayant au moins 50 ventes au 1er trimestre</a:t>
            </a:r>
            <a:endParaRPr lang="en-US" sz="1700" dirty="0"/>
          </a:p>
        </p:txBody>
      </p:sp>
      <p:sp>
        <p:nvSpPr>
          <p:cNvPr id="4" name="sql-besoin-9-fond"/>
          <p:cNvSpPr/>
          <p:nvPr/>
        </p:nvSpPr>
        <p:spPr>
          <a:xfrm>
            <a:off x="548640" y="1645920"/>
            <a:ext cx="6035040" cy="3611880"/>
          </a:xfrm>
          <a:prstGeom prst="roundRect">
            <a:avLst>
              <a:gd name="adj" fmla="val 3038"/>
            </a:avLst>
          </a:prstGeom>
          <a:solidFill>
            <a:srgbClr val="F3F5F7"/>
          </a:solidFill>
          <a:ln w="12700">
            <a:solidFill>
              <a:srgbClr val="F3F5F7"/>
            </a:solidFill>
            <a:prstDash val="solid"/>
          </a:ln>
        </p:spPr>
      </p:sp>
      <p:sp>
        <p:nvSpPr>
          <p:cNvPr id="5" name="sql-besoin-9-code"/>
          <p:cNvSpPr txBox="1"/>
          <p:nvPr/>
        </p:nvSpPr>
        <p:spPr>
          <a:xfrm>
            <a:off x="731520" y="1783080"/>
            <a:ext cx="5669280" cy="3337560"/>
          </a:xfrm>
          <a:prstGeom prst="rect">
            <a:avLst/>
          </a:prstGeom>
          <a:noFill/>
          <a:ln/>
        </p:spPr>
        <p:txBody>
          <a:bodyPr wrap="square" lIns="0" tIns="0" rIns="0" bIns="0" rtlCol="0" anchor="t"/>
          <a:lstStyle/>
          <a:p>
            <a:pPr indent="0" marL="0">
              <a:buNone/>
            </a:pPr>
            <a:r>
              <a:rPr lang="en-US" sz="1000" dirty="0">
                <a:solidFill>
                  <a:schemeClr val="tx1"/>
                </a:solidFill>
                <a:latin typeface="Consolas" pitchFamily="34" charset="0"/>
                <a:ea typeface="Consolas" pitchFamily="34" charset="-122"/>
                <a:cs typeface="Consolas" pitchFamily="34" charset="-120"/>
              </a:rPr>
              <a:t>SELECT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c.nom_commune,</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c.code_departement,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    COUNT(*) AS nb_ventes_t1</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FROM vente AS v</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bien    AS b ON b.id_bien = v.id_bien</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WHERE v.date_vente BETWEEN '2020-01-01' AND '2020-03-31'</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GROUP BY c.id_codedep_codecommune, c.nom_commune, c.code_departement</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HAVING COUNT(*) &gt;= 50</a:t>
            </a:r>
            <a:endParaRPr lang="en-US" sz="1000" dirty="0"/>
          </a:p>
          <a:p>
            <a:pPr indent="0" marL="0">
              <a:buNone/>
            </a:pPr>
            <a:r>
              <a:rPr lang="en-US" sz="1000" dirty="0">
                <a:solidFill>
                  <a:schemeClr val="tx1"/>
                </a:solidFill>
                <a:latin typeface="Consolas" pitchFamily="34" charset="0"/>
                <a:ea typeface="Consolas" pitchFamily="34" charset="-122"/>
                <a:cs typeface="Consolas" pitchFamily="34" charset="-120"/>
              </a:rPr>
              <a:t>ORDER BY nb_ventes_t1 DESC;</a:t>
            </a:r>
            <a:endParaRPr lang="en-US" sz="1000" dirty="0"/>
          </a:p>
        </p:txBody>
      </p:sp>
      <p:graphicFrame>
        <p:nvGraphicFramePr>
          <p:cNvPr id="18" name="resultat-besoin-9"/>
          <p:cNvGraphicFramePr>
            <a:graphicFrameLocks noGrp="1"/>
          </p:cNvGraphicFramePr>
          <p:nvPr>
            <p:extLst>
              <p:ext uri="{D42A27DB-BD31-4B8C-83A1-F6EECF244321}">
                <p14:modId xmlns:p14="http://schemas.microsoft.com/office/powerpoint/2010/main" val="1579011935"/>
              </p:ext>
            </p:extLst>
          </p:nvPr>
        </p:nvGraphicFramePr>
        <p:xfrm>
          <a:off x="6858000" y="1645920"/>
          <a:ext cx="4785055" cy="914400"/>
        </p:xfrm>
        <a:graphic>
          <a:graphicData uri="http://schemas.openxmlformats.org/drawingml/2006/table">
            <a:tbl>
              <a:tblPr/>
              <a:tblGrid>
                <a:gridCol w="2377440"/>
                <a:gridCol w="822960"/>
                <a:gridCol w="1581912"/>
              </a:tblGrid>
              <a:tr h="274320">
                <a:tc>
                  <a:txBody>
                    <a:bodyPr/>
                    <a:lstStyle/>
                    <a:p>
                      <a:pPr indent="0" marL="0">
                        <a:buNone/>
                      </a:pPr>
                      <a:r>
                        <a:rPr lang="en-US" sz="1200" b="1" dirty="0">
                          <a:solidFill>
                            <a:schemeClr val="bg1"/>
                          </a:solidFill>
                        </a:rPr>
                        <a:t>Commune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Dép.</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Ventes T1</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200" dirty="0">
                          <a:solidFill>
                            <a:schemeClr val="tx1"/>
                          </a:solidFill>
                        </a:rPr>
                        <a:t>Paris 17e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228</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15e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215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18e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209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Nice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06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173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11e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169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16e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165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Bordeaux</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33</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157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14e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146</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Paris 20e</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127</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200" dirty="0">
                          <a:solidFill>
                            <a:schemeClr val="tx1"/>
                          </a:solidFill>
                        </a:rPr>
                        <a:t>Nantes</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44</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200" dirty="0">
                          <a:solidFill>
                            <a:schemeClr val="tx1"/>
                          </a:solidFill>
                        </a:rPr>
                        <a:t>119</a:t>
                      </a:r>
                      <a:endParaRPr lang="en-US" sz="12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resultat-besoin-9-troncature"/>
          <p:cNvSpPr txBox="1"/>
          <p:nvPr/>
        </p:nvSpPr>
        <p:spPr>
          <a:xfrm>
            <a:off x="6858000" y="4736592"/>
            <a:ext cx="4785055" cy="274320"/>
          </a:xfrm>
          <a:prstGeom prst="rect">
            <a:avLst/>
          </a:prstGeom>
          <a:noFill/>
          <a:ln/>
        </p:spPr>
        <p:txBody>
          <a:bodyPr wrap="square" lIns="0" tIns="0" rIns="0" bIns="0" rtlCol="0" anchor="t"/>
          <a:lstStyle/>
          <a:p>
            <a:pPr indent="0" marL="0">
              <a:buNone/>
            </a:pPr>
            <a:r>
              <a:rPr lang="en-US" sz="1100" i="1" dirty="0">
                <a:solidFill>
                  <a:schemeClr val="accent4"/>
                </a:solidFill>
              </a:rPr>
              <a:t>48 lignes au total : les 10 premières sont affichées</a:t>
            </a:r>
            <a:endParaRPr lang="en-US" sz="1100" dirty="0"/>
          </a:p>
        </p:txBody>
      </p:sp>
      <p:sp>
        <p:nvSpPr>
          <p:cNvPr id="8" name="lecture-besoin-9-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9-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Dont 19 arrondissements de Paris et 4 de Marseille, que DVF traite comme des communes. Hors Paris : Nice (173), Bordeaux (157), Nantes (119).</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3 pièces : −12,4 % au m², surtout par la géographie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10 · Écart de prix au m² entre les appartements de 2 et de 3 pièces</a:t>
            </a:r>
            <a:endParaRPr lang="en-US" sz="1700" dirty="0"/>
          </a:p>
        </p:txBody>
      </p:sp>
      <p:sp>
        <p:nvSpPr>
          <p:cNvPr id="4" name="sql-besoin-10-fond"/>
          <p:cNvSpPr/>
          <p:nvPr/>
        </p:nvSpPr>
        <p:spPr>
          <a:xfrm>
            <a:off x="548640" y="1645920"/>
            <a:ext cx="11094415" cy="2743200"/>
          </a:xfrm>
          <a:prstGeom prst="roundRect">
            <a:avLst>
              <a:gd name="adj" fmla="val 4000"/>
            </a:avLst>
          </a:prstGeom>
          <a:solidFill>
            <a:srgbClr val="F3F5F7"/>
          </a:solidFill>
          <a:ln w="12700">
            <a:solidFill>
              <a:srgbClr val="F3F5F7"/>
            </a:solidFill>
            <a:prstDash val="solid"/>
          </a:ln>
        </p:spPr>
      </p:sp>
      <p:sp>
        <p:nvSpPr>
          <p:cNvPr id="5" name="sql-besoin-10-code"/>
          <p:cNvSpPr txBox="1"/>
          <p:nvPr/>
        </p:nvSpPr>
        <p:spPr>
          <a:xfrm>
            <a:off x="731520" y="1783080"/>
            <a:ext cx="10728655" cy="2468880"/>
          </a:xfrm>
          <a:prstGeom prst="rect">
            <a:avLst/>
          </a:prstGeom>
          <a:noFill/>
          <a:ln/>
        </p:spPr>
        <p:txBody>
          <a:bodyPr wrap="square" lIns="0" tIns="0" rIns="0" bIns="0" rtlCol="0" anchor="t"/>
          <a:lstStyle/>
          <a:p>
            <a:pPr indent="0" marL="0">
              <a:buNone/>
            </a:pPr>
            <a:r>
              <a:rPr lang="en-US" sz="1150" dirty="0">
                <a:solidFill>
                  <a:schemeClr val="tx1"/>
                </a:solidFill>
                <a:latin typeface="Consolas" pitchFamily="34" charset="0"/>
                <a:ea typeface="Consolas" pitchFamily="34" charset="-122"/>
                <a:cs typeface="Consolas" pitchFamily="34" charset="-120"/>
              </a:rPr>
              <a:t>WITH prix_par_taille AS (</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SELECT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AVG(CASE WHEN b.total_pieces = 2 THEN v.valeur_fonciere / b.surface_carrez END) AS prix_m2_2p,</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AVG(CASE WHEN b.total_pieces = 3 THEN v.valeur_fonciere / b.surface_carrez END) AS prix_m2_3p</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FROM vente AS v</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INNER JOIN bien AS b ON b.id_bien = v.id_bien</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WHERE b.type_local = 'Appartement'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AND v.valeur_fonciere IS NOT NULL</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SELECT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ROUND(prix_m2_2p, 0) AS prix_m2_2_pieces,</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ROUND(prix_m2_3p, 0) AS prix_m2_3_pieces,</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    ROUND((prix_m2_3p - prix_m2_2p) * 100.0 / prix_m2_2p, 2) AS ecart_pct</a:t>
            </a:r>
            <a:endParaRPr lang="en-US" sz="1150" dirty="0"/>
          </a:p>
          <a:p>
            <a:pPr indent="0" marL="0">
              <a:buNone/>
            </a:pPr>
            <a:r>
              <a:rPr lang="en-US" sz="1150" dirty="0">
                <a:solidFill>
                  <a:schemeClr val="tx1"/>
                </a:solidFill>
                <a:latin typeface="Consolas" pitchFamily="34" charset="0"/>
                <a:ea typeface="Consolas" pitchFamily="34" charset="-122"/>
                <a:cs typeface="Consolas" pitchFamily="34" charset="-120"/>
              </a:rPr>
              <a:t>FROM prix_par_taille;</a:t>
            </a:r>
            <a:endParaRPr lang="en-US" sz="1150" dirty="0"/>
          </a:p>
        </p:txBody>
      </p:sp>
      <p:graphicFrame>
        <p:nvGraphicFramePr>
          <p:cNvPr id="19" name="resultat-besoin-10"/>
          <p:cNvGraphicFramePr>
            <a:graphicFrameLocks noGrp="1"/>
          </p:cNvGraphicFramePr>
          <p:nvPr>
            <p:extLst>
              <p:ext uri="{D42A27DB-BD31-4B8C-83A1-F6EECF244321}">
                <p14:modId xmlns:p14="http://schemas.microsoft.com/office/powerpoint/2010/main" val="1579011935"/>
              </p:ext>
            </p:extLst>
          </p:nvPr>
        </p:nvGraphicFramePr>
        <p:xfrm>
          <a:off x="548640" y="4526280"/>
          <a:ext cx="5120640" cy="914400"/>
        </p:xfrm>
        <a:graphic>
          <a:graphicData uri="http://schemas.openxmlformats.org/drawingml/2006/table">
            <a:tbl>
              <a:tblPr/>
              <a:tblGrid>
                <a:gridCol w="1706880"/>
                <a:gridCol w="1706880"/>
                <a:gridCol w="1706880"/>
              </a:tblGrid>
              <a:tr h="274320">
                <a:tc>
                  <a:txBody>
                    <a:bodyPr/>
                    <a:lstStyle/>
                    <a:p>
                      <a:pPr indent="0" marL="0">
                        <a:buNone/>
                      </a:pPr>
                      <a:r>
                        <a:rPr lang="en-US" sz="1300" b="1" dirty="0">
                          <a:solidFill>
                            <a:schemeClr val="bg1"/>
                          </a:solidFill>
                        </a:rPr>
                        <a:t>2 pièces €/m²</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3 pièces €/m²</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Écart (%)</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300" dirty="0">
                          <a:solidFill>
                            <a:schemeClr val="tx1"/>
                          </a:solidFill>
                        </a:rPr>
                        <a:t>4 909</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4 300</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300" dirty="0">
                          <a:solidFill>
                            <a:schemeClr val="tx1"/>
                          </a:solidFill>
                        </a:rPr>
                        <a:t>-12,4</a:t>
                      </a:r>
                      <a:endParaRPr lang="en-US" sz="13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lecture-besoin-10-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8" name="lecture-besoin-10-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Le m² d'un 3 pièces coûte 4 300 €, contre 4 909 € pour un 2 pièces. Les 2 pièces sont plus souvent à Paris : à répartition géographique égale, l'écart tombe à environ 5 %.</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Besoin 11 : un classement par département avec RANK()</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11 · Les 3 communes à la valeur foncière moyenne la plus haute dans 5 départements</a:t>
            </a:r>
            <a:endParaRPr lang="en-US" sz="1700" dirty="0"/>
          </a:p>
        </p:txBody>
      </p:sp>
      <p:sp>
        <p:nvSpPr>
          <p:cNvPr id="4" name="sql-besoin-11-fond"/>
          <p:cNvSpPr/>
          <p:nvPr/>
        </p:nvSpPr>
        <p:spPr>
          <a:xfrm>
            <a:off x="548640" y="1645920"/>
            <a:ext cx="11094415" cy="4526280"/>
          </a:xfrm>
          <a:prstGeom prst="roundRect">
            <a:avLst>
              <a:gd name="adj" fmla="val 2424"/>
            </a:avLst>
          </a:prstGeom>
          <a:solidFill>
            <a:srgbClr val="F3F5F7"/>
          </a:solidFill>
          <a:ln w="12700">
            <a:solidFill>
              <a:srgbClr val="F3F5F7"/>
            </a:solidFill>
            <a:prstDash val="solid"/>
          </a:ln>
        </p:spPr>
      </p:sp>
      <p:sp>
        <p:nvSpPr>
          <p:cNvPr id="5" name="sql-besoin-11-code"/>
          <p:cNvSpPr txBox="1"/>
          <p:nvPr/>
        </p:nvSpPr>
        <p:spPr>
          <a:xfrm>
            <a:off x="731520" y="1783080"/>
            <a:ext cx="10728655" cy="425196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WITH moyenne_par_commune AS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SELECT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c.code_departement,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c.nom_commune,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AVG(v.valeur_fonciere) AS valeur_moyenne,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COUNT(*) AS nb_ventes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FROM vente AS v</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INNER JOIN bien    AS b ON b.id_bien = v.id_bien</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INNER JOIN commune AS c ON c.id_codedep_codecommune = b.id_codedep_codecommune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WHERE c.code_departement IN ('06', '13', '33', '59', '69')</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AND v.valeur_fonciere IS NOT NULL</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GROUP BY c.id_codedep_codecommune, c.code_departement, c.nom_commune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classement AS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SELECT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RANK() OVER (PARTITION BY code_departement ORDER BY valeur_moyenne DESC) AS rang</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FROM moyenne_par_commune</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SELECT code_departement, rang, nom_commune, ROUND(valeur_moyenne, 0) AS valeur_moyenne, nb_ventes</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FROM classement</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WHERE rang &lt;= 3</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ORDER BY code_departement, rang;</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Top 3 par département : 5 communes sur une seule vente</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11 · Les 3 communes à la valeur foncière moyenne la plus haute dans 5 départements</a:t>
            </a:r>
            <a:endParaRPr lang="en-US" sz="1700" dirty="0"/>
          </a:p>
        </p:txBody>
      </p:sp>
      <p:graphicFrame>
        <p:nvGraphicFramePr>
          <p:cNvPr id="21" name="resultat-besoin-11"/>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280160"/>
                <a:gridCol w="822960"/>
                <a:gridCol w="4389120"/>
                <a:gridCol w="2587752"/>
                <a:gridCol w="2011680"/>
              </a:tblGrid>
              <a:tr h="219456">
                <a:tc>
                  <a:txBody>
                    <a:bodyPr/>
                    <a:lstStyle/>
                    <a:p>
                      <a:pPr indent="0" marL="0">
                        <a:buNone/>
                      </a:pPr>
                      <a:r>
                        <a:rPr lang="en-US" sz="1100" b="1" dirty="0">
                          <a:solidFill>
                            <a:schemeClr val="bg1"/>
                          </a:solidFill>
                        </a:rPr>
                        <a:t>Dép.</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Rang</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Commune</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Valeur moyenne (€)</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Ventes</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19456">
                <a:tc>
                  <a:txBody>
                    <a:bodyPr/>
                    <a:lstStyle/>
                    <a:p>
                      <a:pPr indent="0" marL="0">
                        <a:buNone/>
                      </a:pPr>
                      <a:r>
                        <a:rPr lang="en-US" sz="1100" dirty="0">
                          <a:solidFill>
                            <a:schemeClr val="tx1"/>
                          </a:solidFill>
                        </a:rPr>
                        <a:t>06</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Saint-Jean-Cap-Ferrat</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968 750</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4</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06</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Eze</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655 000</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06</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Mouans-Sartoux</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476 898</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8</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13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Gignac-la-Nerthe</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330 000</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13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Saint-Savournin</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314 425</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13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Cassis</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313 417</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16</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33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Lège-Cap-Ferret</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549 501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33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Vayres</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335 000</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33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Arcachon</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307 436</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55</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19456">
                <a:tc>
                  <a:txBody>
                    <a:bodyPr/>
                    <a:lstStyle/>
                    <a:p>
                      <a:pPr indent="0" marL="0">
                        <a:buNone/>
                      </a:pPr>
                      <a:r>
                        <a:rPr lang="en-US" sz="1100" dirty="0">
                          <a:solidFill>
                            <a:schemeClr val="tx1"/>
                          </a:solidFill>
                        </a:rPr>
                        <a:t>59</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Bersée</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433 202</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100" dirty="0">
                          <a:solidFill>
                            <a:schemeClr val="tx1"/>
                          </a:solidFill>
                        </a:rPr>
                        <a:t>1</a:t>
                      </a:r>
                      <a:endParaRPr lang="en-US" sz="11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5" name="lecture-besoin-11-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6" name="lecture-besoin-11-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5 des 15 communes n'ont qu'une seule vente : leur moyenne n'est pas « la » valeur de la commune. En gardant les communes d'au moins 5 ventes, le top 3 change : par exemple Cassis, Arcachon, Lyon 2ᵉ et 6ᵉ.</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Paris 2ᵉ : 5,88 ventes de l'extrait pour 1 000 hab.</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Besoin 12 · Les 20 communes de plus de 10 000 habitants avec le plus de ventes pour 1 000 habitants</a:t>
            </a:r>
            <a:endParaRPr lang="en-US" sz="1700" dirty="0"/>
          </a:p>
        </p:txBody>
      </p:sp>
      <p:sp>
        <p:nvSpPr>
          <p:cNvPr id="4" name="sql-besoin-12-fond"/>
          <p:cNvSpPr/>
          <p:nvPr/>
        </p:nvSpPr>
        <p:spPr>
          <a:xfrm>
            <a:off x="548640" y="1645920"/>
            <a:ext cx="5486400" cy="3611880"/>
          </a:xfrm>
          <a:prstGeom prst="roundRect">
            <a:avLst>
              <a:gd name="adj" fmla="val 3038"/>
            </a:avLst>
          </a:prstGeom>
          <a:solidFill>
            <a:srgbClr val="F3F5F7"/>
          </a:solidFill>
          <a:ln w="12700">
            <a:solidFill>
              <a:srgbClr val="F3F5F7"/>
            </a:solidFill>
            <a:prstDash val="solid"/>
          </a:ln>
        </p:spPr>
      </p:sp>
      <p:sp>
        <p:nvSpPr>
          <p:cNvPr id="5" name="sql-besoin-12-code"/>
          <p:cNvSpPr txBox="1"/>
          <p:nvPr/>
        </p:nvSpPr>
        <p:spPr>
          <a:xfrm>
            <a:off x="731520" y="1783080"/>
            <a:ext cx="5120640" cy="3337560"/>
          </a:xfrm>
          <a:prstGeom prst="rect">
            <a:avLst/>
          </a:prstGeom>
          <a:noFill/>
          <a:ln/>
        </p:spPr>
        <p:txBody>
          <a:bodyPr wrap="square" lIns="0" tIns="0" rIns="0" bIns="0" rtlCol="0" anchor="t"/>
          <a:lstStyle/>
          <a:p>
            <a:pPr indent="0" marL="0">
              <a:buNone/>
            </a:pPr>
            <a:r>
              <a:rPr lang="en-US" sz="850" dirty="0">
                <a:solidFill>
                  <a:schemeClr val="tx1"/>
                </a:solidFill>
                <a:latin typeface="Consolas" pitchFamily="34" charset="0"/>
                <a:ea typeface="Consolas" pitchFamily="34" charset="-122"/>
                <a:cs typeface="Consolas" pitchFamily="34" charset="-120"/>
              </a:rPr>
              <a:t>SELECT</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    c.nom_commune,</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    c.code_departement,</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    c.population,</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    COUNT(*) AS nb_ventes,</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    ROUND(COUNT(*) * 1000.0 / c.population, 2) AS ventes_pour_1000_hab</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FROM vente AS v</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INNER JOIN bien    AS b ON b.id_bien = v.id_bien</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INNER JOIN commune AS c ON c.id_codedep_codecommune = b.id_codedep_codecommune</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WHERE c.population &gt; 10000</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GROUP BY c.id_codedep_codecommune, c.nom_commune, c.code_departement, c.population</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ORDER BY COUNT(*) * 1.0 / c.population DESC</a:t>
            </a:r>
            <a:endParaRPr lang="en-US" sz="850" dirty="0"/>
          </a:p>
          <a:p>
            <a:pPr indent="0" marL="0">
              <a:buNone/>
            </a:pPr>
            <a:r>
              <a:rPr lang="en-US" sz="850" dirty="0">
                <a:solidFill>
                  <a:schemeClr val="tx1"/>
                </a:solidFill>
                <a:latin typeface="Consolas" pitchFamily="34" charset="0"/>
                <a:ea typeface="Consolas" pitchFamily="34" charset="-122"/>
                <a:cs typeface="Consolas" pitchFamily="34" charset="-120"/>
              </a:rPr>
              <a:t>LIMIT 20;</a:t>
            </a:r>
            <a:endParaRPr lang="en-US" sz="850" dirty="0"/>
          </a:p>
        </p:txBody>
      </p:sp>
      <p:graphicFrame>
        <p:nvGraphicFramePr>
          <p:cNvPr id="22" name="resultat-besoin-12"/>
          <p:cNvGraphicFramePr>
            <a:graphicFrameLocks noGrp="1"/>
          </p:cNvGraphicFramePr>
          <p:nvPr>
            <p:extLst>
              <p:ext uri="{D42A27DB-BD31-4B8C-83A1-F6EECF244321}">
                <p14:modId xmlns:p14="http://schemas.microsoft.com/office/powerpoint/2010/main" val="1579011935"/>
              </p:ext>
            </p:extLst>
          </p:nvPr>
        </p:nvGraphicFramePr>
        <p:xfrm>
          <a:off x="6309360" y="1645920"/>
          <a:ext cx="5333695" cy="914400"/>
        </p:xfrm>
        <a:graphic>
          <a:graphicData uri="http://schemas.openxmlformats.org/drawingml/2006/table">
            <a:tbl>
              <a:tblPr/>
              <a:tblGrid>
                <a:gridCol w="1645920"/>
                <a:gridCol w="548640"/>
                <a:gridCol w="1005840"/>
                <a:gridCol w="731520"/>
                <a:gridCol w="1399032"/>
              </a:tblGrid>
              <a:tr h="274320">
                <a:tc>
                  <a:txBody>
                    <a:bodyPr/>
                    <a:lstStyle/>
                    <a:p>
                      <a:pPr indent="0" marL="0">
                        <a:buNone/>
                      </a:pPr>
                      <a:r>
                        <a:rPr lang="en-US" sz="1000" b="1" dirty="0">
                          <a:solidFill>
                            <a:schemeClr val="bg1"/>
                          </a:solidFill>
                        </a:rPr>
                        <a:t>Commune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Dép.</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Habitants</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Ventes</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Pour 1 000 hab.</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solidFill>
                      <a:schemeClr val="tx2"/>
                    </a:solidFill>
                  </a:tcPr>
                </a:tc>
              </a:tr>
              <a:tr h="274320">
                <a:tc>
                  <a:txBody>
                    <a:bodyPr/>
                    <a:lstStyle/>
                    <a:p>
                      <a:pPr indent="0" marL="0">
                        <a:buNone/>
                      </a:pPr>
                      <a:r>
                        <a:rPr lang="en-US" sz="1000" dirty="0">
                          <a:solidFill>
                            <a:schemeClr val="tx1"/>
                          </a:solidFill>
                        </a:rPr>
                        <a:t>Paris 2e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21 595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127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5,88</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Paris 1er</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15 917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4,96</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La Baule-Escoublac</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44</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16 255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4,74</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Paris 3e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34 025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161</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4,73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Arcachon</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11 630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55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4,73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Paris 4e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29 131</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120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4,12</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Roquebrune-Cap-Martin</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06</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12 839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52</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4,05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Paris 8e</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75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35 655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139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Sanary-sur-Mer</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83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16 889</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60</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3,55</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r h="274320">
                <a:tc>
                  <a:txBody>
                    <a:bodyPr/>
                    <a:lstStyle/>
                    <a:p>
                      <a:pPr indent="0" marL="0">
                        <a:buNone/>
                      </a:pPr>
                      <a:r>
                        <a:rPr lang="en-US" sz="1000" dirty="0">
                          <a:solidFill>
                            <a:schemeClr val="tx1"/>
                          </a:solidFill>
                        </a:rPr>
                        <a:t>La Londe-les-Maures</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83</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10 641</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37</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c>
                  <a:txBody>
                    <a:bodyPr/>
                    <a:lstStyle/>
                    <a:p>
                      <a:pPr indent="0" marL="0">
                        <a:buNone/>
                      </a:pPr>
                      <a:r>
                        <a:rPr lang="en-US" sz="1000" dirty="0">
                          <a:solidFill>
                            <a:schemeClr val="tx1"/>
                          </a:solidFill>
                        </a:rPr>
                        <a:t>3,48</a:t>
                      </a:r>
                      <a:endParaRPr lang="en-US" sz="1000" dirty="0"/>
                    </a:p>
                  </a:txBody>
                  <a:tcPr marL="45720" marR="45720" marT="45720" marB="45720" anchor="ctr">
                    <a:lnL w="9525" cap="flat" cmpd="sng" algn="ctr">
                      <a:solidFill>
                        <a:srgbClr val="CFE3E7"/>
                      </a:solidFill>
                      <a:prstDash val="solid"/>
                      <a:round/>
                      <a:headEnd type="none" w="med" len="med"/>
                      <a:tailEnd type="none" w="med" len="med"/>
                    </a:lnL>
                    <a:lnR w="9525" cap="flat" cmpd="sng" algn="ctr">
                      <a:solidFill>
                        <a:srgbClr val="CFE3E7"/>
                      </a:solidFill>
                      <a:prstDash val="solid"/>
                      <a:round/>
                      <a:headEnd type="none" w="med" len="med"/>
                      <a:tailEnd type="none" w="med" len="med"/>
                    </a:lnR>
                    <a:lnT w="9525" cap="flat" cmpd="sng" algn="ctr">
                      <a:solidFill>
                        <a:srgbClr val="CFE3E7"/>
                      </a:solidFill>
                      <a:prstDash val="solid"/>
                      <a:round/>
                      <a:headEnd type="none" w="med" len="med"/>
                      <a:tailEnd type="none" w="med" len="med"/>
                    </a:lnT>
                    <a:lnB w="9525" cap="flat" cmpd="sng" algn="ctr">
                      <a:solidFill>
                        <a:srgbClr val="CFE3E7"/>
                      </a:solidFill>
                      <a:prstDash val="solid"/>
                      <a:round/>
                      <a:headEnd type="none" w="med" len="med"/>
                      <a:tailEnd type="none" w="med" len="med"/>
                    </a:lnB>
                  </a:tcPr>
                </a:tc>
              </a:tr>
            </a:tbl>
          </a:graphicData>
        </a:graphic>
      </p:graphicFrame>
      <p:sp>
        <p:nvSpPr>
          <p:cNvPr id="7" name="resultat-besoin-12-troncature"/>
          <p:cNvSpPr txBox="1"/>
          <p:nvPr/>
        </p:nvSpPr>
        <p:spPr>
          <a:xfrm>
            <a:off x="6309360" y="4736592"/>
            <a:ext cx="5333695" cy="274320"/>
          </a:xfrm>
          <a:prstGeom prst="rect">
            <a:avLst/>
          </a:prstGeom>
          <a:noFill/>
          <a:ln/>
        </p:spPr>
        <p:txBody>
          <a:bodyPr wrap="square" lIns="0" tIns="0" rIns="0" bIns="0" rtlCol="0" anchor="t"/>
          <a:lstStyle/>
          <a:p>
            <a:pPr indent="0" marL="0">
              <a:buNone/>
            </a:pPr>
            <a:r>
              <a:rPr lang="en-US" sz="1100" i="1" dirty="0">
                <a:solidFill>
                  <a:schemeClr val="accent4"/>
                </a:solidFill>
              </a:rPr>
              <a:t>20 lignes au total : les 10 premières sont affichées</a:t>
            </a:r>
            <a:endParaRPr lang="en-US" sz="1100" dirty="0"/>
          </a:p>
        </p:txBody>
      </p:sp>
      <p:sp>
        <p:nvSpPr>
          <p:cNvPr id="8" name="lecture-besoin-12-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9" name="lecture-besoin-12-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Ratio interne à l'extrait, pas un taux réel. En tête : arrondissements centraux et communes littorales (La Baule, Arcachon). Pistes à vérifier : beaucoup de logements par habitant, des résidences secondaires.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000" b="1" dirty="0">
                <a:solidFill>
                  <a:schemeClr val="tx2"/>
                </a:solidFill>
              </a:rPr>
              <a:t>Trois messages pour la direction</a:t>
            </a:r>
            <a:endParaRPr lang="en-US" sz="30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700" dirty="0">
                <a:solidFill>
                  <a:schemeClr val="accent4"/>
                </a:solidFill>
              </a:rPr>
              <a:t>La base répond aux 12 besoins, avec des volumes vérifiés et sans donnée personnelle superflue</a:t>
            </a:r>
            <a:endParaRPr lang="en-US" sz="1700" dirty="0"/>
          </a:p>
        </p:txBody>
      </p:sp>
      <p:sp>
        <p:nvSpPr>
          <p:cNvPr id="4" name="carte-message-0"/>
          <p:cNvSpPr/>
          <p:nvPr/>
        </p:nvSpPr>
        <p:spPr>
          <a:xfrm>
            <a:off x="548640" y="1828800"/>
            <a:ext cx="3520440" cy="3291840"/>
          </a:xfrm>
          <a:prstGeom prst="roundRect">
            <a:avLst>
              <a:gd name="adj" fmla="val 3333"/>
            </a:avLst>
          </a:prstGeom>
          <a:solidFill>
            <a:schemeClr val="bg2"/>
          </a:solidFill>
          <a:ln w="12700">
            <a:solidFill>
              <a:schemeClr val="bg2"/>
            </a:solidFill>
            <a:prstDash val="solid"/>
          </a:ln>
        </p:spPr>
      </p:sp>
      <p:sp>
        <p:nvSpPr>
          <p:cNvPr id="5" name="message-numero-0"/>
          <p:cNvSpPr txBox="1"/>
          <p:nvPr/>
        </p:nvSpPr>
        <p:spPr>
          <a:xfrm>
            <a:off x="822960" y="2011680"/>
            <a:ext cx="91440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a:t>
            </a:r>
            <a:endParaRPr lang="en-US" sz="4400" dirty="0"/>
          </a:p>
        </p:txBody>
      </p:sp>
      <p:sp>
        <p:nvSpPr>
          <p:cNvPr id="6" name="message-titre-0"/>
          <p:cNvSpPr txBox="1"/>
          <p:nvPr/>
        </p:nvSpPr>
        <p:spPr>
          <a:xfrm>
            <a:off x="822960" y="2880360"/>
            <a:ext cx="3017520" cy="731520"/>
          </a:xfrm>
          <a:prstGeom prst="rect">
            <a:avLst/>
          </a:prstGeom>
          <a:noFill/>
          <a:ln/>
        </p:spPr>
        <p:txBody>
          <a:bodyPr wrap="square" lIns="0" tIns="0" rIns="0" bIns="0" rtlCol="0" anchor="t"/>
          <a:lstStyle/>
          <a:p>
            <a:pPr indent="0" marL="0">
              <a:buNone/>
            </a:pPr>
            <a:r>
              <a:rPr lang="en-US" sz="1800" b="1" dirty="0">
                <a:solidFill>
                  <a:schemeClr val="tx2"/>
                </a:solidFill>
              </a:rPr>
              <a:t>L'extrait est dominé par l'Île-de-France</a:t>
            </a:r>
            <a:endParaRPr lang="en-US" sz="1800" dirty="0"/>
          </a:p>
        </p:txBody>
      </p:sp>
      <p:sp>
        <p:nvSpPr>
          <p:cNvPr id="7" name="message-texte-0"/>
          <p:cNvSpPr txBox="1"/>
          <p:nvPr/>
        </p:nvSpPr>
        <p:spPr>
          <a:xfrm>
            <a:off x="822960" y="3657600"/>
            <a:ext cx="3017520" cy="1371600"/>
          </a:xfrm>
          <a:prstGeom prst="rect">
            <a:avLst/>
          </a:prstGeom>
          <a:noFill/>
          <a:ln/>
        </p:spPr>
        <p:txBody>
          <a:bodyPr wrap="square" lIns="0" tIns="0" rIns="0" bIns="0" rtlCol="0" anchor="t"/>
          <a:lstStyle/>
          <a:p>
            <a:pPr indent="0" marL="0">
              <a:buNone/>
            </a:pPr>
            <a:r>
              <a:rPr lang="en-US" sz="1400" dirty="0">
                <a:solidFill>
                  <a:schemeClr val="tx1"/>
                </a:solidFill>
              </a:rPr>
              <a:t>45 % des appartements vendus ; en médiane, le m² parisien coûte 3,3 fois celui de l'extrait (11 094 contre 3 377 €)</a:t>
            </a:r>
            <a:endParaRPr lang="en-US" sz="1400" dirty="0"/>
          </a:p>
        </p:txBody>
      </p:sp>
      <p:sp>
        <p:nvSpPr>
          <p:cNvPr id="8" name="carte-message-1"/>
          <p:cNvSpPr/>
          <p:nvPr/>
        </p:nvSpPr>
        <p:spPr>
          <a:xfrm>
            <a:off x="4297680" y="1828800"/>
            <a:ext cx="3520440" cy="3291840"/>
          </a:xfrm>
          <a:prstGeom prst="roundRect">
            <a:avLst>
              <a:gd name="adj" fmla="val 3333"/>
            </a:avLst>
          </a:prstGeom>
          <a:solidFill>
            <a:schemeClr val="bg2"/>
          </a:solidFill>
          <a:ln w="12700">
            <a:solidFill>
              <a:schemeClr val="bg2"/>
            </a:solidFill>
            <a:prstDash val="solid"/>
          </a:ln>
        </p:spPr>
      </p:sp>
      <p:sp>
        <p:nvSpPr>
          <p:cNvPr id="9" name="message-numero-1"/>
          <p:cNvSpPr txBox="1"/>
          <p:nvPr/>
        </p:nvSpPr>
        <p:spPr>
          <a:xfrm>
            <a:off x="4572000" y="2011680"/>
            <a:ext cx="914400" cy="822960"/>
          </a:xfrm>
          <a:prstGeom prst="rect">
            <a:avLst/>
          </a:prstGeom>
          <a:noFill/>
          <a:ln/>
        </p:spPr>
        <p:txBody>
          <a:bodyPr wrap="square" lIns="0" tIns="0" rIns="0" bIns="0"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2</a:t>
            </a:r>
            <a:endParaRPr lang="en-US" sz="4400" dirty="0"/>
          </a:p>
        </p:txBody>
      </p:sp>
      <p:sp>
        <p:nvSpPr>
          <p:cNvPr id="10" name="message-titre-1"/>
          <p:cNvSpPr txBox="1"/>
          <p:nvPr/>
        </p:nvSpPr>
        <p:spPr>
          <a:xfrm>
            <a:off x="4572000" y="2880360"/>
            <a:ext cx="3017520" cy="731520"/>
          </a:xfrm>
          <a:prstGeom prst="rect">
            <a:avLst/>
          </a:prstGeom>
          <a:noFill/>
          <a:ln/>
        </p:spPr>
        <p:txBody>
          <a:bodyPr wrap="square" lIns="0" tIns="0" rIns="0" bIns="0" rtlCol="0" anchor="t"/>
          <a:lstStyle/>
          <a:p>
            <a:pPr indent="0" marL="0">
              <a:buNone/>
            </a:pPr>
            <a:r>
              <a:rPr lang="en-US" sz="1800" b="1" dirty="0">
                <a:solidFill>
                  <a:schemeClr val="tx2"/>
                </a:solidFill>
              </a:rPr>
              <a:t>Comparer à géographie égale</a:t>
            </a:r>
            <a:endParaRPr lang="en-US" sz="1800" dirty="0"/>
          </a:p>
        </p:txBody>
      </p:sp>
      <p:sp>
        <p:nvSpPr>
          <p:cNvPr id="11" name="message-texte-1"/>
          <p:cNvSpPr txBox="1"/>
          <p:nvPr/>
        </p:nvSpPr>
        <p:spPr>
          <a:xfrm>
            <a:off x="4572000" y="3657600"/>
            <a:ext cx="3017520" cy="1371600"/>
          </a:xfrm>
          <a:prstGeom prst="rect">
            <a:avLst/>
          </a:prstGeom>
          <a:noFill/>
          <a:ln/>
        </p:spPr>
        <p:txBody>
          <a:bodyPr wrap="square" lIns="0" tIns="0" rIns="0" bIns="0" rtlCol="0" anchor="t"/>
          <a:lstStyle/>
          <a:p>
            <a:pPr indent="0" marL="0">
              <a:buNone/>
            </a:pPr>
            <a:r>
              <a:rPr lang="en-US" sz="1400" dirty="0">
                <a:solidFill>
                  <a:schemeClr val="tx1"/>
                </a:solidFill>
              </a:rPr>
              <a:t>L'écart 2 / 3 pièces passe de −12 % à environ −5 % quand on neutralise la localisation</a:t>
            </a:r>
            <a:endParaRPr lang="en-US" sz="1400" dirty="0"/>
          </a:p>
        </p:txBody>
      </p:sp>
      <p:sp>
        <p:nvSpPr>
          <p:cNvPr id="12" name="carte-message-2"/>
          <p:cNvSpPr/>
          <p:nvPr/>
        </p:nvSpPr>
        <p:spPr>
          <a:xfrm>
            <a:off x="8046720" y="1828800"/>
            <a:ext cx="3520440" cy="3291840"/>
          </a:xfrm>
          <a:prstGeom prst="roundRect">
            <a:avLst>
              <a:gd name="adj" fmla="val 3333"/>
            </a:avLst>
          </a:prstGeom>
          <a:solidFill>
            <a:schemeClr val="bg2"/>
          </a:solidFill>
          <a:ln w="12700">
            <a:solidFill>
              <a:schemeClr val="bg2"/>
            </a:solidFill>
            <a:prstDash val="solid"/>
          </a:ln>
        </p:spPr>
      </p:sp>
      <p:sp>
        <p:nvSpPr>
          <p:cNvPr id="13" name="message-numero-2"/>
          <p:cNvSpPr txBox="1"/>
          <p:nvPr/>
        </p:nvSpPr>
        <p:spPr>
          <a:xfrm>
            <a:off x="8321040" y="2011680"/>
            <a:ext cx="914400" cy="82296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3</a:t>
            </a:r>
            <a:endParaRPr lang="en-US" sz="4400" dirty="0"/>
          </a:p>
        </p:txBody>
      </p:sp>
      <p:sp>
        <p:nvSpPr>
          <p:cNvPr id="14" name="message-titre-2"/>
          <p:cNvSpPr txBox="1"/>
          <p:nvPr/>
        </p:nvSpPr>
        <p:spPr>
          <a:xfrm>
            <a:off x="8321040" y="2880360"/>
            <a:ext cx="3017520" cy="731520"/>
          </a:xfrm>
          <a:prstGeom prst="rect">
            <a:avLst/>
          </a:prstGeom>
          <a:noFill/>
          <a:ln/>
        </p:spPr>
        <p:txBody>
          <a:bodyPr wrap="square" lIns="0" tIns="0" rIns="0" bIns="0" rtlCol="0" anchor="t"/>
          <a:lstStyle/>
          <a:p>
            <a:pPr indent="0" marL="0">
              <a:buNone/>
            </a:pPr>
            <a:r>
              <a:rPr lang="en-US" sz="1800" b="1" dirty="0">
                <a:solidFill>
                  <a:schemeClr val="tx2"/>
                </a:solidFill>
              </a:rPr>
              <a:t>Un semestre pas comme les autres</a:t>
            </a:r>
            <a:endParaRPr lang="en-US" sz="1800" dirty="0"/>
          </a:p>
        </p:txBody>
      </p:sp>
      <p:sp>
        <p:nvSpPr>
          <p:cNvPr id="15" name="message-texte-2"/>
          <p:cNvSpPr txBox="1"/>
          <p:nvPr/>
        </p:nvSpPr>
        <p:spPr>
          <a:xfrm>
            <a:off x="8321040" y="3657600"/>
            <a:ext cx="3017520" cy="1371600"/>
          </a:xfrm>
          <a:prstGeom prst="rect">
            <a:avLst/>
          </a:prstGeom>
          <a:noFill/>
          <a:ln/>
        </p:spPr>
        <p:txBody>
          <a:bodyPr wrap="square" lIns="0" tIns="0" rIns="0" bIns="0" rtlCol="0" anchor="t"/>
          <a:lstStyle/>
          <a:p>
            <a:pPr indent="0" marL="0">
              <a:buNone/>
            </a:pPr>
            <a:r>
              <a:rPr lang="en-US" sz="1400" dirty="0">
                <a:solidFill>
                  <a:schemeClr val="tx1"/>
                </a:solidFill>
              </a:rPr>
              <a:t>Chute des ventes à la mi-mars, rebond en mai-juin : comparer avec 2019 avant de parler de tendance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600" b="1" dirty="0">
                <a:solidFill>
                  <a:schemeClr val="bg1"/>
                </a:solidFill>
              </a:rPr>
              <a:t>Limites et prochaines étapes</a:t>
            </a:r>
            <a:endParaRPr lang="en-US" sz="3600" dirty="0"/>
          </a:p>
        </p:txBody>
      </p:sp>
      <p:sp>
        <p:nvSpPr>
          <p:cNvPr id="3" name="carte-limite-0"/>
          <p:cNvSpPr/>
          <p:nvPr/>
        </p:nvSpPr>
        <p:spPr>
          <a:xfrm>
            <a:off x="548640" y="1463040"/>
            <a:ext cx="3520440" cy="2194560"/>
          </a:xfrm>
          <a:prstGeom prst="roundRect">
            <a:avLst>
              <a:gd name="adj" fmla="val 5000"/>
            </a:avLst>
          </a:prstGeom>
          <a:solidFill>
            <a:srgbClr val="1F4462"/>
          </a:solidFill>
          <a:ln w="12700">
            <a:solidFill>
              <a:srgbClr val="1F4462"/>
            </a:solidFill>
            <a:prstDash val="solid"/>
          </a:ln>
        </p:spPr>
      </p:sp>
      <p:sp>
        <p:nvSpPr>
          <p:cNvPr id="4" name="limite-titre-0"/>
          <p:cNvSpPr txBox="1"/>
          <p:nvPr/>
        </p:nvSpPr>
        <p:spPr>
          <a:xfrm>
            <a:off x="822960" y="1691640"/>
            <a:ext cx="3017520" cy="457200"/>
          </a:xfrm>
          <a:prstGeom prst="rect">
            <a:avLst/>
          </a:prstGeom>
          <a:noFill/>
          <a:ln/>
        </p:spPr>
        <p:txBody>
          <a:bodyPr wrap="square" lIns="0" tIns="0" rIns="0" bIns="0" rtlCol="0" anchor="t"/>
          <a:lstStyle/>
          <a:p>
            <a:pPr indent="0" marL="0">
              <a:buNone/>
            </a:pPr>
            <a:r>
              <a:rPr lang="en-US" sz="1900" b="1" dirty="0">
                <a:solidFill>
                  <a:schemeClr val="bg1"/>
                </a:solidFill>
              </a:rPr>
              <a:t>Erreurs de saisie</a:t>
            </a:r>
            <a:endParaRPr lang="en-US" sz="1900" dirty="0"/>
          </a:p>
        </p:txBody>
      </p:sp>
      <p:sp>
        <p:nvSpPr>
          <p:cNvPr id="5" name="limite-texte-0"/>
          <p:cNvSpPr txBox="1"/>
          <p:nvPr/>
        </p:nvSpPr>
        <p:spPr>
          <a:xfrm>
            <a:off x="82296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Quelques prix au m² aberrants tirent les moyennes ; la médiane les neutralise</a:t>
            </a:r>
            <a:endParaRPr lang="en-US" sz="1500" dirty="0"/>
          </a:p>
        </p:txBody>
      </p:sp>
      <p:sp>
        <p:nvSpPr>
          <p:cNvPr id="6" name="carte-limite-1"/>
          <p:cNvSpPr/>
          <p:nvPr/>
        </p:nvSpPr>
        <p:spPr>
          <a:xfrm>
            <a:off x="4297680" y="1463040"/>
            <a:ext cx="3520440" cy="2194560"/>
          </a:xfrm>
          <a:prstGeom prst="roundRect">
            <a:avLst>
              <a:gd name="adj" fmla="val 5000"/>
            </a:avLst>
          </a:prstGeom>
          <a:solidFill>
            <a:srgbClr val="1F4462"/>
          </a:solidFill>
          <a:ln w="12700">
            <a:solidFill>
              <a:srgbClr val="1F4462"/>
            </a:solidFill>
            <a:prstDash val="solid"/>
          </a:ln>
        </p:spPr>
      </p:sp>
      <p:sp>
        <p:nvSpPr>
          <p:cNvPr id="7" name="limite-titre-1"/>
          <p:cNvSpPr txBox="1"/>
          <p:nvPr/>
        </p:nvSpPr>
        <p:spPr>
          <a:xfrm>
            <a:off x="4572000" y="1691640"/>
            <a:ext cx="3017520" cy="457200"/>
          </a:xfrm>
          <a:prstGeom prst="rect">
            <a:avLst/>
          </a:prstGeom>
          <a:noFill/>
          <a:ln/>
        </p:spPr>
        <p:txBody>
          <a:bodyPr wrap="square" lIns="0" tIns="0" rIns="0" bIns="0" rtlCol="0" anchor="t"/>
          <a:lstStyle/>
          <a:p>
            <a:pPr indent="0" marL="0">
              <a:buNone/>
            </a:pPr>
            <a:r>
              <a:rPr lang="en-US" sz="1900" b="1" dirty="0">
                <a:solidFill>
                  <a:schemeClr val="bg1"/>
                </a:solidFill>
              </a:rPr>
              <a:t>Surface du 1er lot</a:t>
            </a:r>
            <a:endParaRPr lang="en-US" sz="1900" dirty="0"/>
          </a:p>
        </p:txBody>
      </p:sp>
      <p:sp>
        <p:nvSpPr>
          <p:cNvPr id="8" name="limite-texte-1"/>
          <p:cNvSpPr txBox="1"/>
          <p:nvPr/>
        </p:nvSpPr>
        <p:spPr>
          <a:xfrm>
            <a:off x="457200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La surface ne compte que le 1er lot, le prix toute la vente : le m² est surestimé pour les ventes à plusieurs lots</a:t>
            </a:r>
            <a:endParaRPr lang="en-US" sz="1500" dirty="0"/>
          </a:p>
        </p:txBody>
      </p:sp>
      <p:sp>
        <p:nvSpPr>
          <p:cNvPr id="9" name="carte-limite-2"/>
          <p:cNvSpPr/>
          <p:nvPr/>
        </p:nvSpPr>
        <p:spPr>
          <a:xfrm>
            <a:off x="8046720" y="1463040"/>
            <a:ext cx="3520440" cy="2194560"/>
          </a:xfrm>
          <a:prstGeom prst="roundRect">
            <a:avLst>
              <a:gd name="adj" fmla="val 5000"/>
            </a:avLst>
          </a:prstGeom>
          <a:solidFill>
            <a:srgbClr val="1F4462"/>
          </a:solidFill>
          <a:ln w="12700">
            <a:solidFill>
              <a:srgbClr val="1F4462"/>
            </a:solidFill>
            <a:prstDash val="solid"/>
          </a:ln>
        </p:spPr>
      </p:sp>
      <p:sp>
        <p:nvSpPr>
          <p:cNvPr id="10" name="limite-titre-2"/>
          <p:cNvSpPr txBox="1"/>
          <p:nvPr/>
        </p:nvSpPr>
        <p:spPr>
          <a:xfrm>
            <a:off x="8321040" y="1691640"/>
            <a:ext cx="3017520" cy="457200"/>
          </a:xfrm>
          <a:prstGeom prst="rect">
            <a:avLst/>
          </a:prstGeom>
          <a:noFill/>
          <a:ln/>
        </p:spPr>
        <p:txBody>
          <a:bodyPr wrap="square" lIns="0" tIns="0" rIns="0" bIns="0" rtlCol="0" anchor="t"/>
          <a:lstStyle/>
          <a:p>
            <a:pPr indent="0" marL="0">
              <a:buNone/>
            </a:pPr>
            <a:r>
              <a:rPr lang="en-US" sz="1900" b="1" dirty="0">
                <a:solidFill>
                  <a:schemeClr val="bg1"/>
                </a:solidFill>
              </a:rPr>
              <a:t>Petits effectifs</a:t>
            </a:r>
            <a:endParaRPr lang="en-US" sz="1900" dirty="0"/>
          </a:p>
        </p:txBody>
      </p:sp>
      <p:sp>
        <p:nvSpPr>
          <p:cNvPr id="11" name="limite-texte-2"/>
          <p:cNvSpPr txBox="1"/>
          <p:nvPr/>
        </p:nvSpPr>
        <p:spPr>
          <a:xfrm>
            <a:off x="832104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Sous 30 ventes, un classement régional ou communal est peu fiable</a:t>
            </a:r>
            <a:endParaRPr lang="en-US" sz="1500" dirty="0"/>
          </a:p>
        </p:txBody>
      </p:sp>
      <p:sp>
        <p:nvSpPr>
          <p:cNvPr id="12" name="etapes-titre"/>
          <p:cNvSpPr txBox="1"/>
          <p:nvPr/>
        </p:nvSpPr>
        <p:spPr>
          <a:xfrm>
            <a:off x="548640" y="4023360"/>
            <a:ext cx="54864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Prochaines étapes</a:t>
            </a:r>
            <a:endParaRPr lang="en-US" sz="2200" dirty="0"/>
          </a:p>
        </p:txBody>
      </p:sp>
      <p:sp>
        <p:nvSpPr>
          <p:cNvPr id="13" name="etapes-liste"/>
          <p:cNvSpPr txBox="1"/>
          <p:nvPr/>
        </p:nvSpPr>
        <p:spPr>
          <a:xfrm>
            <a:off x="548640" y="4572000"/>
            <a:ext cx="11094415" cy="1463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bg1"/>
                </a:solidFill>
              </a:rPr>
              <a:t>Charger les années précédentes : le schéma est prêt, la comparaison avec 2019 devient possible</a:t>
            </a:r>
            <a:endParaRPr lang="en-US" sz="1600" dirty="0"/>
          </a:p>
          <a:p>
            <a:pPr marL="342900" indent="-342900">
              <a:spcAft>
                <a:spcPts val="800"/>
              </a:spcAft>
              <a:buSzPct val="100000"/>
              <a:buFont typeface="+mj-lt"/>
              <a:buAutoNum type="arabicPeriod" startAt="1"/>
            </a:pPr>
            <a:r>
              <a:rPr lang="en-US" sz="1600" dirty="0">
                <a:solidFill>
                  <a:schemeClr val="bg1"/>
                </a:solidFill>
              </a:rPr>
              <a:t>Passer à un serveur (PostgreSQL) pour les accès simultanés et les droits par utilisateur</a:t>
            </a:r>
            <a:endParaRPr lang="en-US" sz="1600" dirty="0"/>
          </a:p>
          <a:p>
            <a:pPr marL="342900" indent="-342900">
              <a:spcAft>
                <a:spcPts val="800"/>
              </a:spcAft>
              <a:buSzPct val="100000"/>
              <a:buFont typeface="+mj-lt"/>
              <a:buAutoNum type="arabicPeriod" startAt="1"/>
            </a:pPr>
            <a:r>
              <a:rPr lang="en-US" sz="1600" dirty="0">
                <a:solidFill>
                  <a:schemeClr val="bg1"/>
                </a:solidFill>
              </a:rPr>
              <a:t>Planifier la sauvegarde et tester sa restauration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DATAImmo">
      <a:dk1>
        <a:srgbClr val="1B1B1A"/>
      </a:dk1>
      <a:lt1>
        <a:srgbClr val="FFFFFF"/>
      </a:lt1>
      <a:dk2>
        <a:srgbClr val="17324D"/>
      </a:dk2>
      <a:lt2>
        <a:srgbClr val="EEF4F5"/>
      </a:lt2>
      <a:accent1>
        <a:srgbClr val="1F7A8C"/>
      </a:accent1>
      <a:accent2>
        <a:srgbClr val="D9682B"/>
      </a:accent2>
      <a:accent3>
        <a:srgbClr val="1BAF7A"/>
      </a:accent3>
      <a:accent4>
        <a:srgbClr val="52514E"/>
      </a:accent4>
      <a:accent5>
        <a:srgbClr val="8CC4CE"/>
      </a:accent5>
      <a:accent6>
        <a:srgbClr val="CFE3E7"/>
      </a:accent6>
      <a:hlink>
        <a:srgbClr val="1F7A8C"/>
      </a:hlink>
      <a:folHlink>
        <a:srgbClr val="6250D6"/>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DATAImmo : une base SQL des ventes immobilières</dc:title>
  <dc:subject>Corrigé P02 OpenClassrooms — Laplace Immo</dc:subject>
  <dc:creator>PptxGenJS</dc:creator>
  <cp:lastModifiedBy>PptxGenJS</cp:lastModifiedBy>
  <cp:revision>1</cp:revision>
  <dcterms:created xsi:type="dcterms:W3CDTF">2026-10-23T06:41:35Z</dcterms:created>
  <dcterms:modified xsi:type="dcterms:W3CDTF">2026-10-23T06:41:35Z</dcterms:modified>
</cp:coreProperties>
</file>
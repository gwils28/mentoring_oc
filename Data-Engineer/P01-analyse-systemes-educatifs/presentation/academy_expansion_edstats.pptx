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44774a5-448f-62e8-880c-7822d812c8fa}">
          <p14:sldIdLst>
            <p14:sldId id="256"/>
            <p14:sldId id="257"/>
          </p14:sldIdLst>
        </p14:section>
        <p14:section name="Données et démarche" id="{b3bbb5a0-2f8d-21f0-758b-1d12ccb7d3b4}">
          <p14:sldIdLst>
            <p14:sldId id="258"/>
            <p14:sldId id="259"/>
            <p14:sldId id="260"/>
          </p14:sldIdLst>
        </p14:section>
        <p14:section name="Analyse" id="{4dd8fde1-33ba-922c-1313-2929b2d38ece}">
          <p14:sldIdLst>
            <p14:sldId id="261"/>
            <p14:sldId id="262"/>
            <p14:sldId id="263"/>
          </p14:sldIdLst>
        </p14:section>
        <p14:section name="Recommandation" id="{b17a99d5-47bb-d910-6025-5632f455257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academy veut s'étendre à l'international. Avant de dépenser en études de marché, on regarde ce que des données publiques et gratuites peuvent déjà dire. Annoncer le plan : le besoin, les données, la démarche, la réponse et ses limites. Durée visée :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le contexte en une phrase, puis les deux questions. Tout ce qui suit sert à y répondre : c'est le fil rouge de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par fichier, sans entrer dans le code. Insister sur la maille de Data : un pays × un indicateur, avec les années en colonnes. C'est elle qu'on va transformer.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méthodologie : chaque marche est un filtre, et on donne son impact. Préciser que Gibraltar et Nauru n'ont pas de région mais ont été gardés : la règle a été vérifiée sur ses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graphique : barres bleues = années gardées. Les pics tous les 5 ans viennent de sources quinquennales. Le message : nos choix sont justifiés par la donnée, et modifiables en un seul endroit du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supprimer des indicateurs corrélés ? Parce qu'ils compteraient plusieurs fois la même information dans le score. Dans chaque paire, on garde le plus utile pour academy : internet passe en premier, car c'est le prérequis d'un service en ligne. Attention : corrélation ne veut pas dire causalité.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deux distributions en une phrase chacune. À gauche : pas de pays type, d'où un critère très discriminant. À droite : la cible grandit presque partout, mais beaucoup plus vite dans les pays aujourd'hui peu connectés. C'est la tension qu'on retrouve sur la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des rangs ? Sinon le critère en millions de personnes écraserait le critère en pourcentage. Les poids sont un choix métier, assumé et affiché. Deux tests : poids tirés autour des nôtres (nos poids sont-ils fragiles ?) et tirés uniformément (le classement tient-il quelle que soit la stratégie ?). Internet compte dans la taille du marché et dans la maturité : sans lui dans la taille, 8 pays sur 10 du top restent les mêmes, le Nigeria et le Brésil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clé. En bas à droite : les marchés matures (Royaume-Uni, France, États-Unis, Russie, Allemagne, Japon), gros et solvables mais stables. En haut au centre : des marchés déjà connectés dont la cible grandit vite (Maroc, Arabie saoudite, Mexique). En haut à gauche : le potentiel futur (Nigeria, Inde), avec un accès encore limité. La Chine, énorme bulle grise, a une cible quasi stable d'ici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Autour de nos poids, 8 pays sont stables : la recommandation ne tient pas à un réglage fin. Si l'on change de stratégie (tirage uniforme), seuls le Royaume-Uni et la France restent dans le top 10 plus d'une fois sur deux : c'est la recommandation ferme. Le reste dépend de la stratégie, solvabilité immédiate ou croissance, et cette décision appartient à Mark, pas aux données. La Russie est 4ᵉ selon les données ; des critères hors données (géopolitique, réglementation, paiement) peuvent justifier de l'écarter, à dire comme tel. Les deux pays robustes sont francophone et anglophone : vérifier la langue des contenus d'academy.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la question 1 : oui, EdStats permet un premier tri crédible, mais pas une décision. Terminer sur les prochaines étapes concrètes, puis ouvrir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academy · Analyse des données EdStats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Où academy doit-elle s'implanter 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Ce que les données éducatives de la Banque mondiale disent du potentiel de 216 pays</a:t>
            </a:r>
            <a:endParaRPr lang="en-US" sz="2000" dirty="0"/>
          </a:p>
        </p:txBody>
      </p:sp>
      <p:sp>
        <p:nvSpPr>
          <p:cNvPr id="4" name="mention-corrige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Corrigé de référence — projet OpenClassrooms « Analysez les données de systèmes éducatifs 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demande de Mark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Deux questions avant de choisir où lancer academy à l'international</a:t>
            </a:r>
            <a:endParaRPr lang="en-US" sz="1800" dirty="0"/>
          </a:p>
        </p:txBody>
      </p:sp>
      <p:sp>
        <p:nvSpPr>
          <p:cNvPr id="4" name="carte-besoin-0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esoin-titre-0"/>
          <p:cNvSpPr txBox="1"/>
          <p:nvPr/>
        </p:nvSpPr>
        <p:spPr>
          <a:xfrm>
            <a:off x="868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?</a:t>
            </a:r>
            <a:endParaRPr lang="en-US" sz="2200" dirty="0"/>
          </a:p>
        </p:txBody>
      </p:sp>
      <p:sp>
        <p:nvSpPr>
          <p:cNvPr id="6" name="besoin-texte-0"/>
          <p:cNvSpPr txBox="1"/>
          <p:nvPr/>
        </p:nvSpPr>
        <p:spPr>
          <a:xfrm>
            <a:off x="86868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Lycéens et étudiants : la cible d'academy, qui forme du lycée à l'université</a:t>
            </a:r>
            <a:endParaRPr lang="en-US" sz="1600" dirty="0"/>
          </a:p>
        </p:txBody>
      </p:sp>
      <p:sp>
        <p:nvSpPr>
          <p:cNvPr id="7" name="carte-besoin-1"/>
          <p:cNvSpPr/>
          <p:nvPr/>
        </p:nvSpPr>
        <p:spPr>
          <a:xfrm>
            <a:off x="617220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esoin-titre-1"/>
          <p:cNvSpPr txBox="1"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?</a:t>
            </a:r>
            <a:endParaRPr lang="en-US" sz="2200" dirty="0"/>
          </a:p>
        </p:txBody>
      </p:sp>
      <p:sp>
        <p:nvSpPr>
          <p:cNvPr id="9" name="besoin-texte-1"/>
          <p:cNvSpPr txBox="1"/>
          <p:nvPr/>
        </p:nvSpPr>
        <p:spPr>
          <a:xfrm>
            <a:off x="64922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100 % en ligne : sans accès à internet, pas de client possible</a:t>
            </a:r>
            <a:endParaRPr lang="en-US" sz="1600" dirty="0"/>
          </a:p>
        </p:txBody>
      </p:sp>
      <p:sp>
        <p:nvSpPr>
          <p:cNvPr id="10" name="carte-besoin-2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besoin-titre-2"/>
          <p:cNvSpPr txBox="1"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200" dirty="0"/>
          </a:p>
        </p:txBody>
      </p:sp>
      <p:sp>
        <p:nvSpPr>
          <p:cNvPr id="12" name="besoin-texte-2"/>
          <p:cNvSpPr txBox="1"/>
          <p:nvPr/>
        </p:nvSpPr>
        <p:spPr>
          <a:xfrm>
            <a:off x="86868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Les données EdStats de la Banque mondiale peuvent-elles éclairer la décision ?</a:t>
            </a:r>
            <a:endParaRPr lang="en-US" sz="1600" dirty="0"/>
          </a:p>
        </p:txBody>
      </p:sp>
      <p:sp>
        <p:nvSpPr>
          <p:cNvPr id="13" name="carte-besoin-3"/>
          <p:cNvSpPr/>
          <p:nvPr/>
        </p:nvSpPr>
        <p:spPr>
          <a:xfrm>
            <a:off x="6172200" y="39776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esoin-titre-3"/>
          <p:cNvSpPr txBox="1"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200" dirty="0"/>
          </a:p>
        </p:txBody>
      </p:sp>
      <p:sp>
        <p:nvSpPr>
          <p:cNvPr id="15" name="besoin-texte-3"/>
          <p:cNvSpPr txBox="1"/>
          <p:nvPr/>
        </p:nvSpPr>
        <p:spPr>
          <a:xfrm>
            <a:off x="649224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Quels pays ont le plus fort potentiel, et comment évoluera-t-il d'ici 2030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Cinq fichiers, une seule table de valeurs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EdStats : 3 665 indicateurs sur l'éducation, la démographie et l'économie, de 1970 à 2100</a:t>
            </a:r>
            <a:endParaRPr lang="en-US" sz="1800" dirty="0"/>
          </a:p>
        </p:txBody>
      </p:sp>
      <p:graphicFrame>
        <p:nvGraphicFramePr>
          <p:cNvPr id="4" name="table-fichi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1280160"/>
                <a:gridCol w="4050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Fichier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Une ligne =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Lignes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Colonnes clés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indicateur pour un pays, une colonne par année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886 930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Country Code, Indicator Code, 1970 … 2100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pays (ou un agrégat de pays)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Region, Income Group, 2-alpha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indicateur et sa définition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3 665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Series Code, Topic, Indicator Name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FootNote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une note sur un (pays, indicateur, année)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643 638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CountryCode, SeriesCode, Year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Country-Series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une note méthodologique (pays, indicateur)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CountryCode, SeriesCode, DESCRIPTION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e-fichiers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Tout le reste du travail porte sur Data, filtré à l'aide de Country (quels pays ?) et de Series (quels indicateurs ?).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 3 665 indicateurs à 5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Chaque filtre est chiffré : la démarche est reproductible et défendable</a:t>
            </a:r>
            <a:endParaRPr lang="en-US" sz="1800" dirty="0"/>
          </a:p>
        </p:txBody>
      </p:sp>
      <p:sp>
        <p:nvSpPr>
          <p:cNvPr id="4" name="entonnoir-0"/>
          <p:cNvSpPr/>
          <p:nvPr/>
        </p:nvSpPr>
        <p:spPr>
          <a:xfrm>
            <a:off x="655168" y="1783080"/>
            <a:ext cx="10881360" cy="713232"/>
          </a:xfrm>
          <a:prstGeom prst="roundRect">
            <a:avLst>
              <a:gd name="adj" fmla="val 12821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entonnoir-texte-0"/>
          <p:cNvSpPr txBox="1"/>
          <p:nvPr/>
        </p:nvSpPr>
        <p:spPr>
          <a:xfrm>
            <a:off x="929488" y="178308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3 665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indicateurs bruts</a:t>
            </a:r>
            <a:endParaRPr lang="en-US" sz="2200" dirty="0"/>
          </a:p>
        </p:txBody>
      </p:sp>
      <p:sp>
        <p:nvSpPr>
          <p:cNvPr id="6" name="entonnoir-1"/>
          <p:cNvSpPr/>
          <p:nvPr/>
        </p:nvSpPr>
        <p:spPr>
          <a:xfrm>
            <a:off x="1363828" y="2624328"/>
            <a:ext cx="9464040" cy="713232"/>
          </a:xfrm>
          <a:prstGeom prst="roundRect">
            <a:avLst>
              <a:gd name="adj" fmla="val 12821"/>
            </a:avLst>
          </a:prstGeom>
          <a:solidFill>
            <a:schemeClr val="accent1">
              <a:alpha val="57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entonnoir-texte-1"/>
          <p:cNvSpPr txBox="1"/>
          <p:nvPr/>
        </p:nvSpPr>
        <p:spPr>
          <a:xfrm>
            <a:off x="1638148" y="2624328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familles utiles au métier (démographie, scolarisation, internet, économie)</a:t>
            </a:r>
            <a:endParaRPr lang="en-US" sz="2200" dirty="0"/>
          </a:p>
        </p:txBody>
      </p:sp>
      <p:sp>
        <p:nvSpPr>
          <p:cNvPr id="8" name="entonnoir-2"/>
          <p:cNvSpPr/>
          <p:nvPr/>
        </p:nvSpPr>
        <p:spPr>
          <a:xfrm>
            <a:off x="2072488" y="3465576"/>
            <a:ext cx="8046720" cy="713232"/>
          </a:xfrm>
          <a:prstGeom prst="roundRect">
            <a:avLst>
              <a:gd name="adj" fmla="val 12821"/>
            </a:avLst>
          </a:prstGeom>
          <a:solidFill>
            <a:schemeClr val="accent1">
              <a:alpha val="69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entonnoir-texte-2"/>
          <p:cNvSpPr txBox="1"/>
          <p:nvPr/>
        </p:nvSpPr>
        <p:spPr>
          <a:xfrm>
            <a:off x="2346808" y="346557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314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renseignés pour ≥ 60 % des couples (pays, année) sur 2010-2014</a:t>
            </a:r>
            <a:endParaRPr lang="en-US" sz="2200" dirty="0"/>
          </a:p>
        </p:txBody>
      </p:sp>
      <p:sp>
        <p:nvSpPr>
          <p:cNvPr id="10" name="entonnoir-3"/>
          <p:cNvSpPr/>
          <p:nvPr/>
        </p:nvSpPr>
        <p:spPr>
          <a:xfrm>
            <a:off x="2781148" y="4306824"/>
            <a:ext cx="6629400" cy="713232"/>
          </a:xfrm>
          <a:prstGeom prst="roundRect">
            <a:avLst>
              <a:gd name="adj" fmla="val 12821"/>
            </a:avLst>
          </a:prstGeom>
          <a:solidFill>
            <a:schemeClr val="accent1">
              <a:alpha val="81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entonnoir-texte-3"/>
          <p:cNvSpPr txBox="1"/>
          <p:nvPr/>
        </p:nvSpPr>
        <p:spPr>
          <a:xfrm>
            <a:off x="3055468" y="4306824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retenus pour leur sens métier</a:t>
            </a:r>
            <a:endParaRPr lang="en-US" sz="2200" dirty="0"/>
          </a:p>
        </p:txBody>
      </p:sp>
      <p:sp>
        <p:nvSpPr>
          <p:cNvPr id="12" name="entonnoir-4"/>
          <p:cNvSpPr/>
          <p:nvPr/>
        </p:nvSpPr>
        <p:spPr>
          <a:xfrm>
            <a:off x="3489808" y="5148072"/>
            <a:ext cx="5212080" cy="713232"/>
          </a:xfrm>
          <a:prstGeom prst="roundRect">
            <a:avLst>
              <a:gd name="adj" fmla="val 12821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entonnoir-texte-4"/>
          <p:cNvSpPr txBox="1"/>
          <p:nvPr/>
        </p:nvSpPr>
        <p:spPr>
          <a:xfrm>
            <a:off x="3764128" y="51480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non redondants (|ρ| &lt; 0,7)</a:t>
            </a:r>
            <a:endParaRPr lang="en-US" sz="2200" dirty="0"/>
          </a:p>
        </p:txBody>
      </p:sp>
      <p:sp>
        <p:nvSpPr>
          <p:cNvPr id="14" name="note-entonnoir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En parallèle : 241 lignes « pays » → 216 vrais pays (25 agrégats retirés : Monde, zones, groupes de revenu) · 65 années → 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Trois hypothèses, toutes paramétrables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Les années récentes et bien remplies, une valeur robuste par pays</a:t>
            </a:r>
            <a:endParaRPr lang="en-US" sz="1800" dirty="0"/>
          </a:p>
        </p:txBody>
      </p:sp>
      <p:pic>
        <p:nvPicPr>
          <p:cNvPr id="4" name="figure-remplissage_par_annee" descr="Graphique : remplissage par ann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949440" cy="2810125"/>
          </a:xfrm>
          <a:prstGeom prst="rect">
            <a:avLst/>
          </a:prstGeom>
        </p:spPr>
      </p:pic>
      <p:sp>
        <p:nvSpPr>
          <p:cNvPr id="5" name="carte-hypothese-0"/>
          <p:cNvSpPr/>
          <p:nvPr/>
        </p:nvSpPr>
        <p:spPr>
          <a:xfrm>
            <a:off x="7863840" y="1783080"/>
            <a:ext cx="377647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hyp-titre-0"/>
          <p:cNvSpPr txBox="1"/>
          <p:nvPr/>
        </p:nvSpPr>
        <p:spPr>
          <a:xfrm>
            <a:off x="8092440" y="1947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Années 2010-2014</a:t>
            </a:r>
            <a:endParaRPr lang="en-US" sz="1700" dirty="0"/>
          </a:p>
        </p:txBody>
      </p:sp>
      <p:sp>
        <p:nvSpPr>
          <p:cNvPr id="7" name="hyp-texte-0"/>
          <p:cNvSpPr txBox="1"/>
          <p:nvPr/>
        </p:nvSpPr>
        <p:spPr>
          <a:xfrm>
            <a:off x="8092440" y="2313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Après 2014, le remplissage s'effondre ; après 2017, ce sont des projections</a:t>
            </a:r>
            <a:endParaRPr lang="en-US" sz="1400" dirty="0"/>
          </a:p>
        </p:txBody>
      </p:sp>
      <p:sp>
        <p:nvSpPr>
          <p:cNvPr id="8" name="carte-hypothese-1"/>
          <p:cNvSpPr/>
          <p:nvPr/>
        </p:nvSpPr>
        <p:spPr>
          <a:xfrm>
            <a:off x="7863840" y="3154680"/>
            <a:ext cx="377647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yp-titre-1"/>
          <p:cNvSpPr txBox="1"/>
          <p:nvPr/>
        </p:nvSpPr>
        <p:spPr>
          <a:xfrm>
            <a:off x="8092440" y="33192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Seuil de 60 %</a:t>
            </a:r>
            <a:endParaRPr lang="en-US" sz="1700" dirty="0"/>
          </a:p>
        </p:txBody>
      </p:sp>
      <p:sp>
        <p:nvSpPr>
          <p:cNvPr id="10" name="hyp-texte-1"/>
          <p:cNvSpPr txBox="1"/>
          <p:nvPr/>
        </p:nvSpPr>
        <p:spPr>
          <a:xfrm>
            <a:off x="8092440" y="36850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dessous, plus de 4 couples (pays, année) sur 10 sont vides</a:t>
            </a:r>
            <a:endParaRPr lang="en-US" sz="1400" dirty="0"/>
          </a:p>
        </p:txBody>
      </p:sp>
      <p:sp>
        <p:nvSpPr>
          <p:cNvPr id="11" name="carte-hypothese-2"/>
          <p:cNvSpPr/>
          <p:nvPr/>
        </p:nvSpPr>
        <p:spPr>
          <a:xfrm>
            <a:off x="7863840" y="4526280"/>
            <a:ext cx="3776472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hyp-titre-2"/>
          <p:cNvSpPr txBox="1"/>
          <p:nvPr/>
        </p:nvSpPr>
        <p:spPr>
          <a:xfrm>
            <a:off x="8092440" y="4690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Médiane, ≥ 3 années</a:t>
            </a:r>
            <a:endParaRPr lang="en-US" sz="1700" dirty="0"/>
          </a:p>
        </p:txBody>
      </p:sp>
      <p:sp>
        <p:nvSpPr>
          <p:cNvPr id="13" name="hyp-texte-2"/>
          <p:cNvSpPr txBox="1"/>
          <p:nvPr/>
        </p:nvSpPr>
        <p:spPr>
          <a:xfrm>
            <a:off x="8092440" y="5056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Robuste à une année aberrante ; jamais une valeur isolée</a:t>
            </a:r>
            <a:endParaRPr lang="en-US" sz="1400" dirty="0"/>
          </a:p>
        </p:txBody>
      </p:sp>
      <p:sp>
        <p:nvSpPr>
          <p:cNvPr id="14" name="note-projections"/>
          <p:cNvSpPr txBox="1"/>
          <p:nvPr/>
        </p:nvSpPr>
        <p:spPr>
          <a:xfrm>
            <a:off x="548640" y="4800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Projections 2020-2100 (Wittgenstein) : mises de côté, puis utilisées seules pour estimer l'évolution de la cible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Beaucoup d'indicateurs disent la même chose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Deux blocs très corrélés : la taille du pays et son niveau de développement</a:t>
            </a:r>
            <a:endParaRPr lang="en-US" sz="1800" dirty="0"/>
          </a:p>
        </p:txBody>
      </p:sp>
      <p:pic>
        <p:nvPicPr>
          <p:cNvPr id="4" name="figure-correlations_pearson_spearman" descr="Graphique : correlations pearson spearm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680960" cy="3199067"/>
          </a:xfrm>
          <a:prstGeom prst="rect">
            <a:avLst/>
          </a:prstGeom>
        </p:spPr>
      </p:pic>
      <p:sp>
        <p:nvSpPr>
          <p:cNvPr id="5" name="carte-indicateurs-gardes"/>
          <p:cNvSpPr/>
          <p:nvPr/>
        </p:nvSpPr>
        <p:spPr>
          <a:xfrm>
            <a:off x="8503920" y="1691640"/>
            <a:ext cx="3136392" cy="4343400"/>
          </a:xfrm>
          <a:prstGeom prst="roundRect">
            <a:avLst>
              <a:gd name="adj" fmla="val 34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gardes-titre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 garde 5 indicateurs</a:t>
            </a:r>
            <a:endParaRPr lang="en-US" sz="1700" dirty="0"/>
          </a:p>
        </p:txBody>
      </p:sp>
      <p:sp>
        <p:nvSpPr>
          <p:cNvPr id="7" name="gardes-liste"/>
          <p:cNvSpPr txBox="1"/>
          <p:nvPr/>
        </p:nvSpPr>
        <p:spPr>
          <a:xfrm>
            <a:off x="8732520" y="23317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Internet (% population)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Population 15-24 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Croissance démographique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PIB total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Chômage</a:t>
            </a:r>
            <a:endParaRPr lang="en-US" sz="1400" dirty="0"/>
          </a:p>
        </p:txBody>
      </p:sp>
      <p:sp>
        <p:nvSpPr>
          <p:cNvPr id="8" name="gardes-note"/>
          <p:cNvSpPr txBox="1"/>
          <p:nvPr/>
        </p:nvSpPr>
        <p:spPr>
          <a:xfrm>
            <a:off x="8732520" y="4389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Internet résume le bloc développement : ρ ≈ 0,9 avec le PIB/hab, ≈ 0,8 avec la scolarisation supérieure.</a:t>
            </a:r>
            <a:endParaRPr lang="en-US" sz="1300" dirty="0"/>
          </a:p>
        </p:txBody>
      </p:sp>
      <p:sp>
        <p:nvSpPr>
          <p:cNvPr id="9" name="note-spearman"/>
          <p:cNvSpPr txBox="1"/>
          <p:nvPr/>
        </p:nvSpPr>
        <p:spPr>
          <a:xfrm>
            <a:off x="548640" y="5029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Spearman (à droite) est la référence : il travaille sur les rangs et n'est pas dominé par la Chine ou l'Inde.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 pays très inégaux… et une cible qui grandit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Internet va de 0 à 96 % selon les pays ; la cible progresse d'ici 2030 dans la plupart d'entre eux</a:t>
            </a:r>
            <a:endParaRPr lang="en-US" sz="1800" dirty="0"/>
          </a:p>
        </p:txBody>
      </p:sp>
      <p:pic>
        <p:nvPicPr>
          <p:cNvPr id="4" name="figure-distribution_internet" descr="Graphique : distribution inter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2953681"/>
          </a:xfrm>
          <a:prstGeom prst="rect">
            <a:avLst/>
          </a:prstGeom>
        </p:spPr>
      </p:pic>
      <p:pic>
        <p:nvPicPr>
          <p:cNvPr id="5" name="figure-croissance_cible_2030" descr="Graphique : croissance cible 203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783080"/>
            <a:ext cx="5440680" cy="3000927"/>
          </a:xfrm>
          <a:prstGeom prst="rect">
            <a:avLst/>
          </a:prstGeom>
        </p:spPr>
      </p:pic>
      <p:sp>
        <p:nvSpPr>
          <p:cNvPr id="6" name="stat-internet-valeur"/>
          <p:cNvSpPr txBox="1"/>
          <p:nvPr/>
        </p:nvSpPr>
        <p:spPr>
          <a:xfrm>
            <a:off x="54864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37,5 %</a:t>
            </a:r>
            <a:endParaRPr lang="en-US" sz="4000" dirty="0"/>
          </a:p>
        </p:txBody>
      </p:sp>
      <p:sp>
        <p:nvSpPr>
          <p:cNvPr id="7" name="stat-internet-libelle"/>
          <p:cNvSpPr txBox="1"/>
          <p:nvPr/>
        </p:nvSpPr>
        <p:spPr>
          <a:xfrm>
            <a:off x="548640" y="56418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d'internautes dans le pays médian (moyenne 39,9 % : distribution presque symétrique)</a:t>
            </a:r>
            <a:endParaRPr lang="en-US" sz="1400" dirty="0"/>
          </a:p>
        </p:txBody>
      </p:sp>
      <p:sp>
        <p:nvSpPr>
          <p:cNvPr id="8" name="stat-croissance-valeur"/>
          <p:cNvSpPr txBox="1"/>
          <p:nvPr/>
        </p:nvSpPr>
        <p:spPr>
          <a:xfrm>
            <a:off x="6199632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+24 %</a:t>
            </a:r>
            <a:endParaRPr lang="en-US" sz="4000" dirty="0"/>
          </a:p>
        </p:txBody>
      </p:sp>
      <p:sp>
        <p:nvSpPr>
          <p:cNvPr id="9" name="stat-croissance-libelle"/>
          <p:cNvSpPr txBox="1"/>
          <p:nvPr/>
        </p:nvSpPr>
        <p:spPr>
          <a:xfrm>
            <a:off x="6199632" y="56418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croissance médiane 2015-2030 des 15-24 ans ayant au moins le niveau lycée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Un score sur trois critères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Chaque critère est converti en rang (0 = dernier pays, 1 = premier), puis pondéré</a:t>
            </a:r>
            <a:endParaRPr lang="en-US" sz="1800" dirty="0"/>
          </a:p>
        </p:txBody>
      </p:sp>
      <p:sp>
        <p:nvSpPr>
          <p:cNvPr id="4" name="carte-critere-0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ritere-poids-0"/>
          <p:cNvSpPr txBox="1"/>
          <p:nvPr/>
        </p:nvSpPr>
        <p:spPr>
          <a:xfrm>
            <a:off x="82296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50 %</a:t>
            </a:r>
            <a:endParaRPr lang="en-US" sz="4400" dirty="0"/>
          </a:p>
        </p:txBody>
      </p:sp>
      <p:sp>
        <p:nvSpPr>
          <p:cNvPr id="6" name="critere-nom-0"/>
          <p:cNvSpPr txBox="1"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Marché connecté</a:t>
            </a:r>
            <a:endParaRPr lang="en-US" sz="1900" dirty="0"/>
          </a:p>
        </p:txBody>
      </p:sp>
      <p:sp>
        <p:nvSpPr>
          <p:cNvPr id="7" name="critere-formule-0"/>
          <p:cNvSpPr txBox="1"/>
          <p:nvPr/>
        </p:nvSpPr>
        <p:spPr>
          <a:xfrm>
            <a:off x="82296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jeunes de 15-24 ans × % d'internautes</a:t>
            </a:r>
            <a:endParaRPr lang="en-US" sz="1400" dirty="0"/>
          </a:p>
        </p:txBody>
      </p:sp>
      <p:sp>
        <p:nvSpPr>
          <p:cNvPr id="8" name="critere-question-0"/>
          <p:cNvSpPr txBox="1"/>
          <p:nvPr/>
        </p:nvSpPr>
        <p:spPr>
          <a:xfrm>
            <a:off x="822960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Combien de clients peuvent suivre un cours en ligne ?</a:t>
            </a:r>
            <a:endParaRPr lang="en-US" sz="1400" dirty="0"/>
          </a:p>
        </p:txBody>
      </p:sp>
      <p:sp>
        <p:nvSpPr>
          <p:cNvPr id="9" name="carte-critere-1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ritere-poids-1"/>
          <p:cNvSpPr txBox="1"/>
          <p:nvPr/>
        </p:nvSpPr>
        <p:spPr>
          <a:xfrm>
            <a:off x="457200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30 %</a:t>
            </a:r>
            <a:endParaRPr lang="en-US" sz="4400" dirty="0"/>
          </a:p>
        </p:txBody>
      </p:sp>
      <p:sp>
        <p:nvSpPr>
          <p:cNvPr id="11" name="critere-nom-1"/>
          <p:cNvSpPr txBox="1"/>
          <p:nvPr/>
        </p:nvSpPr>
        <p:spPr>
          <a:xfrm>
            <a:off x="45720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Maturité numérique</a:t>
            </a:r>
            <a:endParaRPr lang="en-US" sz="1900" dirty="0"/>
          </a:p>
        </p:txBody>
      </p:sp>
      <p:sp>
        <p:nvSpPr>
          <p:cNvPr id="12" name="critere-formule-1"/>
          <p:cNvSpPr txBox="1"/>
          <p:nvPr/>
        </p:nvSpPr>
        <p:spPr>
          <a:xfrm>
            <a:off x="457200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% d'internautes</a:t>
            </a:r>
            <a:endParaRPr lang="en-US" sz="1400" dirty="0"/>
          </a:p>
        </p:txBody>
      </p:sp>
      <p:sp>
        <p:nvSpPr>
          <p:cNvPr id="13" name="critere-question-1"/>
          <p:cNvSpPr txBox="1"/>
          <p:nvPr/>
        </p:nvSpPr>
        <p:spPr>
          <a:xfrm>
            <a:off x="4572000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numérique est-il entré dans les usages (et le pouvoir d'achat suit-il) ?</a:t>
            </a:r>
            <a:endParaRPr lang="en-US" sz="1400" dirty="0"/>
          </a:p>
        </p:txBody>
      </p:sp>
      <p:sp>
        <p:nvSpPr>
          <p:cNvPr id="14" name="carte-critere-2"/>
          <p:cNvSpPr/>
          <p:nvPr/>
        </p:nvSpPr>
        <p:spPr>
          <a:xfrm>
            <a:off x="804672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ritere-poids-2"/>
          <p:cNvSpPr txBox="1"/>
          <p:nvPr/>
        </p:nvSpPr>
        <p:spPr>
          <a:xfrm>
            <a:off x="832104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4400" dirty="0"/>
          </a:p>
        </p:txBody>
      </p:sp>
      <p:sp>
        <p:nvSpPr>
          <p:cNvPr id="16" name="critere-nom-2"/>
          <p:cNvSpPr txBox="1"/>
          <p:nvPr/>
        </p:nvSpPr>
        <p:spPr>
          <a:xfrm>
            <a:off x="832104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Dynamique</a:t>
            </a:r>
            <a:endParaRPr lang="en-US" sz="1900" dirty="0"/>
          </a:p>
        </p:txBody>
      </p:sp>
      <p:sp>
        <p:nvSpPr>
          <p:cNvPr id="17" name="critere-formule-2"/>
          <p:cNvSpPr txBox="1"/>
          <p:nvPr/>
        </p:nvSpPr>
        <p:spPr>
          <a:xfrm>
            <a:off x="832104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croissance 2015-2030 de la cible</a:t>
            </a:r>
            <a:endParaRPr lang="en-US" sz="1400" dirty="0"/>
          </a:p>
        </p:txBody>
      </p:sp>
      <p:sp>
        <p:nvSpPr>
          <p:cNvPr id="18" name="critere-question-2"/>
          <p:cNvSpPr txBox="1"/>
          <p:nvPr/>
        </p:nvSpPr>
        <p:spPr>
          <a:xfrm>
            <a:off x="8321040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marché de demain sera-t-il plus grand ?</a:t>
            </a:r>
            <a:endParaRPr lang="en-US" sz="1400" dirty="0"/>
          </a:p>
        </p:txBody>
      </p:sp>
      <p:sp>
        <p:nvSpPr>
          <p:cNvPr id="19" name="note-robustesse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Robustesse : 1 000 jeux de poids tirés autour de 50/30/20, puis 1 000 tirés uniformément. Internet entre dans 2 critères : choix assumé et testé.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Deux familles de marchés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Les pays les plus connectés sont ceux où la cible grandit le moins : il faut choisir une stratégie</a:t>
            </a:r>
            <a:endParaRPr lang="en-US" sz="1800" dirty="0"/>
          </a:p>
        </p:txBody>
      </p:sp>
      <p:pic>
        <p:nvPicPr>
          <p:cNvPr id="4" name="figure-carte_marches" descr="Graphique : carte mar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645920"/>
            <a:ext cx="6949440" cy="4636051"/>
          </a:xfrm>
          <a:prstGeom prst="rect">
            <a:avLst/>
          </a:prstGeom>
        </p:spPr>
      </p:pic>
      <p:sp>
        <p:nvSpPr>
          <p:cNvPr id="5" name="legende-carte"/>
          <p:cNvSpPr txBox="1"/>
          <p:nvPr/>
        </p:nvSpPr>
        <p:spPr>
          <a:xfrm>
            <a:off x="9509760" y="182880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Taille de bulle = marché connecté. Bleu = top 12 du score.</a:t>
            </a:r>
            <a:endParaRPr lang="en-US" sz="1300" dirty="0"/>
          </a:p>
        </p:txBody>
      </p:sp>
      <p:sp>
        <p:nvSpPr>
          <p:cNvPr id="6" name="stat-anticorrelation"/>
          <p:cNvSpPr txBox="1"/>
          <p:nvPr/>
        </p:nvSpPr>
        <p:spPr>
          <a:xfrm>
            <a:off x="9509760" y="310896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ρ = -0,66 entre maturité et dynamique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Notre recommandation à Mark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Deux marchés solides d'abord, puis un choix de stratégie : maturité ou croissance</a:t>
            </a:r>
            <a:endParaRPr lang="en-US" sz="1800" dirty="0"/>
          </a:p>
        </p:txBody>
      </p:sp>
      <p:graphicFrame>
        <p:nvGraphicFramePr>
          <p:cNvPr id="11" name="table-recommand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828800"/>
                <a:gridCol w="17373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 d'attention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 · Matures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Royaume-Uni, France, puis États-Unis, Russie, Allemagne, Japon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Gros marché connecté et solvable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Cible stable d'ici 2030 ; forte concurrence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2 · Connectés en croissance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Maroc, Arabie saoudite, Espagne, Mexique, Émirats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Déjà connectés, cible en forte croissance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Pouvoir d'achat plus hétérogène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3 · Potentiel futur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Nigeria, Inde, Égypte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Cible en très forte croissance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Accès à internet limité (données 2014)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figure-robustesse_poids" descr="Graphique : robustesse poi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783080"/>
            <a:ext cx="3273552" cy="1643349"/>
          </a:xfrm>
          <a:prstGeom prst="rect">
            <a:avLst/>
          </a:prstGeom>
        </p:spPr>
      </p:pic>
      <p:sp>
        <p:nvSpPr>
          <p:cNvPr id="6" name="note-russie"/>
          <p:cNvSpPr txBox="1"/>
          <p:nvPr/>
        </p:nvSpPr>
        <p:spPr>
          <a:xfrm>
            <a:off x="548640" y="5440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Russie : 4ᵉ selon les données ; l'écarter ou non est une décision hors données (géopolitique, réglementation, paiement).</a:t>
            </a:r>
            <a:endParaRPr lang="en-US" sz="1300" dirty="0"/>
          </a:p>
        </p:txBody>
      </p:sp>
      <p:sp>
        <p:nvSpPr>
          <p:cNvPr id="7" name="stat-robustesse-valeur"/>
          <p:cNvSpPr txBox="1"/>
          <p:nvPr/>
        </p:nvSpPr>
        <p:spPr>
          <a:xfrm>
            <a:off x="8366760" y="365760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74 % · 59 %</a:t>
            </a:r>
            <a:endParaRPr lang="en-US" sz="4000" dirty="0"/>
          </a:p>
        </p:txBody>
      </p:sp>
      <p:sp>
        <p:nvSpPr>
          <p:cNvPr id="8" name="stat-robustesse-libelle"/>
          <p:cNvSpPr txBox="1"/>
          <p:nvPr/>
        </p:nvSpPr>
        <p:spPr>
          <a:xfrm>
            <a:off x="8366760" y="44074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Royaume-Uni et France : part des tirages uniformes où ils sont dans le top 10 (autour de nos poids : 8 pays à ≥ 89 %)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Ce que les données ne disent pas</a:t>
            </a:r>
            <a:endParaRPr lang="en-US" sz="3600" dirty="0"/>
          </a:p>
        </p:txBody>
      </p:sp>
      <p:sp>
        <p:nvSpPr>
          <p:cNvPr id="3" name="carte-limite-0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D4466"/>
          </a:solidFill>
          <a:ln w="12700">
            <a:solidFill>
              <a:srgbClr val="1D4466"/>
            </a:solidFill>
            <a:prstDash val="solid"/>
          </a:ln>
        </p:spPr>
      </p:sp>
      <p:sp>
        <p:nvSpPr>
          <p:cNvPr id="4" name="limite-titre-0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Données datées</a:t>
            </a:r>
            <a:endParaRPr lang="en-US" sz="1900" dirty="0"/>
          </a:p>
        </p:txBody>
      </p:sp>
      <p:sp>
        <p:nvSpPr>
          <p:cNvPr id="5" name="limite-texte-0"/>
          <p:cNvSpPr txBox="1"/>
          <p:nvPr/>
        </p:nvSpPr>
        <p:spPr>
          <a:xfrm>
            <a:off x="82296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Dernières valeurs exploitables en 2014 ; l'usage d'internet a fortement progressé depuis</a:t>
            </a:r>
            <a:endParaRPr lang="en-US" sz="1500" dirty="0"/>
          </a:p>
        </p:txBody>
      </p:sp>
      <p:sp>
        <p:nvSpPr>
          <p:cNvPr id="6" name="carte-limite-1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D4466"/>
          </a:solidFill>
          <a:ln w="12700">
            <a:solidFill>
              <a:srgbClr val="1D4466"/>
            </a:solidFill>
            <a:prstDash val="solid"/>
          </a:ln>
        </p:spPr>
      </p:sp>
      <p:sp>
        <p:nvSpPr>
          <p:cNvPr id="7" name="limite-titre-1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Angles morts</a:t>
            </a:r>
            <a:endParaRPr lang="en-US" sz="1900" dirty="0"/>
          </a:p>
        </p:txBody>
      </p:sp>
      <p:sp>
        <p:nvSpPr>
          <p:cNvPr id="8" name="limite-texte-1"/>
          <p:cNvSpPr txBox="1"/>
          <p:nvPr/>
        </p:nvSpPr>
        <p:spPr>
          <a:xfrm>
            <a:off x="457200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Ni langue, ni concurrence, ni prix, ni réglementation : des critères pourtant décisifs</a:t>
            </a:r>
            <a:endParaRPr lang="en-US" sz="1500" dirty="0"/>
          </a:p>
        </p:txBody>
      </p:sp>
      <p:sp>
        <p:nvSpPr>
          <p:cNvPr id="9" name="carte-limite-2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D4466"/>
          </a:solidFill>
          <a:ln w="12700">
            <a:solidFill>
              <a:srgbClr val="1D4466"/>
            </a:solidFill>
            <a:prstDash val="solid"/>
          </a:ln>
        </p:spPr>
      </p:sp>
      <p:sp>
        <p:nvSpPr>
          <p:cNvPr id="10" name="limite-titre-2"/>
          <p:cNvSpPr txBox="1"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Associations, pas causes</a:t>
            </a:r>
            <a:endParaRPr lang="en-US" sz="1900" dirty="0"/>
          </a:p>
        </p:txBody>
      </p:sp>
      <p:sp>
        <p:nvSpPr>
          <p:cNvPr id="11" name="limite-texte-2"/>
          <p:cNvSpPr txBox="1"/>
          <p:nvPr/>
        </p:nvSpPr>
        <p:spPr>
          <a:xfrm>
            <a:off x="832104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Le score trie des pays ; il ne prédit pas un chiffre d'affaires</a:t>
            </a:r>
            <a:endParaRPr lang="en-US" sz="1500" dirty="0"/>
          </a:p>
        </p:txBody>
      </p:sp>
      <p:sp>
        <p:nvSpPr>
          <p:cNvPr id="12" name="etapes-titre"/>
          <p:cNvSpPr txBox="1"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2200" dirty="0"/>
          </a:p>
        </p:txBody>
      </p:sp>
      <p:sp>
        <p:nvSpPr>
          <p:cNvPr id="13" name="etapes-liste"/>
          <p:cNvSpPr txBox="1"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Actualiser les données (API Banque mondiale, UIT pour internet, UNESCO pour la scolarisation)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Ajouter la langue d'enseignement et le prix moyen de l'EdTech locale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Valider par une étude de marché sur 2 ou 3 pays pilotes (Royaume-Uni, France, Maroc)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ademy EdStats">
      <a:dk1>
        <a:srgbClr val="1B1B1A"/>
      </a:dk1>
      <a:lt1>
        <a:srgbClr val="FFFFFF"/>
      </a:lt1>
      <a:dk2>
        <a:srgbClr val="123049"/>
      </a:dk2>
      <a:lt2>
        <a:srgbClr val="EEF3F8"/>
      </a:lt2>
      <a:accent1>
        <a:srgbClr val="2A78D6"/>
      </a:accent1>
      <a:accent2>
        <a:srgbClr val="EB6834"/>
      </a:accent2>
      <a:accent3>
        <a:srgbClr val="1BAF7A"/>
      </a:accent3>
      <a:accent4>
        <a:srgbClr val="52514E"/>
      </a:accent4>
      <a:accent5>
        <a:srgbClr val="86B6EF"/>
      </a:accent5>
      <a:accent6>
        <a:srgbClr val="C9D9EA"/>
      </a:accent6>
      <a:hlink>
        <a:srgbClr val="2A78D6"/>
      </a:hlink>
      <a:folHlink>
        <a:srgbClr val="6250D6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Où academy doit-elle s'implanter ?</dc:title>
  <dc:subject>Analyse exploratoire EdStats — corrigé P01 OpenClassrooms</dc:subject>
  <dc:creator>PptxGenJS</dc:creator>
  <cp:lastModifiedBy>PptxGenJS</cp:lastModifiedBy>
  <cp:revision>1</cp:revision>
  <dcterms:created xsi:type="dcterms:W3CDTF">2026-10-22T23:45:04Z</dcterms:created>
  <dcterms:modified xsi:type="dcterms:W3CDTF">2026-10-22T23:45:04Z</dcterms:modified>
</cp:coreProperties>
</file>